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4.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f2663bbeae4269" /><Relationship Type="http://schemas.openxmlformats.org/officeDocument/2006/relationships/extended-properties" Target="/docProps/app.xml" Id="Rf05d68c93a484d5b" /><Relationship Type="http://schemas.openxmlformats.org/officeDocument/2006/relationships/officeDocument" Target="/ppt/presentation.xml" Id="Rcd00243f31724d10" /></Relationships>
</file>

<file path=ppt/presentation.xml><?xml version="1.0" encoding="utf-8"?>
<p:presentation xmlns:p="http://schemas.openxmlformats.org/presentationml/2006/main">
  <p:sldMasterIdLst>
    <p:sldMasterId xmlns:r="http://schemas.openxmlformats.org/officeDocument/2006/relationships" id="2147483648" r:id="Re5c5e299af154544"/>
  </p:sldMasterIdLst>
  <p:notesMasterIdLst>
    <p:notesMasterId xmlns:r="http://schemas.openxmlformats.org/officeDocument/2006/relationships" r:id="Rdcd71ea5c0c74119"/>
  </p:notesMasterIdLst>
  <p:sldIdLst>
    <p:sldId xmlns:r="http://schemas.openxmlformats.org/officeDocument/2006/relationships" id="256" r:id="Rd6e559c3af9642c4"/>
    <p:sldId xmlns:r="http://schemas.openxmlformats.org/officeDocument/2006/relationships" id="257" r:id="R9a7699bd650d483f"/>
    <p:sldId xmlns:r="http://schemas.openxmlformats.org/officeDocument/2006/relationships" id="258" r:id="R7d0dd12fccc541c0"/>
    <p:sldId xmlns:r="http://schemas.openxmlformats.org/officeDocument/2006/relationships" id="259" r:id="R10c2bb1821f845c4"/>
    <p:sldId xmlns:r="http://schemas.openxmlformats.org/officeDocument/2006/relationships" id="260" r:id="R66ca809f0f224e97"/>
    <p:sldId xmlns:r="http://schemas.openxmlformats.org/officeDocument/2006/relationships" id="261" r:id="Re66f38bb7d4f4059"/>
    <p:sldId xmlns:r="http://schemas.openxmlformats.org/officeDocument/2006/relationships" id="262" r:id="Rba841f166a734057"/>
    <p:sldId xmlns:r="http://schemas.openxmlformats.org/officeDocument/2006/relationships" id="263" r:id="R96d2f9d7fd2e4ef8"/>
    <p:sldId xmlns:r="http://schemas.openxmlformats.org/officeDocument/2006/relationships" id="264" r:id="Rf30cbfc7f6ed41f4"/>
    <p:sldId xmlns:r="http://schemas.openxmlformats.org/officeDocument/2006/relationships" id="265" r:id="Rd0bbbfb6294d4521"/>
    <p:sldId xmlns:r="http://schemas.openxmlformats.org/officeDocument/2006/relationships" id="266" r:id="R2e1d54acd8144409"/>
    <p:sldId xmlns:r="http://schemas.openxmlformats.org/officeDocument/2006/relationships" id="267" r:id="Ra0bb4cac0fbe45ff"/>
    <p:sldId xmlns:r="http://schemas.openxmlformats.org/officeDocument/2006/relationships" id="268" r:id="R92f61658f8a74d84"/>
    <p:sldId xmlns:r="http://schemas.openxmlformats.org/officeDocument/2006/relationships" id="269" r:id="R8d42aeff034c4621"/>
    <p:sldId xmlns:r="http://schemas.openxmlformats.org/officeDocument/2006/relationships" id="270" r:id="R51583d5ce6a94f59"/>
    <p:sldId xmlns:r="http://schemas.openxmlformats.org/officeDocument/2006/relationships" id="271" r:id="Racfe607c3fe14ee9"/>
    <p:sldId xmlns:r="http://schemas.openxmlformats.org/officeDocument/2006/relationships" id="272" r:id="R1a0a24c33ec54123"/>
    <p:sldId xmlns:r="http://schemas.openxmlformats.org/officeDocument/2006/relationships" id="273" r:id="R1e9ff018b5014436"/>
    <p:sldId xmlns:r="http://schemas.openxmlformats.org/officeDocument/2006/relationships" id="274" r:id="R69f635359b664bf3"/>
    <p:sldId xmlns:r="http://schemas.openxmlformats.org/officeDocument/2006/relationships" id="275" r:id="Rf785c54282784899"/>
    <p:sldId xmlns:r="http://schemas.openxmlformats.org/officeDocument/2006/relationships" id="276" r:id="Raccdadada8464658"/>
    <p:sldId xmlns:r="http://schemas.openxmlformats.org/officeDocument/2006/relationships" id="277" r:id="R0d58ff332f0e4113"/>
    <p:sldId xmlns:r="http://schemas.openxmlformats.org/officeDocument/2006/relationships" id="278" r:id="R74cbec1d8f7540a2"/>
    <p:sldId xmlns:r="http://schemas.openxmlformats.org/officeDocument/2006/relationships" id="279" r:id="R04cabb299702462f"/>
    <p:sldId xmlns:r="http://schemas.openxmlformats.org/officeDocument/2006/relationships" id="280" r:id="Rfbaa2331ed5f47a2"/>
    <p:sldId xmlns:r="http://schemas.openxmlformats.org/officeDocument/2006/relationships" id="281" r:id="R3596289545b343e0"/>
    <p:sldId xmlns:r="http://schemas.openxmlformats.org/officeDocument/2006/relationships" id="282" r:id="Ra6de5476ad5a43c4"/>
    <p:sldId xmlns:r="http://schemas.openxmlformats.org/officeDocument/2006/relationships" id="283" r:id="R3f5e132e56724997"/>
    <p:sldId xmlns:r="http://schemas.openxmlformats.org/officeDocument/2006/relationships" id="284" r:id="R1b755302a2694967"/>
    <p:sldId xmlns:r="http://schemas.openxmlformats.org/officeDocument/2006/relationships" id="285" r:id="Rb1d3acedc4a4453d"/>
    <p:sldId xmlns:r="http://schemas.openxmlformats.org/officeDocument/2006/relationships" id="286" r:id="R8d8bcf8cd3ce47fd"/>
    <p:sldId xmlns:r="http://schemas.openxmlformats.org/officeDocument/2006/relationships" id="287" r:id="Rc1aa9a270a944529"/>
    <p:sldId xmlns:r="http://schemas.openxmlformats.org/officeDocument/2006/relationships" id="288" r:id="Rcab5050437054272"/>
    <p:sldId xmlns:r="http://schemas.openxmlformats.org/officeDocument/2006/relationships" id="289" r:id="R040c1afd9b3044cf"/>
    <p:sldId xmlns:r="http://schemas.openxmlformats.org/officeDocument/2006/relationships" id="290" r:id="R7bf40f6c18444caf"/>
    <p:sldId xmlns:r="http://schemas.openxmlformats.org/officeDocument/2006/relationships" id="291" r:id="R388a59330c7f43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4e0643473b48e8" /><Relationship Type="http://schemas.openxmlformats.org/officeDocument/2006/relationships/slideMaster" Target="/ppt/slideMasters/slideMaster1.xml" Id="Re5c5e299af154544" /><Relationship Type="http://schemas.openxmlformats.org/officeDocument/2006/relationships/notesMaster" Target="/ppt/notesMasters/notesMaster1.xml" Id="Rdcd71ea5c0c74119" /><Relationship Type="http://schemas.openxmlformats.org/officeDocument/2006/relationships/presProps" Target="/ppt/presProps.xml" Id="Rc057c9d6317d4986" /><Relationship Type="http://schemas.openxmlformats.org/officeDocument/2006/relationships/tableStyles" Target="/ppt/tableStyles.xml" Id="R0741de51df5b4974" /><Relationship Type="http://schemas.openxmlformats.org/officeDocument/2006/relationships/slide" Target="/ppt/slides/slide1.xml" Id="Rd6e559c3af9642c4" /><Relationship Type="http://schemas.openxmlformats.org/officeDocument/2006/relationships/slide" Target="/ppt/slides/slide2.xml" Id="R9a7699bd650d483f" /><Relationship Type="http://schemas.openxmlformats.org/officeDocument/2006/relationships/slide" Target="/ppt/slides/slide3.xml" Id="R7d0dd12fccc541c0" /><Relationship Type="http://schemas.openxmlformats.org/officeDocument/2006/relationships/slide" Target="/ppt/slides/slide4.xml" Id="R10c2bb1821f845c4" /><Relationship Type="http://schemas.openxmlformats.org/officeDocument/2006/relationships/slide" Target="/ppt/slides/slide5.xml" Id="R66ca809f0f224e97" /><Relationship Type="http://schemas.openxmlformats.org/officeDocument/2006/relationships/slide" Target="/ppt/slides/slide6.xml" Id="Re66f38bb7d4f4059" /><Relationship Type="http://schemas.openxmlformats.org/officeDocument/2006/relationships/slide" Target="/ppt/slides/slide7.xml" Id="Rba841f166a734057" /><Relationship Type="http://schemas.openxmlformats.org/officeDocument/2006/relationships/slide" Target="/ppt/slides/slide8.xml" Id="R96d2f9d7fd2e4ef8" /><Relationship Type="http://schemas.openxmlformats.org/officeDocument/2006/relationships/slide" Target="/ppt/slides/slide9.xml" Id="Rf30cbfc7f6ed41f4" /><Relationship Type="http://schemas.openxmlformats.org/officeDocument/2006/relationships/slide" Target="/ppt/slides/slide10.xml" Id="Rd0bbbfb6294d4521" /><Relationship Type="http://schemas.openxmlformats.org/officeDocument/2006/relationships/slide" Target="/ppt/slides/slide11.xml" Id="R2e1d54acd8144409" /><Relationship Type="http://schemas.openxmlformats.org/officeDocument/2006/relationships/slide" Target="/ppt/slides/slide12.xml" Id="Ra0bb4cac0fbe45ff" /><Relationship Type="http://schemas.openxmlformats.org/officeDocument/2006/relationships/slide" Target="/ppt/slides/slide13.xml" Id="R92f61658f8a74d84" /><Relationship Type="http://schemas.openxmlformats.org/officeDocument/2006/relationships/slide" Target="/ppt/slides/slide14.xml" Id="R8d42aeff034c4621" /><Relationship Type="http://schemas.openxmlformats.org/officeDocument/2006/relationships/slide" Target="/ppt/slides/slide15.xml" Id="R51583d5ce6a94f59" /><Relationship Type="http://schemas.openxmlformats.org/officeDocument/2006/relationships/slide" Target="/ppt/slides/slide16.xml" Id="Racfe607c3fe14ee9" /><Relationship Type="http://schemas.openxmlformats.org/officeDocument/2006/relationships/slide" Target="/ppt/slides/slide17.xml" Id="R1a0a24c33ec54123" /><Relationship Type="http://schemas.openxmlformats.org/officeDocument/2006/relationships/slide" Target="/ppt/slides/slide18.xml" Id="R1e9ff018b5014436" /><Relationship Type="http://schemas.openxmlformats.org/officeDocument/2006/relationships/slide" Target="/ppt/slides/slide19.xml" Id="R69f635359b664bf3" /><Relationship Type="http://schemas.openxmlformats.org/officeDocument/2006/relationships/slide" Target="/ppt/slides/slide20.xml" Id="Rf785c54282784899" /><Relationship Type="http://schemas.openxmlformats.org/officeDocument/2006/relationships/slide" Target="/ppt/slides/slide21.xml" Id="Raccdadada8464658" /><Relationship Type="http://schemas.openxmlformats.org/officeDocument/2006/relationships/slide" Target="/ppt/slides/slide22.xml" Id="R0d58ff332f0e4113" /><Relationship Type="http://schemas.openxmlformats.org/officeDocument/2006/relationships/slide" Target="/ppt/slides/slide23.xml" Id="R74cbec1d8f7540a2" /><Relationship Type="http://schemas.openxmlformats.org/officeDocument/2006/relationships/slide" Target="/ppt/slides/slide24.xml" Id="R04cabb299702462f" /><Relationship Type="http://schemas.openxmlformats.org/officeDocument/2006/relationships/slide" Target="/ppt/slides/slide25.xml" Id="Rfbaa2331ed5f47a2" /><Relationship Type="http://schemas.openxmlformats.org/officeDocument/2006/relationships/slide" Target="/ppt/slides/slide26.xml" Id="R3596289545b343e0" /><Relationship Type="http://schemas.openxmlformats.org/officeDocument/2006/relationships/slide" Target="/ppt/slides/slide27.xml" Id="Ra6de5476ad5a43c4" /><Relationship Type="http://schemas.openxmlformats.org/officeDocument/2006/relationships/slide" Target="/ppt/slides/slide28.xml" Id="R3f5e132e56724997" /><Relationship Type="http://schemas.openxmlformats.org/officeDocument/2006/relationships/slide" Target="/ppt/slides/slide29.xml" Id="R1b755302a2694967" /><Relationship Type="http://schemas.openxmlformats.org/officeDocument/2006/relationships/slide" Target="/ppt/slides/slide30.xml" Id="Rb1d3acedc4a4453d" /><Relationship Type="http://schemas.openxmlformats.org/officeDocument/2006/relationships/slide" Target="/ppt/slides/slide31.xml" Id="R8d8bcf8cd3ce47fd" /><Relationship Type="http://schemas.openxmlformats.org/officeDocument/2006/relationships/slide" Target="/ppt/slides/slide32.xml" Id="Rc1aa9a270a944529" /><Relationship Type="http://schemas.openxmlformats.org/officeDocument/2006/relationships/slide" Target="/ppt/slides/slide33.xml" Id="Rcab5050437054272" /><Relationship Type="http://schemas.openxmlformats.org/officeDocument/2006/relationships/slide" Target="/ppt/slides/slide34.xml" Id="R040c1afd9b3044cf" /><Relationship Type="http://schemas.openxmlformats.org/officeDocument/2006/relationships/slide" Target="/ppt/slides/slide35.xml" Id="R7bf40f6c18444caf" /><Relationship Type="http://schemas.openxmlformats.org/officeDocument/2006/relationships/slide" Target="/ppt/slides/slide36.xml" Id="R388a59330c7f43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4b6a8d61a943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28c3b571fc4e22" /><Relationship Type="http://schemas.openxmlformats.org/officeDocument/2006/relationships/notesMaster" Target="/ppt/notesMasters/notesMaster1.xml" Id="R484b34b10b164b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c37ea5faeb47ba" /><Relationship Type="http://schemas.openxmlformats.org/officeDocument/2006/relationships/notesMaster" Target="/ppt/notesMasters/notesMaster1.xml" Id="R3b3ebc624a8245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0d1b7c89f2457d" /><Relationship Type="http://schemas.openxmlformats.org/officeDocument/2006/relationships/notesMaster" Target="/ppt/notesMasters/notesMaster1.xml" Id="R54d0d3530d5c4c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420d523aaf4c63" /><Relationship Type="http://schemas.openxmlformats.org/officeDocument/2006/relationships/notesMaster" Target="/ppt/notesMasters/notesMaster1.xml" Id="R8cfdc923d24f4c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1361cf04a547be" /><Relationship Type="http://schemas.openxmlformats.org/officeDocument/2006/relationships/notesMaster" Target="/ppt/notesMasters/notesMaster1.xml" Id="R7268a6f47c6b46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2163168d6a46b0" /><Relationship Type="http://schemas.openxmlformats.org/officeDocument/2006/relationships/notesMaster" Target="/ppt/notesMasters/notesMaster1.xml" Id="R45d854b4719449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e902d3c8aa41c6" /><Relationship Type="http://schemas.openxmlformats.org/officeDocument/2006/relationships/notesMaster" Target="/ppt/notesMasters/notesMaster1.xml" Id="R9b44b063028544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19d2f83381480c" /><Relationship Type="http://schemas.openxmlformats.org/officeDocument/2006/relationships/notesMaster" Target="/ppt/notesMasters/notesMaster1.xml" Id="Rfc7b96741abe4b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34733542784eb3" /><Relationship Type="http://schemas.openxmlformats.org/officeDocument/2006/relationships/notesMaster" Target="/ppt/notesMasters/notesMaster1.xml" Id="R7edb9f242cf642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696b4c2c00468f" /><Relationship Type="http://schemas.openxmlformats.org/officeDocument/2006/relationships/notesMaster" Target="/ppt/notesMasters/notesMaster1.xml" Id="R0ad062e23aeb41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2069fdac0d414e" /><Relationship Type="http://schemas.openxmlformats.org/officeDocument/2006/relationships/notesMaster" Target="/ppt/notesMasters/notesMaster1.xml" Id="Re2cc5d374d6046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71bf6f18d04e39" /><Relationship Type="http://schemas.openxmlformats.org/officeDocument/2006/relationships/notesMaster" Target="/ppt/notesMasters/notesMaster1.xml" Id="R83889e8aa31f40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d2958411be4db3" /><Relationship Type="http://schemas.openxmlformats.org/officeDocument/2006/relationships/notesMaster" Target="/ppt/notesMasters/notesMaster1.xml" Id="R7d9fea395f7d45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e9b6eb61f24064" /><Relationship Type="http://schemas.openxmlformats.org/officeDocument/2006/relationships/notesMaster" Target="/ppt/notesMasters/notesMaster1.xml" Id="R85e7702526ff47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ca605fa7714fd5" /><Relationship Type="http://schemas.openxmlformats.org/officeDocument/2006/relationships/notesMaster" Target="/ppt/notesMasters/notesMaster1.xml" Id="R18e7a7e188cb479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60a7cb96324708" /><Relationship Type="http://schemas.openxmlformats.org/officeDocument/2006/relationships/notesMaster" Target="/ppt/notesMasters/notesMaster1.xml" Id="Rb7510f2ae8a649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7b1d1a24f740ef" /><Relationship Type="http://schemas.openxmlformats.org/officeDocument/2006/relationships/notesMaster" Target="/ppt/notesMasters/notesMaster1.xml" Id="R29804d669b244a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d9c8435fc541aa" /><Relationship Type="http://schemas.openxmlformats.org/officeDocument/2006/relationships/notesMaster" Target="/ppt/notesMasters/notesMaster1.xml" Id="R524c6dbaa53047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6592078c69429b" /><Relationship Type="http://schemas.openxmlformats.org/officeDocument/2006/relationships/notesMaster" Target="/ppt/notesMasters/notesMaster1.xml" Id="R65f7343b05f940c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9d21f7bd6f4ef9" /><Relationship Type="http://schemas.openxmlformats.org/officeDocument/2006/relationships/notesMaster" Target="/ppt/notesMasters/notesMaster1.xml" Id="R8c8aaaf33d654ad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a995a8d6094161" /><Relationship Type="http://schemas.openxmlformats.org/officeDocument/2006/relationships/notesMaster" Target="/ppt/notesMasters/notesMaster1.xml" Id="Re66d06f8e7884a7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02135fa49b486d" /><Relationship Type="http://schemas.openxmlformats.org/officeDocument/2006/relationships/notesMaster" Target="/ppt/notesMasters/notesMaster1.xml" Id="Rb69b83a3006841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35b50439b54717" /><Relationship Type="http://schemas.openxmlformats.org/officeDocument/2006/relationships/notesMaster" Target="/ppt/notesMasters/notesMaster1.xml" Id="R0abfccad40664ee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c0991cd93954a5d" /><Relationship Type="http://schemas.openxmlformats.org/officeDocument/2006/relationships/notesMaster" Target="/ppt/notesMasters/notesMaster1.xml" Id="Rb8fdee71c770487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5f6e96f4e34998" /><Relationship Type="http://schemas.openxmlformats.org/officeDocument/2006/relationships/notesMaster" Target="/ppt/notesMasters/notesMaster1.xml" Id="Rb51b19176a9f48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5b58979cd4b4fea" /><Relationship Type="http://schemas.openxmlformats.org/officeDocument/2006/relationships/notesMaster" Target="/ppt/notesMasters/notesMaster1.xml" Id="R8bedc979e4714db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14adf18aab4051" /><Relationship Type="http://schemas.openxmlformats.org/officeDocument/2006/relationships/notesMaster" Target="/ppt/notesMasters/notesMaster1.xml" Id="R49600073784e42a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700e1621694ee2" /><Relationship Type="http://schemas.openxmlformats.org/officeDocument/2006/relationships/notesMaster" Target="/ppt/notesMasters/notesMaster1.xml" Id="R4a2b89c0a82b4fc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a489051a0642df" /><Relationship Type="http://schemas.openxmlformats.org/officeDocument/2006/relationships/notesMaster" Target="/ppt/notesMasters/notesMaster1.xml" Id="R20b132607fa04d6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bffaf9137ba45ec" /><Relationship Type="http://schemas.openxmlformats.org/officeDocument/2006/relationships/notesMaster" Target="/ppt/notesMasters/notesMaster1.xml" Id="Ra110361bed2d4f2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84a2df5698c4d3a" /><Relationship Type="http://schemas.openxmlformats.org/officeDocument/2006/relationships/notesMaster" Target="/ppt/notesMasters/notesMaster1.xml" Id="R33709bda1e9b4e2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f031ecb5ba245f9" /><Relationship Type="http://schemas.openxmlformats.org/officeDocument/2006/relationships/notesMaster" Target="/ppt/notesMasters/notesMaster1.xml" Id="R3aa2cfdc4bf048b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438dd96be8470b" /><Relationship Type="http://schemas.openxmlformats.org/officeDocument/2006/relationships/notesMaster" Target="/ppt/notesMasters/notesMaster1.xml" Id="R911811aa6356450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880e270d74243bd" /><Relationship Type="http://schemas.openxmlformats.org/officeDocument/2006/relationships/notesMaster" Target="/ppt/notesMasters/notesMaster1.xml" Id="R12ec35694f614bd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b62dabdfdec4159" /><Relationship Type="http://schemas.openxmlformats.org/officeDocument/2006/relationships/notesMaster" Target="/ppt/notesMasters/notesMaster1.xml" Id="Rac44c18d332d445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adc0ce1f8fb4b1e" /><Relationship Type="http://schemas.openxmlformats.org/officeDocument/2006/relationships/notesMaster" Target="/ppt/notesMasters/notesMaster1.xml" Id="R63965ee41f624a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35 seconds.</a:t>
            </a:r>
          </a:p>
          <a:p xmlns:a="http://schemas.openxmlformats.org/drawingml/2006/main">
            <a:r>
              <a:t>Introduce the team. Navel follows a fixed route in a laboratory and must select one of four social-navigation actions. Changing gaze, distance and missing detections make single observations insufficient. Our objective is an integrated temporal representation and a fair comparison of rule-based and LLM decisions.</a:t>
            </a:r>
          </a:p>
          <a:p xmlns:a="http://schemas.openxmlformats.org/drawingml/2006/main">
            <a:r>
              <a:t/>
            </a:r>
          </a:p>
          <a:p xmlns:a="http://schemas.openxmlformats.org/drawingml/2006/main">
            <a:r>
              <a:t>Sources:</a:t>
            </a:r>
          </a:p>
          <a:p xmlns:a="http://schemas.openxmlformats.org/drawingml/2006/main">
            <a:r>
              <a:t>/Users/eddiekim/Downloads/Poster_59.pptx</a:t>
            </a:r>
          </a:p>
          <a:p xmlns:a="http://schemas.openxmlformats.org/drawingml/2006/main">
            <a:r>
              <a:t>/Users/eddiekim/Documents/Projects/P4P/docs/llm-refinement-summary.md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40 seconds.</a:t>
            </a:r>
          </a:p>
          <a:p xmlns:a="http://schemas.openxmlformats.org/drawingml/2006/main">
            <a:r>
              <a:t/>
            </a:r>
          </a:p>
          <a:p xmlns:a="http://schemas.openxmlformats.org/drawingml/2006/main">
            <a:r>
              <a:t>RQ1 asks how gaze and distance observations over time can be structured into a shared social state. RQ2 asks about alignment with human preferences and appropriateness ratings. The survey judges the immediate action at a video endpoint. The latest tuning study instead scores the first eligible action. Do not equate its 9/9 and 8/9 benchmark scores with survey-endpoint human accuracy. The available verified historical reference has 37 responses, while a 42-response update is unverified. Main slides therefore omit a participant count.</a:t>
            </a:r>
          </a:p>
          <a:p xmlns:a="http://schemas.openxmlformats.org/drawingml/2006/main">
            <a:r>
              <a:t/>
            </a:r>
          </a:p>
          <a:p xmlns:a="http://schemas.openxmlformats.org/drawingml/2006/main">
            <a:r>
              <a:t>Sources:</a:t>
            </a:r>
          </a:p>
          <a:p xmlns:a="http://schemas.openxmlformats.org/drawingml/2006/main">
            <a:r>
              <a:t>/Users/eddiekim/Downloads/Poster_59.pptx</a:t>
            </a:r>
          </a:p>
          <a:p xmlns:a="http://schemas.openxmlformats.org/drawingml/2006/main">
            <a:r>
              <a:t>/Users/eddiekim/Documents/Projects/P4P/config/human-reference.json</a:t>
            </a:r>
          </a:p>
          <a:p xmlns:a="http://schemas.openxmlformats.org/drawingml/2006/main">
            <a:r>
              <a:t>/Users/eddiekim/Documents/Projects/P4P/docs/pipeline-refinement.md</a:t>
            </a:r>
          </a:p>
          <a:p xmlns:a="http://schemas.openxmlformats.org/drawingml/2006/main">
            <a:r>
              <a:t>/Users/eddiekim/Documents/Projects/P4P/config/final-scenarios.json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60 seconds.</a:t>
            </a:r>
          </a:p>
          <a:p xmlns:a="http://schemas.openxmlformats.org/drawingml/2006/main">
            <a:r>
              <a:t/>
            </a:r>
          </a:p>
          <a:p xmlns:a="http://schemas.openxmlformats.org/drawingml/2006/main">
            <a:r>
              <a:t>Sensors stream person detections, gaze, distance, nose geometry and robot motion through HTTP. The server maintains histories and derives temporal cues and validity. Full SocialState retains diagnostics. Both policies receive the same compact DecisionState. A selected policy produces action and reason. Trial correlation, readiness and freshness govern delivery. Native execution is opt-in. Continuous rule commands use a separate target-lock flow, detailed in the appendix. The reported replay trials instantiate no robot executor.</a:t>
            </a:r>
          </a:p>
          <a:p xmlns:a="http://schemas.openxmlformats.org/drawingml/2006/main">
            <a:r>
              <a:t/>
            </a:r>
          </a:p>
          <a:p xmlns:a="http://schemas.openxmlformats.org/drawingml/2006/main">
            <a:r>
              <a:t>Sources:</a:t>
            </a:r>
          </a:p>
          <a:p xmlns:a="http://schemas.openxmlformats.org/drawingml/2006/main">
            <a:r>
              <a:t>/Users/eddiekim/Documents/Projects/P4P/docs/architecture.md</a:t>
            </a:r>
          </a:p>
          <a:p xmlns:a="http://schemas.openxmlformats.org/drawingml/2006/main">
            <a:r>
              <a:t>/Users/eddiekim/Documents/Projects/P4P/app/state/decision_models.py</a:t>
            </a:r>
          </a:p>
          <a:p xmlns:a="http://schemas.openxmlformats.org/drawingml/2006/main">
            <a:r>
              <a:t>/Users/eddiekim/Documents/Projects/P4P/robot/navel_client/single_trial.py</a:t>
            </a:r>
          </a:p>
          <a:p xmlns:a="http://schemas.openxmlformats.org/drawingml/2006/main">
            <a:r>
              <a:t>/Users/eddiekim/Documents/Projects/P4P/docs/target-lock.md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40 seconds.</a:t>
            </a:r>
          </a:p>
          <a:p xmlns:a="http://schemas.openxmlformats.org/drawingml/2006/main">
            <a:r>
              <a:t/>
            </a:r>
          </a:p>
          <a:p xmlns:a="http://schemas.openxmlformats.org/drawingml/2006/main">
            <a:r>
              <a:t>The initial design used gaze and proximity conditions. Refinements calibrated distance-dependent gaze thresholds, kept time and missing-data boundaries, and added forward-corridor plus closing evidence to the low-gaze YIELD condition. The final preset disables recurring intermittent attention as an interaction trigger. These are simplified examples, not the full precedence. The final rule matches all nine expected first actions on this tuning set.</a:t>
            </a:r>
          </a:p>
          <a:p xmlns:a="http://schemas.openxmlformats.org/drawingml/2006/main">
            <a:r>
              <a:t/>
            </a:r>
          </a:p>
          <a:p xmlns:a="http://schemas.openxmlformats.org/drawingml/2006/main">
            <a:r>
              <a:t>Sources:</a:t>
            </a:r>
          </a:p>
          <a:p xmlns:a="http://schemas.openxmlformats.org/drawingml/2006/main">
            <a:r>
              <a:t>/Users/eddiekim/Documents/Projects/P4P/app/policy/rules.py</a:t>
            </a:r>
          </a:p>
          <a:p xmlns:a="http://schemas.openxmlformats.org/drawingml/2006/main">
            <a:r>
              <a:t>/Users/eddiekim/Documents/Projects/P4P/config/temporal-final-scenarios.json</a:t>
            </a:r>
          </a:p>
          <a:p xmlns:a="http://schemas.openxmlformats.org/drawingml/2006/main">
            <a:r>
              <a:t>/Users/eddiekim/Documents/Projects/P4P/docs/social-policy.md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45 seconds.</a:t>
            </a:r>
          </a:p>
          <a:p xmlns:a="http://schemas.openxmlformats.org/drawingml/2006/main">
            <a:r>
              <a:t/>
            </a:r>
          </a:p>
          <a:p xmlns:a="http://schemas.openxmlformats.org/drawingml/2006/main">
            <a:r>
              <a:t>The initial LLM received the full SocialState including configuration, raw geometry and unused diagnostics. Compact projection was the largest improvement: 6/9 to 8/9 and 6.21 seconds to 2.76 seconds in stage 3. Current semantic descriptions and the v16 instructions retain 8/9, with the latest fresh model control median 3.20 seconds. Stage 3 is the faster historical reference, and richer labels have no demonstrated accuracy gain. Timings are warm local runs, not randomized causal estimates. The final selection is Qwen 2.5 7B, DecisionState v3 and v16.</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/Users/eddiekim/Documents/Projects/P4P/var/evaluation/llm-refinement-stage-3/REPORT.md</a:t>
            </a:r>
          </a:p>
          <a:p xmlns:a="http://schemas.openxmlformats.org/drawingml/2006/main">
            <a:r>
              <a:t>/Users/eddiekim/Documents/Projects/P4P/var/evaluation/llm-refinement-stage-4/REPORT.md</a:t>
            </a:r>
          </a:p>
          <a:p xmlns:a="http://schemas.openxmlformats.org/drawingml/2006/main">
            <a:r>
              <a:t>/Users/eddiekim/Documents/Projects/P4P/var/evaluation/llm-refinement-stage-5/REPORT.md</a:t>
            </a:r>
          </a:p>
          <a:p xmlns:a="http://schemas.openxmlformats.org/drawingml/2006/main">
            <a:r>
              <a:t>/Users/eddiekim/Documents/Projects/P4P/var/evaluation/llm-refinement-stage-7-8/REPORT.md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50 seconds.</a:t>
            </a:r>
          </a:p>
          <a:p xmlns:a="http://schemas.openxmlformats.org/drawingml/2006/main">
            <a:r>
              <a:t/>
            </a:r>
          </a:p>
          <a:p xmlns:a="http://schemas.openxmlformats.org/drawingml/2006/main">
            <a:r>
              <a:t>Both policies use identical evidence. Rules match 9/9 expected first actions; Qwen 2.5 7B matches 8/9 in all three repetitions. The LLM median is 3.20 seconds after eligibility, with 95th percentile 6.34 seconds. Median motion-to-output is 4.31 seconds in these recordings. S4 remains wrong: the same in-corridor, closing, low-gaze evidence leads rules to YIELD and the LLM to CONTINUE. Current scores use nine tuning recordings, not held-out human alignment. Readiness and freshness checks can reject a syntactically valid output.</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/Users/eddiekim/Documents/Projects/P4P/var/evaluation/llm-refinement-stage-7-8/JUDGEMENT-REVIEW.md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time: 30 seconds.</a:t>
            </a:r>
          </a:p>
          <a:p xmlns:a="http://schemas.openxmlformats.org/drawingml/2006/main">
            <a:r>
              <a:t/>
            </a:r>
          </a:p>
          <a:p xmlns:a="http://schemas.openxmlformats.org/drawingml/2006/main">
            <a:r>
              <a:t>Play approximately 15 seconds of the prepared montage, then deliver the closing contribution. Use captions that distinguish scripted action execution from autonomous policy selection. Four short shots can show route progress, approach, greeting and giving space. These action demonstrations do not turn recorded inference results into measured physical execution rates. Closing: We developed a shared temporal social-state pipeline and a repeatable way to compare decision quality and delivery time. Compact input substantially improved the LLM, while the tuned rules remained more reliable on tested first decisions.</a:t>
            </a:r>
          </a:p>
          <a:p xmlns:a="http://schemas.openxmlformats.org/drawingml/2006/main">
            <a:r>
              <a:t/>
            </a:r>
          </a:p>
          <a:p xmlns:a="http://schemas.openxmlformats.org/drawingml/2006/main">
            <a:r>
              <a:t>Sources:</a:t>
            </a:r>
          </a:p>
          <a:p xmlns:a="http://schemas.openxmlformats.org/drawingml/2006/main">
            <a:r>
              <a:t>/Users/eddiekim/Documents/Projects/P4P/docs/robot-decision-dry-run.md</a:t>
            </a:r>
          </a:p>
          <a:p xmlns:a="http://schemas.openxmlformats.org/drawingml/2006/main">
            <a:r>
              <a:t>/Users/eddiekim/Documents/Projects/P4P/docs/physical-executor.md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 five-minute presentation ends at slide 7. Use the following slides selectively for questions. All numerical results refer to their frozen experiment and timing origin.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Exactly nine motion-trimmed SDK recordings are the tuning set. Freeze the first eligible source snapshot and unchanged allowed-action lists. Invalid/missing first outputs count as failure. Later calls use separate frozen last-eligible points and cannot replace the first result. Three deterministic repeats are repeated measurements of the same nine scenarios. S8 resolves while the observed scene is empty; it does not demonstrate later gaze or departure recognition. S3 and S8 allow several actions.</a:t>
            </a:r>
          </a:p>
          <a:p xmlns:a="http://schemas.openxmlformats.org/drawingml/2006/main">
            <a:r>
              <a:t/>
            </a:r>
          </a:p>
          <a:p xmlns:a="http://schemas.openxmlformats.org/drawingml/2006/main">
            <a:r>
              <a:t>Sources:</a:t>
            </a:r>
          </a:p>
          <a:p xmlns:a="http://schemas.openxmlformats.org/drawingml/2006/main">
            <a:r>
              <a:t>/Users/eddiekim/Documents/Projects/P4P/config/final-scenarios.json</a:t>
            </a:r>
          </a:p>
          <a:p xmlns:a="http://schemas.openxmlformats.org/drawingml/2006/main">
            <a:r>
              <a:t>/Users/eddiekim/Documents/Projects/P4P/var/evaluation/llm-refinement-stage-1-2/REPORT.md</a:t>
            </a:r>
          </a:p>
          <a:p xmlns:a="http://schemas.openxmlformats.org/drawingml/2006/main">
            <a:r>
              <a:t>/Users/eddiekim/Documents/Projects/P4P/var/evaluation/llm-refinement-stage-7-8/REPORT.md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 historical source reference verifies 37 responses per scenario, with independent action-rating denominators 34 to 37. A later 42-response workbook is expected but unavailable/unverified in the stored run. The historical example below deliberately demonstrates preference/rating disagreement rather than claiming current human accuracy. S3 has YIELD 18 votes and ENGAGE 12 votes, while mean appropriateness is higher for ENGAGE. Survey clip trim-to-SDK endpoint mappings are unverified, so direct RQ2 alignment remains unresolved. Replace/update the survey figure after verifying the final dataset and endpoint mapping.</a:t>
            </a:r>
          </a:p>
          <a:p xmlns:a="http://schemas.openxmlformats.org/drawingml/2006/main">
            <a:r>
              <a:t/>
            </a:r>
          </a:p>
          <a:p xmlns:a="http://schemas.openxmlformats.org/drawingml/2006/main">
            <a:r>
              <a:t>Sources:</a:t>
            </a:r>
          </a:p>
          <a:p xmlns:a="http://schemas.openxmlformats.org/drawingml/2006/main">
            <a:r>
              <a:t>/Users/eddiekim/Documents/Projects/P4P/config/human-reference.json</a:t>
            </a:r>
          </a:p>
          <a:p xmlns:a="http://schemas.openxmlformats.org/drawingml/2006/main">
            <a:r>
              <a:t>/Users/eddiekim/Documents/Projects/P4P/docs/results/pipeline-refinement/reference-verification.json</a:t>
            </a:r>
          </a:p>
          <a:p xmlns:a="http://schemas.openxmlformats.org/drawingml/2006/main">
            <a:r>
              <a:t>/Users/eddiekim/Documents/Projects/P4P/var/evaluation/poster-20261011-final-first-output-01/human-reference.json</a:t>
            </a:r>
          </a:p>
          <a:p xmlns:a="http://schemas.openxmlformats.org/drawingml/2006/main">
            <a:r>
              <a:t>/Users/eddiekim/Documents/Projects/P4P/docs/pipeline-refinement.md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Action agreement means the first action belongs to the frozen allowed set. Strict validity means the parser accepts the enum and nonblank reason, not semantic correctness. Client acceptance additionally checks correlation, readiness and freshness. Time to complete observed output starts at first eligibility; motion-to-output includes the evidence wait. Components have independent medians. The latest 7B run has 3.20-second output median, 6.34-second 95th percentile, 1.17-second median eligibility after motion and 4.31-second measured motion-to-output median. These are local replay timings, excluding physical LAN and action execution.</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/Users/eddiekim/Documents/Projects/P4P/var/evaluation/llm-refinement-stage-7-8/REPORT.md</a:t>
            </a:r>
          </a:p>
          <a:p xmlns:a="http://schemas.openxmlformats.org/drawingml/2006/main">
            <a:r>
              <a:t>/Users/eddiekim/Documents/Projects/P4P/scripts/profile_llm_baseline.py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Use actual SDK perception and latest prior locomotion packets. dist_mm is converted to metres. Raw score is gaze overlap, not interest probability. A finite positive-size face bounding box supplies face detection. Nose geometry selects finite nonzero CAM_HEAD points; never relabel another frame. Latest locomotion supplies measured forward/yaw velocities. Missing/invalid/stale values remain unavailable. Unsupported path relation/pass gesture measurements have been removed. Raw safety range units remain unverified and do not enter the compact LLM social evidence. HTTP keeps the newest pending frame, with at most ten POST starts per second by default.</a:t>
            </a:r>
          </a:p>
          <a:p xmlns:a="http://schemas.openxmlformats.org/drawingml/2006/main">
            <a:r>
              <a:t/>
            </a:r>
          </a:p>
          <a:p xmlns:a="http://schemas.openxmlformats.org/drawingml/2006/main">
            <a:r>
              <a:t>Sources:</a:t>
            </a:r>
          </a:p>
          <a:p xmlns:a="http://schemas.openxmlformats.org/drawingml/2006/main">
            <a:r>
              <a:t>/Users/eddiekim/Documents/Projects/P4P/docs/raw-observation-frame.md</a:t>
            </a:r>
          </a:p>
          <a:p xmlns:a="http://schemas.openxmlformats.org/drawingml/2006/main">
            <a:r>
              <a:t>/Users/eddiekim/Documents/Projects/P4P/docs/navel-supported-cues.md</a:t>
            </a:r>
          </a:p>
          <a:p xmlns:a="http://schemas.openxmlformats.org/drawingml/2006/main">
            <a:r>
              <a:t>/Users/eddiekim/Documents/Projects/P4P/robot/navel_client/adapter.py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Identify histories by session, SDK UID and track epoch. Missing grace 0.75 seconds is distinct from the target lock hold of two seconds. A return after expiry starts a new epoch. The final preset enables a limited nose-based cross-UID continuity heuristic only for one retained/current person in adjacent frames with finite nonzero CAM_HEAD positions, distance at most 0.45 metres and elapsed time at most 0.25 seconds. This can preserve history/epoch through SDK churn but does not prove physical identity. The separate target-lock handoff keeps a logical lock while a new raw track builds fresh history.</a:t>
            </a:r>
          </a:p>
          <a:p xmlns:a="http://schemas.openxmlformats.org/drawingml/2006/main">
            <a:r>
              <a:t/>
            </a:r>
          </a:p>
          <a:p xmlns:a="http://schemas.openxmlformats.org/drawingml/2006/main">
            <a:r>
              <a:t>Sources:</a:t>
            </a:r>
          </a:p>
          <a:p xmlns:a="http://schemas.openxmlformats.org/drawingml/2006/main">
            <a:r>
              <a:t>/Users/eddiekim/Documents/Projects/P4P/app/state/tracks.py</a:t>
            </a:r>
          </a:p>
          <a:p xmlns:a="http://schemas.openxmlformats.org/drawingml/2006/main">
            <a:r>
              <a:t>/Users/eddiekim/Documents/Projects/P4P/config/person-tracking-final-scenarios.json</a:t>
            </a:r>
          </a:p>
          <a:p xmlns:a="http://schemas.openxmlformats.org/drawingml/2006/main">
            <a:r>
              <a:t>/Users/eddiekim/Documents/Projects/P4P/docs/person-tracking.md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gaze_thresholds uses near thresholds at distance &lt;=2.75m and stronger thresholds at distance &gt;2.75m. gaze &gt;= enter sets looking true; gaze &lt;= exit sets false; values in the band keep the previous state. An uninitialised band remains unknown. A null score, nonadjacent source frame or gap &gt;0.25s resets sample memory. Score 0.5 is valid low gaze in this preset. The face label does not establish gaze or facing. Labels recompute from authoritative evidence.</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Integrate only adjacent intervals where both sample classifications are known. The interval uses the earlier classification for looking duration. coverage sums valid durations, looking_time sums durations classified true, gaze_fraction is looking_time divided by coverage. sustained_gaze_s is the trailing contiguous true run. Count bouts only from observed false-to-true transitions; detector gaps cannot create bouts. Sufficiency requires current known gaze, at least five known samples, span &gt;=1s, coverage &gt;=0.6s and coverage fraction &gt;=0.5. Sustained category needs current looking true plus fraction &gt;=0.8 entering or &gt;=0.65 retaining. NONE enters &lt;=0.2 or retains &lt;=0.35. Current preset dwell/run minimum are zero. Example S7 is measured, not illustrative.</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/Users/eddiekim/Documents/Projects/P4P/app/state/estimator.py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Fit only the newest contiguous valid-distance segment. The implementation uses a Theil-Sen-style median of all pairwise slopes, not ordinary least squares. Intercept is median(d_i - m*t_i). RMS residual measures error about this line. This figure uses actual S4 samples from the frozen first decision; reconstructed values exactly reproduce stored slope. n=12, span=1.08583s, slope=-0.3132622696787195m/s, intercept=3.5250032471403463m, RMS=0.09263065031506869m. Either participant can cause changing separation.</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/Users/eddiekim/Documents/Projects/P4P/config/temporal-final-scenarios.json</a:t>
            </a:r>
          </a:p>
          <a:p xmlns:a="http://schemas.openxmlformats.org/drawingml/2006/main">
            <a:r>
              <a:t>/Users/eddiekim/Documents/Projects/P4P/var/evaluation/llm-refinement-stage-7-8/common/snapshots/S4/first.social-state.json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Sample adjacency requires contiguous frame_sequence and dt&gt;0 through max_gap_s. Nulls/gaps/jumps break the fitting segment. A jump exceeds 3.0m/s * dt +0.05m and invalidates that latest distance at this update. Subsequent clean samples accumulate a new fit. Downsample evenly to at most 32 fit samples if necessary. Five samples and span at least one second are required. Fit is valid only with current observed distance and RMS &lt;=0.1m. Trends use strict inequalities below -0.1 and above +0.1m/s; equality is STABLE.</a:t>
            </a:r>
          </a:p>
          <a:p xmlns:a="http://schemas.openxmlformats.org/drawingml/2006/main">
            <a:r>
              <a:t/>
            </a:r>
          </a:p>
          <a:p xmlns:a="http://schemas.openxmlformats.org/drawingml/2006/main">
            <a:r>
              <a:t>Sources:</a:t>
            </a:r>
          </a:p>
          <a:p xmlns:a="http://schemas.openxmlformats.org/drawingml/2006/main">
            <a:r>
              <a:t>/Users/eddiekim/Documents/Projects/P4P/app/state/features.py</a:t>
            </a:r>
          </a:p>
          <a:p xmlns:a="http://schemas.openxmlformats.org/drawingml/2006/main">
            <a:r>
              <a:t>/Users/eddiekim/Documents/Projects/P4P/app/state/estimator.py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Final bands use bisect_left without zone hysteresis: &lt;=0.6m TOO_CLOSE, (0.6,2] interaction, (2,6] approachable, &gt;6 far. Fixed-head CAM_HEAD nose transforms into forward/lateral using configured camera offset and yaw. Current offsets and yaw are zero. Corridor half width 0.4m, hysteresis 0.05m: initial &lt;=0.4m, retain IN_WAY to0.45m, reenter from TO_SIDE at &lt;=0.35m. Forward &lt;=0 is BEHIND. Missing/invalid geometry or disabled fixed-head interpretation is UNKNOWN. Positions below are actual first snapshots, not predicted trajectories. No body envelope or dynamic head compensation is modelled.</a:t>
            </a:r>
          </a:p>
          <a:p xmlns:a="http://schemas.openxmlformats.org/drawingml/2006/main">
            <a:r>
              <a:t/>
            </a:r>
          </a:p>
          <a:p xmlns:a="http://schemas.openxmlformats.org/drawingml/2006/main">
            <a:r>
              <a:t>Sources:</a:t>
            </a:r>
          </a:p>
          <a:p xmlns:a="http://schemas.openxmlformats.org/drawingml/2006/main">
            <a:r>
              <a:t>/Users/eddiekim/Documents/Projects/P4P/app/state/path_position.py</a:t>
            </a:r>
          </a:p>
          <a:p xmlns:a="http://schemas.openxmlformats.org/drawingml/2006/main">
            <a:r>
              <a:t>/Users/eddiekim/Documents/Projects/P4P/config/temporal-final-scenarios.json</a:t>
            </a:r>
          </a:p>
          <a:p xmlns:a="http://schemas.openxmlformats.org/drawingml/2006/main">
            <a:r>
              <a:t>/Users/eddiekim/Documents/Projects/P4P/docs/path-position.md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These are ordered supported v7 conditions. Readiness gates invocation. Current preset disables recurring attention; the general rule supports it only when enabled. YIELD additionally requires detected face, observed person, distance &lt;=3.5m, latest looking false, valid NONE gaze and current gaze overlap &lt;=effective exit threshold. Sustained category held with current looking false returns CONTINUE before interaction branches. IN_WAY/TO_SIDE paired closing conditions differ only by current position. No unsupported measured path or gesture branch remains.</a:t>
            </a:r>
          </a:p>
          <a:p xmlns:a="http://schemas.openxmlformats.org/drawingml/2006/main">
            <a:r>
              <a:t/>
            </a:r>
          </a:p>
          <a:p xmlns:a="http://schemas.openxmlformats.org/drawingml/2006/main">
            <a:r>
              <a:t>Sources:</a:t>
            </a:r>
          </a:p>
          <a:p xmlns:a="http://schemas.openxmlformats.org/drawingml/2006/main">
            <a:r>
              <a:t>/Users/eddiekim/Documents/Projects/P4P/app/policy/rules.py</a:t>
            </a:r>
          </a:p>
          <a:p xmlns:a="http://schemas.openxmlformats.org/drawingml/2006/main">
            <a:r>
              <a:t>/Users/eddiekim/Documents/Projects/P4P/config/temporal-final-scenarios.json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These are engineering choices tuned on the same nine recordings, not population-calibrated thresholds. They address compressed gaze scores, unreliable far gaze, intermittent detections, passing beside the robot and empty intervals. No independent sensor accuracy or held-out policy generalisation follows from fitting the preset. Native physical approach stopping distance is separate from a descriptive proximity band.</a:t>
            </a:r>
          </a:p>
          <a:p xmlns:a="http://schemas.openxmlformats.org/drawingml/2006/main">
            <a:r>
              <a:t/>
            </a:r>
          </a:p>
          <a:p xmlns:a="http://schemas.openxmlformats.org/drawingml/2006/main">
            <a:r>
              <a:t>Sources:</a:t>
            </a:r>
          </a:p>
          <a:p xmlns:a="http://schemas.openxmlformats.org/drawingml/2006/main">
            <a:r>
              <a:t>/Users/eddiekim/Documents/Projects/P4P/config/temporal-final-scenarios.json</a:t>
            </a:r>
          </a:p>
          <a:p xmlns:a="http://schemas.openxmlformats.org/drawingml/2006/main">
            <a:r>
              <a:t>/Users/eddiekim/Documents/Projects/P4P/config/person-tracking-final-scenarios.json</a:t>
            </a:r>
          </a:p>
          <a:p xmlns:a="http://schemas.openxmlformats.org/drawingml/2006/main">
            <a:r>
              <a:t>/Users/eddiekim/Documents/Projects/P4P/docs/final-scenario-tuning.md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 continuous rule command/head-focus flow maintains one logical lock ID bound to a session, UID and epoch. It can acquire a sole visible track even before a ready proposal, unless no-attention/receding policy dismisses it. LOCKED permits matching target actions or YIELD; other proposals can hold. A missing target preserves the logical lock for less than two seconds. Same UID/epoch returning within hold restores it. Multiple candidates cause AMBIGUOUS. New UID is TENTATIVE_RETURN and needs guarded evidence. Policy release, timeout, long stream gap, engagement completion or terminal execution failure releases to cooldown. A hold returns effective_decision null, not a fifth action. SingleTrial first-output scoring is separate from this effective command layer.</a:t>
            </a:r>
          </a:p>
          <a:p xmlns:a="http://schemas.openxmlformats.org/drawingml/2006/main">
            <a:r>
              <a:t/>
            </a:r>
          </a:p>
          <a:p xmlns:a="http://schemas.openxmlformats.org/drawingml/2006/main">
            <a:r>
              <a:t>Sources:</a:t>
            </a:r>
          </a:p>
          <a:p xmlns:a="http://schemas.openxmlformats.org/drawingml/2006/main">
            <a:r>
              <a:t>/Users/eddiekim/Documents/Projects/P4P/app/policy/target_lock.py</a:t>
            </a:r>
          </a:p>
          <a:p xmlns:a="http://schemas.openxmlformats.org/drawingml/2006/main">
            <a:r>
              <a:t>/Users/eddiekim/Documents/Projects/P4P/config/target-lock.json</a:t>
            </a:r>
          </a:p>
          <a:p xmlns:a="http://schemas.openxmlformats.org/drawingml/2006/main">
            <a:r>
              <a:t>/Users/eddiekim/Documents/Projects/P4P/docs/target-lock.md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All gates are required. Candidate must be newly acquired within 0.8s of old last sighting, exclusive throughout the gap, neither UID may be zero. Scalar distance allowance 0.25 +1.5*dt metres applies from old track and between candidate frames. At least three consistent frames span0.15s and have maximum gap0.35s. At most three rebinds per logical lock. Handoff retains lock ID, but the new raw track keeps its own epoch/fresh history. The handoff frame holds UID_REBOUND_OBSERVE. This is not the tracker nose continuity heuristic and not proof of personal identity.</a:t>
            </a:r>
          </a:p>
          <a:p xmlns:a="http://schemas.openxmlformats.org/drawingml/2006/main">
            <a:r>
              <a:t/>
            </a:r>
          </a:p>
          <a:p xmlns:a="http://schemas.openxmlformats.org/drawingml/2006/main">
            <a:r>
              <a:t>Sources:</a:t>
            </a:r>
          </a:p>
          <a:p xmlns:a="http://schemas.openxmlformats.org/drawingml/2006/main">
            <a:r>
              <a:t>/Users/eddiekim/Documents/Projects/P4P/app/policy/target_lock.py</a:t>
            </a:r>
          </a:p>
          <a:p xmlns:a="http://schemas.openxmlformats.org/drawingml/2006/main">
            <a:r>
              <a:t>/Users/eddiekim/Documents/Projects/P4P/config/target-lock.json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Do not depict the LLM as passing through rule correction or rule target locking. Continuous rule command flow uses pure proposal, target lock, command planner and opt-in execution feedback. Selected-policy SingleTrial uses the selected rules/LLM/VLM source directly, validates correlation/readiness/freshness and latches an accepted action. It does not reconsider a latched CONTINUE. Route settling precedes executing other actions when --single-trial-execute is enabled. Model audits outside selected trials are audit-only. This evaluation stops at first output and separately records acceptance; it instantiates no physical executor.</a:t>
            </a:r>
          </a:p>
          <a:p xmlns:a="http://schemas.openxmlformats.org/drawingml/2006/main">
            <a:r>
              <a:t/>
            </a:r>
          </a:p>
          <a:p xmlns:a="http://schemas.openxmlformats.org/drawingml/2006/main">
            <a:r>
              <a:t>Sources:</a:t>
            </a:r>
          </a:p>
          <a:p xmlns:a="http://schemas.openxmlformats.org/drawingml/2006/main">
            <a:r>
              <a:t>/Users/eddiekim/Documents/Projects/P4P/docs/command-feedback.md</a:t>
            </a:r>
          </a:p>
          <a:p xmlns:a="http://schemas.openxmlformats.org/drawingml/2006/main">
            <a:r>
              <a:t>/Users/eddiekim/Documents/Projects/P4P/docs/robot-decision-dry-run.md</a:t>
            </a:r>
          </a:p>
          <a:p xmlns:a="http://schemas.openxmlformats.org/drawingml/2006/main">
            <a:r>
              <a:t>/Users/eddiekim/Documents/Projects/P4P/docs/live-model-inference.md</a:t>
            </a:r>
          </a:p>
          <a:p xmlns:a="http://schemas.openxmlformats.org/drawingml/2006/main">
            <a:r>
              <a:t>/Users/eddiekim/Documents/Projects/P4P/robot/navel_client/single_trial.py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DecisionState contains readiness, robot motion state/description, observed people in preserved order, distance/gaze/trend/face/corridor fields, semantic labels and ten exact numeric/validity rule operands. IDs and source timestamps are correlation context, not LLM text. Seven rule constants are cached separately. Full SocialState retains geometry, fit diagnostics, tracking history and configuration. Unsupported upstream measured path relation and pass gesture are removed throughout. Temporal summaries default NONE, preserving exact v3 JSON. Both production policy paths use the same canonical observation content.</a:t>
            </a:r>
          </a:p>
          <a:p xmlns:a="http://schemas.openxmlformats.org/drawingml/2006/main">
            <a:r>
              <a:t/>
            </a:r>
          </a:p>
          <a:p xmlns:a="http://schemas.openxmlformats.org/drawingml/2006/main">
            <a:r>
              <a:t>Sources:</a:t>
            </a:r>
          </a:p>
          <a:p xmlns:a="http://schemas.openxmlformats.org/drawingml/2006/main">
            <a:r>
              <a:t>/Users/eddiekim/Documents/Projects/P4P/app/state/decision_models.py</a:t>
            </a:r>
          </a:p>
          <a:p xmlns:a="http://schemas.openxmlformats.org/drawingml/2006/main">
            <a:r>
              <a:t>/Users/eddiekim/Documents/Projects/P4P/docs/navel-supported-cues.md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Labels recompute from authoritative categories and validity. Current sample may be known before temporal gaze becomes usable. Invalid trend must be described as unavailable, not stationary. Distance categories are configured references, not willingness. Face detection does not establish facing. Labels contain no recommended action and do not establish intent, permission, predicted collision or clearance. These rows condense the exact English descriptions for readability; authoritative strings are in the state model.</a:t>
            </a:r>
          </a:p>
          <a:p xmlns:a="http://schemas.openxmlformats.org/drawingml/2006/main">
            <a:r>
              <a:t/>
            </a:r>
          </a:p>
          <a:p xmlns:a="http://schemas.openxmlformats.org/drawingml/2006/main">
            <a:r>
              <a:t>Sources:</a:t>
            </a:r>
          </a:p>
          <a:p xmlns:a="http://schemas.openxmlformats.org/drawingml/2006/main">
            <a:r>
              <a:t>/Users/eddiekim/Documents/Projects/P4P/app/state/decision_models.py</a:t>
            </a:r>
          </a:p>
          <a:p xmlns:a="http://schemas.openxmlformats.org/drawingml/2006/main">
            <a:r>
              <a:t>/Users/eddiekim/Documents/Projects/P4P/app/policy/llm.py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v16 asks for an independent judgement using compact measurements and the four action definitions. It distinguishes current gaze from history and high coverage fraction from uninterrupted looking, known absence from unavailable data, relative separation from individual motion and face detection from facing. No rule-based correction/fallback selects actions. Parser requires exactly action/reason, one of four enums, nonblank string and no extras. The &lt;=25-word explanation is prompt guidance, not a semantic or length validator. All252 new stage7/8 calls are syntactically valid despite varying behavioural agreement.</a:t>
            </a:r>
          </a:p>
          <a:p xmlns:a="http://schemas.openxmlformats.org/drawingml/2006/main">
            <a:r>
              <a:t/>
            </a:r>
          </a:p>
          <a:p xmlns:a="http://schemas.openxmlformats.org/drawingml/2006/main">
            <a:r>
              <a:t>Sources:</a:t>
            </a:r>
          </a:p>
          <a:p xmlns:a="http://schemas.openxmlformats.org/drawingml/2006/main">
            <a:r>
              <a:t>/Users/eddiekim/Documents/Projects/P4P/app/policy/llm.py</a:t>
            </a:r>
          </a:p>
          <a:p xmlns:a="http://schemas.openxmlformats.org/drawingml/2006/main">
            <a:r>
              <a:t>/Users/eddiekim/Documents/Projects/P4P/app/domain/model_decision.py</a:t>
            </a:r>
          </a:p>
          <a:p xmlns:a="http://schemas.openxmlformats.org/drawingml/2006/main">
            <a:r>
              <a:t>/Users/eddiekim/Documents/Projects/P4P/app/inference/ollama.py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Three warm operational repetitions per scored arm, same frozen first observations and allowed-action sets. Stages are separate sequential runs; timing is not a randomized causal estimate. Stage3 is fastest historical8/9 at2.76s. Stage4 adds meaning but has no action gain and costs time. Cue removal makes currentv3 but had no isolated model run. Stage5 uses a fresh v14/v3 control3.31s versus selectedv163.04s. Stage6 reuses that selected control; active first summaries do not improve8/9. No repeated-looking primary run occurs because its first inputs are unchanged.</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/Users/eddiekim/Documents/Projects/P4P/var/evaluation/llm-refinement-stage-3/REPORT.md</a:t>
            </a:r>
          </a:p>
          <a:p xmlns:a="http://schemas.openxmlformats.org/drawingml/2006/main">
            <a:r>
              <a:t>/Users/eddiekim/Documents/Projects/P4P/var/evaluation/llm-refinement-stage-4/REPORT.md</a:t>
            </a:r>
          </a:p>
          <a:p xmlns:a="http://schemas.openxmlformats.org/drawingml/2006/main">
            <a:r>
              <a:t>/Users/eddiekim/Documents/Projects/P4P/var/evaluation/llm-refinement-stage-5/REPORT.md</a:t>
            </a:r>
          </a:p>
          <a:p xmlns:a="http://schemas.openxmlformats.org/drawingml/2006/main">
            <a:r>
              <a:t>/Users/eddiekim/Documents/Projects/P4P/var/evaluation/llm-refinement-stage-6/REPORT.md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Variants are independent. Looking change is justified by valid history, known latest classificationfalse and positive recent looking time. Repeated looking requires at least two measured bouts and does not assert episode durations. Detection resumed requires exact current REACQUIRED event matchingUID,epoch,timestamp. Reassociation/new acquisition/past events do not qualify. Events do not establish gaze during gap or a person physically returning. Positive summaries alone add fields and version4; inactive payload stays exactv3. DefaultNONE.</a:t>
            </a:r>
          </a:p>
          <a:p xmlns:a="http://schemas.openxmlformats.org/drawingml/2006/main">
            <a:r>
              <a:t/>
            </a:r>
          </a:p>
          <a:p xmlns:a="http://schemas.openxmlformats.org/drawingml/2006/main">
            <a:r>
              <a:t>Sources:</a:t>
            </a:r>
          </a:p>
          <a:p xmlns:a="http://schemas.openxmlformats.org/drawingml/2006/main">
            <a:r>
              <a:t>/Users/eddiekim/Documents/Projects/P4P/var/evaluation/llm-refinement-stage-6/REPORT.md</a:t>
            </a:r>
          </a:p>
          <a:p xmlns:a="http://schemas.openxmlformats.org/drawingml/2006/main">
            <a:r>
              <a:t>/Users/eddiekim/Documents/Projects/P4P/docs/temporal-summary-experiments.md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Direct screens use one first snapshot call per scenario and are not primary operational scores. All retain8/9 actions and full prompttoken counts. Context2048 is fastest screen, hence selected for three operational repetitions against fresh control. The output64 ceiling cannot improve answers already terminating below64tokens. Confirmation gives3.13to3.07s (-1.7%) and p955.84to5.91 (+1.2%). Criteria require no scenario loss, all valid/untruncated output,&gt;=10% median gain and no worsep95. Keep8192/192. Loaded memory falls4.98to4.62GB. Downloads overlap early settings blocks, limiting inference about a small difference.</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/Users/eddiekim/Documents/Projects/P4P/var/evaluation/llm-refinement-stage-7-8/stage7/screen-selection.json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All models use sharedv3/v16 text messages,temperature0 seed42 context8192 output192. Quantization/templates/tokenizers remainmodel-specific and /api/show metadata is saved. Three repetitions rotate model order and one model remains loaded at a time with warmweights. All27first outputs valid permodel. Qwen2.5 3B fixesS4butwronglyYieldsS1/S2/S6/S7/S9. Qwen3instructwronglyApproachesS1/S4 and claimsindividual motion/interest. Gemma3continuesallfirstcases. SelectQwen7B because no candidate preserves scenario quality. The experiment is M3,16GB,Ollama0.34.0;nohardwareactions.</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/Users/eddiekim/Documents/Projects/P4P/var/evaluation/llm-refinement-stage-7-8/stage8/comparison.json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Every shown first action is stable across the three repetitions. C CONTINUE,A APPROACH,E ENGAGE,Y YIELD. S3 permitsE/A; S8permitsA/E/Cbecauseprimaryfirstdecisioncanoccurinempty scene. No model receives expected labels or scenario IDs as social evidence. Table showsnineunique cases,not27 independent encounters.</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/Users/eddiekim/Documents/Projects/P4P/config/final-scenarios.json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Baseline promptprocessing is77.35%of summed nativewarmtime,gen22.12,load0.09,other0.44. CurrentQwen7 first-request medians:prompt1.88s,gen1.27s,load0.003s. Do not add independently calculated medians to derive medianwalltime. latestcompleteobservedmedian3.20,p956.34. Firsteligibleaftermotionmedian1.166849,motiontooutputmedian4.307320,computed directly. Trialdeadline30s;currentobs&lt;=1s,modelsource&lt;=10s,ready/correlated. A continuinglive streamcanstayfreshafterclipend,whilecurrentreadinesscanstillchange. 20/27accepted;17/27bothalignedaccepted. NoLAN/hardwareexecution measurement.</a:t>
            </a:r>
          </a:p>
          <a:p xmlns:a="http://schemas.openxmlformats.org/drawingml/2006/main">
            <a:r>
              <a:t/>
            </a:r>
          </a:p>
          <a:p xmlns:a="http://schemas.openxmlformats.org/drawingml/2006/main">
            <a:r>
              <a:t>Sources:</a:t>
            </a:r>
          </a:p>
          <a:p xmlns:a="http://schemas.openxmlformats.org/drawingml/2006/main">
            <a:r>
              <a:t>/Users/eddiekim/Documents/Projects/P4P/var/evaluation/llm-refinement-stage-1-2/REPORT.md</a:t>
            </a:r>
          </a:p>
          <a:p xmlns:a="http://schemas.openxmlformats.org/drawingml/2006/main">
            <a:r>
              <a:t>/Users/eddiekim/Documents/Projects/P4P/var/evaluation/llm-refinement-stage-7-8/REPORT.md</a:t>
            </a:r>
          </a:p>
          <a:p xmlns:a="http://schemas.openxmlformats.org/drawingml/2006/main">
            <a:r>
              <a:t>/Users/eddiekim/Documents/Projects/P4P/robot/navel_client/single_trial.py</a:t>
            </a:r>
          </a:p>
          <a:p xmlns:a="http://schemas.openxmlformats.org/drawingml/2006/main">
            <a:r>
              <a:t>/Users/eddiekim/Documents/Projects/P4P/scripts/profile_llm_baseline.py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RetaincurrenttestedbaselinewithQwen2.5 7B,Statev3,Promptv16 andadditionaltemporalmodeNONE. Context8192,maxprediction192,temp0,seed42. Loadweightswithsamecontextbeforeencounterandkeepintendedmodelresident. Measurementsalreadyassumewarmweights;preloadisreproductionconditionnotclaimedextra gain. Effective temporal/tracking finalpresets remainexplicit. HTTPtimeout120s is transportlimit,separatefrom30sSingleTrialdeadline. Actualv16messagesandstatehashesverified. Originalcopiedprotocolsettingspromptversionmetadataisunusedhistoricalv14;recommended-settings.jsoncorrectsv16metadata.</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/Users/eddiekim/Documents/Projects/P4P/var/evaluation/llm-refinement-stage-7-8/recommended-settings.json</a:t>
            </a:r>
          </a:p>
          <a:p xmlns:a="http://schemas.openxmlformats.org/drawingml/2006/main">
            <a:r>
              <a:t>/Users/eddiekim/Documents/Projects/P4P/docs/inference-settings-and-models.md</a:t>
            </a:r>
          </a:p>
          <a:p xmlns:a="http://schemas.openxmlformats.org/drawingml/2006/main">
            <a:r>
              <a:t>/Users/eddiekim/Documents/Projects/P4P/app/state/decision_models.py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RQ1: implementedcausalsharedevidencewithhistory,validityandcompactinput;all574framespreservetunedruledecisions/readiness,402eligible. RQ2:currentfirst-actioncomparisonfavoursrules,whileformalhumanpreferencealignmentneedssurveyendpointmappingandfinalverifiedworkbook. Do notclaim9/9humanagreement. Nine recordings are tuning cases,notheldoutaccuracy. Deterministicrepeatsmeasurestabilitynotindependent sample size. SourceS8firstemptyandS6firstbeforelaterglance;do notinferlatercueunderstanding. Corridorfixedheadproxyandreassociationidentityheuristicsneedindependentvalidation. Replayendsatoutput,notphysicalexecution. Historicalstage3at2.76sremainfastest8/9observedrun;finalpipeline3.0to3.2snotprovenbetterbecauseofricherlabels.</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a:p xmlns:a="http://schemas.openxmlformats.org/drawingml/2006/main">
            <a:r>
              <a:t>/Users/eddiekim/Documents/Projects/P4P/docs/pipeline-refinement.md</a:t>
            </a:r>
          </a:p>
          <a:p xmlns:a="http://schemas.openxmlformats.org/drawingml/2006/main">
            <a:r>
              <a:t>/Users/eddiekim/Documents/Projects/P4P/docs/llm-refinement-summary.md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This editable scatter plot uses the same fresh model comparison. Each point is one model, with median first-output delay and number of aligned unique scenarios. All three repeats yield the same counts. Faster models do not preserve the 7B baseline action agreement. This is a nine-scenario tuning comparison on an Apple M3 with 16GB, not a general benchmark. Model inference times include the local complete-output path.</a:t>
            </a:r>
          </a:p>
          <a:p xmlns:a="http://schemas.openxmlformats.org/drawingml/2006/main">
            <a:r>
              <a:t/>
            </a:r>
          </a:p>
          <a:p xmlns:a="http://schemas.openxmlformats.org/drawingml/2006/main">
            <a:r>
              <a:t>Sources:</a:t>
            </a:r>
          </a:p>
          <a:p xmlns:a="http://schemas.openxmlformats.org/drawingml/2006/main">
            <a:r>
              <a:t>/Users/eddiekim/Documents/Projects/P4P/var/evaluation/llm-refinement-stage-7-8/REPORT.md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
            </a:r>
          </a:p>
          <a:p xmlns:a="http://schemas.openxmlformats.org/drawingml/2006/main">
            <a:r>
              <a:t>These ten fields retain all numeric/validity operands required by the tuned rules. The compact object also contains current distance/categories, face/corridor observations and semantic descriptions, as shown earlier. Values here are the actual first S4 snapshot and rounded only for display. The policy and model JSON preserve full precision. Neither source IDs nor raw geometry enter LLM text. Looking exit remains because a false sample in the hysteresis band does not necessarily satisfy the rule low-score YIELD condition.</a:t>
            </a:r>
          </a:p>
          <a:p xmlns:a="http://schemas.openxmlformats.org/drawingml/2006/main">
            <a:r>
              <a:t/>
            </a:r>
          </a:p>
          <a:p xmlns:a="http://schemas.openxmlformats.org/drawingml/2006/main">
            <a:r>
              <a:t>Sources:</a:t>
            </a:r>
          </a:p>
          <a:p xmlns:a="http://schemas.openxmlformats.org/drawingml/2006/main">
            <a:r>
              <a:t>/Users/eddiekim/Documents/Projects/P4P/app/state/decision_models.py</a:t>
            </a:r>
          </a:p>
          <a:p xmlns:a="http://schemas.openxmlformats.org/drawingml/2006/main">
            <a:r>
              <a:t>/Users/eddiekim/Documents/Projects/P4P/var/evaluation/llm-refinement-stage-7-8/common/snapshots/S4/first.decision-state.json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954d78cf124a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cdcad034064e36" /><Relationship Type="http://schemas.openxmlformats.org/officeDocument/2006/relationships/slideLayout" Target="/ppt/slideLayouts/slideLayout1.xml" Id="Rd42925d147b84a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2925d147b84a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ea80a708a1471e" /><Relationship Type="http://schemas.openxmlformats.org/officeDocument/2006/relationships/image" Target="/ppt/media/image.jpeg" Id="R9162fe760b7d4199" /><Relationship Type="http://schemas.openxmlformats.org/officeDocument/2006/relationships/image" Target="/ppt/media/image.png" Id="Rf3b9975778bf4d93" /><Relationship Type="http://schemas.openxmlformats.org/officeDocument/2006/relationships/notesSlide" Target="/ppt/notesSlides/notesSlide1.xml" Id="R2a80b5d6b33f42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27e769d99b42f9" /><Relationship Type="http://schemas.openxmlformats.org/officeDocument/2006/relationships/notesSlide" Target="/ppt/notesSlides/notesSlide2.xml" Id="R3b3446af7c334a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ee42a3e95f425c" /><Relationship Type="http://schemas.openxmlformats.org/officeDocument/2006/relationships/notesSlide" Target="/ppt/notesSlides/notesSlide3.xml" Id="R0f0bddc4a66b48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5217a7d7c44e33" /><Relationship Type="http://schemas.openxmlformats.org/officeDocument/2006/relationships/notesSlide" Target="/ppt/notesSlides/notesSlide4.xml" Id="Rb7a2210ddb5f4f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ba3f92eed04429" /><Relationship Type="http://schemas.openxmlformats.org/officeDocument/2006/relationships/notesSlide" Target="/ppt/notesSlides/notesSlide5.xml" Id="R0963b8c508f140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e5cf9b8eae474a" /><Relationship Type="http://schemas.openxmlformats.org/officeDocument/2006/relationships/chart" Target="/ppt/slides/charts/chart1.xml" Id="Rd68a4a4fe960425b" /><Relationship Type="http://schemas.openxmlformats.org/officeDocument/2006/relationships/notesSlide" Target="/ppt/notesSlides/notesSlide6.xml" Id="R02fc4bd75ed341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7e6ec013e340c7" /><Relationship Type="http://schemas.openxmlformats.org/officeDocument/2006/relationships/notesSlide" Target="/ppt/notesSlides/notesSlide7.xml" Id="R23dd8776a4d64b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4bfbe151e24de5" /><Relationship Type="http://schemas.openxmlformats.org/officeDocument/2006/relationships/notesSlide" Target="/ppt/notesSlides/notesSlide8.xml" Id="Rf0a13355f49e40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cd48e456aa4ffa" /><Relationship Type="http://schemas.openxmlformats.org/officeDocument/2006/relationships/notesSlide" Target="/ppt/notesSlides/notesSlide9.xml" Id="Re2faba5e739c4d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ac8ca536554126" /><Relationship Type="http://schemas.openxmlformats.org/officeDocument/2006/relationships/notesSlide" Target="/ppt/notesSlides/notesSlide10.xml" Id="R669d42572fae4c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dbc8fe1d814d9c" /><Relationship Type="http://schemas.openxmlformats.org/officeDocument/2006/relationships/notesSlide" Target="/ppt/notesSlides/notesSlide11.xml" Id="R24e94b84da5842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74e3dc8adb4946" /><Relationship Type="http://schemas.openxmlformats.org/officeDocument/2006/relationships/notesSlide" Target="/ppt/notesSlides/notesSlide12.xml" Id="Rb9418ad74eb245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ce7252598d4e5c" /><Relationship Type="http://schemas.openxmlformats.org/officeDocument/2006/relationships/notesSlide" Target="/ppt/notesSlides/notesSlide13.xml" Id="Ra6cf417f13104c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7fd4df25294563" /><Relationship Type="http://schemas.openxmlformats.org/officeDocument/2006/relationships/notesSlide" Target="/ppt/notesSlides/notesSlide14.xml" Id="Rf1168ad1714743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98b52b8a714a4b" /><Relationship Type="http://schemas.openxmlformats.org/officeDocument/2006/relationships/notesSlide" Target="/ppt/notesSlides/notesSlide15.xml" Id="R8b7aa24b2fe943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bb42ae947f477c" /><Relationship Type="http://schemas.openxmlformats.org/officeDocument/2006/relationships/chart" Target="/ppt/slides/charts/chart2.xml" Id="Rbdc0490b1c1d4caa" /><Relationship Type="http://schemas.openxmlformats.org/officeDocument/2006/relationships/notesSlide" Target="/ppt/notesSlides/notesSlide16.xml" Id="Raa6d07f9947f40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56917b485d4a6e" /><Relationship Type="http://schemas.openxmlformats.org/officeDocument/2006/relationships/notesSlide" Target="/ppt/notesSlides/notesSlide17.xml" Id="R644f6b5c927e49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f7b5a7632d4660" /><Relationship Type="http://schemas.openxmlformats.org/officeDocument/2006/relationships/chart" Target="/ppt/slides/charts/chart3.xml" Id="R567eabe507ea4835" /><Relationship Type="http://schemas.openxmlformats.org/officeDocument/2006/relationships/notesSlide" Target="/ppt/notesSlides/notesSlide18.xml" Id="R62a16e38f7b146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991f85bc89482a" /><Relationship Type="http://schemas.openxmlformats.org/officeDocument/2006/relationships/notesSlide" Target="/ppt/notesSlides/notesSlide19.xml" Id="R4e1318e1476e42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bb87ae91cee4ad7" /><Relationship Type="http://schemas.openxmlformats.org/officeDocument/2006/relationships/notesSlide" Target="/ppt/notesSlides/notesSlide20.xml" Id="Rfd79fd64125e4ca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ed85d85d6c94ef9" /><Relationship Type="http://schemas.openxmlformats.org/officeDocument/2006/relationships/notesSlide" Target="/ppt/notesSlides/notesSlide21.xml" Id="Rf0fade4cb4f94e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cb7a250cb2458c" /><Relationship Type="http://schemas.openxmlformats.org/officeDocument/2006/relationships/notesSlide" Target="/ppt/notesSlides/notesSlide22.xml" Id="Reba4065d3cbe496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53b05647f264a1a" /><Relationship Type="http://schemas.openxmlformats.org/officeDocument/2006/relationships/notesSlide" Target="/ppt/notesSlides/notesSlide23.xml" Id="R8bc92453d26e45e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58629baa1134459" /><Relationship Type="http://schemas.openxmlformats.org/officeDocument/2006/relationships/notesSlide" Target="/ppt/notesSlides/notesSlide24.xml" Id="R003f9d6806a448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3e0317f476a4327" /><Relationship Type="http://schemas.openxmlformats.org/officeDocument/2006/relationships/notesSlide" Target="/ppt/notesSlides/notesSlide25.xml" Id="R8c41dfaf8048457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0b75d3209c44745" /><Relationship Type="http://schemas.openxmlformats.org/officeDocument/2006/relationships/notesSlide" Target="/ppt/notesSlides/notesSlide26.xml" Id="R2eb58b9a872f43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e2c508dba724aff" /><Relationship Type="http://schemas.openxmlformats.org/officeDocument/2006/relationships/notesSlide" Target="/ppt/notesSlides/notesSlide27.xml" Id="R724328392c2b463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7c15c9c4d234a4b" /><Relationship Type="http://schemas.openxmlformats.org/officeDocument/2006/relationships/notesSlide" Target="/ppt/notesSlides/notesSlide28.xml" Id="Rb92d13789ed54be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eafb849dfe34815" /><Relationship Type="http://schemas.openxmlformats.org/officeDocument/2006/relationships/notesSlide" Target="/ppt/notesSlides/notesSlide29.xml" Id="Rcddd06f9747c4e7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0112aed9ed84692" /><Relationship Type="http://schemas.openxmlformats.org/officeDocument/2006/relationships/notesSlide" Target="/ppt/notesSlides/notesSlide30.xml" Id="R0ab4951c2229403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b5d9d7fd450461b" /><Relationship Type="http://schemas.openxmlformats.org/officeDocument/2006/relationships/notesSlide" Target="/ppt/notesSlides/notesSlide31.xml" Id="R9e9632d65fa644d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3f0e19e4b7e4f54" /><Relationship Type="http://schemas.openxmlformats.org/officeDocument/2006/relationships/notesSlide" Target="/ppt/notesSlides/notesSlide32.xml" Id="R83e5ca39fd6b42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0dd5f9dcc744f35" /><Relationship Type="http://schemas.openxmlformats.org/officeDocument/2006/relationships/notesSlide" Target="/ppt/notesSlides/notesSlide33.xml" Id="R0483877d19c64a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8c04389f2ab4bf1" /><Relationship Type="http://schemas.openxmlformats.org/officeDocument/2006/relationships/notesSlide" Target="/ppt/notesSlides/notesSlide34.xml" Id="R1bccedc33cb5436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fcfb28a698747a4" /><Relationship Type="http://schemas.openxmlformats.org/officeDocument/2006/relationships/chart" Target="/ppt/slides/charts/chart4.xml" Id="Rdd3d86a4ca02423f" /><Relationship Type="http://schemas.openxmlformats.org/officeDocument/2006/relationships/notesSlide" Target="/ppt/notesSlides/notesSlide35.xml" Id="R75f4fe20db4f4a5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b724afa7d5949c1" /><Relationship Type="http://schemas.openxmlformats.org/officeDocument/2006/relationships/notesSlide" Target="/ppt/notesSlides/notesSlide36.xml" Id="Ra240ecb17c7e4f5c" /></Relationships>
</file>

<file path=ppt/slides/charts/chart1.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22577A"/>
            </a:solidFill>
          </c:spPr>
          <c:cat>
            <c:strLit>
              <c:ptCount val="2"/>
              <c:pt idx="0">
                <c:v>Rules</c:v>
              </c:pt>
              <c:pt idx="1">
                <c:v>Selected LLM</c:v>
              </c:pt>
            </c:strLit>
          </c:cat>
          <c:val>
            <c:numLit>
              <c:formatCode>0</c:formatCode>
              <c:ptCount val="2"/>
              <c:pt idx="0">
                <c:v>9</c:v>
              </c:pt>
              <c:pt idx="1">
                <c:v>8</c:v>
              </c:pt>
            </c:numLit>
          </c:val>
        </c:ser>
        <c:dLbls>
          <c:txPr>
            <a:bodyPr xmlns:a="http://schemas.openxmlformats.org/drawingml/2006/main" anchorCtr="1"/>
            <a:lstStyle xmlns:a="http://schemas.openxmlformats.org/drawingml/2006/main"/>
            <a:p xmlns:a="http://schemas.openxmlformats.org/drawingml/2006/main">
              <a:pPr>
                <a:defRPr sz="1875" b="1">
                  <a:solidFill>
                    <a:srgbClr val="22577A"/>
                  </a:solidFill>
                  <a:latin typeface="Noto Sans"/>
                  <a:ea typeface="Noto Sans"/>
                  <a:cs typeface="Noto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catAx>
      <c:valAx>
        <c:axId val="48672768"/>
        <c:scaling>
          <c:orientation val="minMax"/>
          <c:max val="9"/>
          <c:min val="0"/>
        </c:scaling>
        <c:delete val="0"/>
        <c:axPos val="l"/>
        <c:majorGridlines>
          <c:spPr>
            <a:ln xmlns:a="http://schemas.openxmlformats.org/drawingml/2006/main" w="9525">
              <a:solidFill>
                <a:srgbClr val="DDECF2"/>
              </a:solidFill>
            </a:ln>
          </c:spPr>
        </c:majorGridlines>
        <c:numFmt formatCode="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crossBetween val="between"/>
        <c:majorUnit val="3"/>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Measured distance</c:v>
          </c:tx>
          <c:spPr>
            <a:solidFill xmlns:a="http://schemas.openxmlformats.org/drawingml/2006/main">
              <a:srgbClr val="437E9D"/>
            </a:solidFill>
            <a:ln xmlns:a="http://schemas.openxmlformats.org/drawingml/2006/main" w="0">
              <a:noFill/>
            </a:ln>
          </c:spPr>
          <c:marker>
            <c:symbol val="circle"/>
            <c:size val="6"/>
            <c:spPr>
              <a:noFill xmlns:a="http://schemas.openxmlformats.org/drawingml/2006/main"/>
            </c:spPr>
          </c:marker>
          <c:xVal>
            <c:numLit>
              <c:formatCode>General</c:formatCode>
              <c:ptCount val="12"/>
              <c:pt idx="0">
                <c:v>0</c:v>
              </c:pt>
              <c:pt idx="1">
                <c:v>0.087913</c:v>
              </c:pt>
              <c:pt idx="2">
                <c:v>0.174289</c:v>
              </c:pt>
              <c:pt idx="3">
                <c:v>0.305376</c:v>
              </c:pt>
              <c:pt idx="4">
                <c:v>0.391769</c:v>
              </c:pt>
              <c:pt idx="5">
                <c:v>0.480427</c:v>
              </c:pt>
              <c:pt idx="6">
                <c:v>0.567527</c:v>
              </c:pt>
              <c:pt idx="7">
                <c:v>0.700715</c:v>
              </c:pt>
              <c:pt idx="8">
                <c:v>0.786007</c:v>
              </c:pt>
              <c:pt idx="9">
                <c:v>0.872113</c:v>
              </c:pt>
              <c:pt idx="10">
                <c:v>0.999566</c:v>
              </c:pt>
              <c:pt idx="11">
                <c:v>1.08583</c:v>
              </c:pt>
            </c:numLit>
          </c:xVal>
          <c:yVal>
            <c:numLit>
              <c:formatCode>0.0</c:formatCode>
              <c:ptCount val="12"/>
              <c:pt idx="0">
                <c:v>3.523801513671875</c:v>
              </c:pt>
              <c:pt idx="1">
                <c:v>3.615806640625</c:v>
              </c:pt>
              <c:pt idx="2">
                <c:v>3.523801513671875</c:v>
              </c:pt>
              <c:pt idx="3">
                <c:v>3.417449462890625</c:v>
              </c:pt>
              <c:pt idx="4">
                <c:v>3.523801513671875</c:v>
              </c:pt>
              <c:pt idx="5">
                <c:v>3.23960888671875</c:v>
              </c:pt>
              <c:pt idx="6">
                <c:v>3.33460498046875</c:v>
              </c:pt>
              <c:pt idx="7">
                <c:v>3.23960888671875</c:v>
              </c:pt>
              <c:pt idx="8">
                <c:v>3.43318603515625</c:v>
              </c:pt>
              <c:pt idx="9">
                <c:v>3.2530048828125</c:v>
              </c:pt>
              <c:pt idx="10">
                <c:v>3.164632568359375</c:v>
              </c:pt>
              <c:pt idx="11">
                <c:v>3.33460498046875</c:v>
              </c:pt>
            </c:numLit>
          </c:yVal>
        </c:ser>
        <c:ser>
          <c:idx val="1"/>
          <c:order val="1"/>
          <c:tx>
            <c:v>Median-slope fit</c:v>
          </c:tx>
          <c:spPr>
            <a:ln xmlns:a="http://schemas.openxmlformats.org/drawingml/2006/main" w="28575">
              <a:solidFill>
                <a:srgbClr val="22577A"/>
              </a:solidFill>
            </a:ln>
          </c:spPr>
          <c:marker>
            <c:symbol val="none"/>
            <c:size val="3"/>
          </c:marker>
          <c:xVal>
            <c:numLit>
              <c:formatCode>General</c:formatCode>
              <c:ptCount val="2"/>
              <c:pt idx="0">
                <c:v>0</c:v>
              </c:pt>
              <c:pt idx="1">
                <c:v>1.08583</c:v>
              </c:pt>
            </c:numLit>
          </c:xVal>
          <c:yVal>
            <c:numLit>
              <c:formatCode>0.0</c:formatCode>
              <c:ptCount val="2"/>
              <c:pt idx="0">
                <c:v>3.5250032471403463</c:v>
              </c:pt>
              <c:pt idx="1">
                <c:v>3.184853676855102</c:v>
              </c:pt>
            </c:numLit>
          </c:y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3.8"/>
          <c:min val="3"/>
        </c:scaling>
        <c:delete val="0"/>
        <c:axPos val="l"/>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Distance (m)</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majorUnit val="0.2"/>
      </c:valAx>
      <c:valAx>
        <c:axId val="48650112"/>
        <c:scaling>
          <c:orientation val="minMax"/>
          <c:max val="1.2"/>
          <c:min val="0"/>
        </c:scaling>
        <c:delete val="0"/>
        <c:axPos val="b"/>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Time within segment (s)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majorUnit val="0.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S1 first</c:v>
          </c:tx>
          <c:spPr>
            <a:solidFill xmlns:a="http://schemas.openxmlformats.org/drawingml/2006/main">
              <a:srgbClr val="437E9D"/>
            </a:solidFill>
            <a:ln xmlns:a="http://schemas.openxmlformats.org/drawingml/2006/main" w="0">
              <a:noFill/>
            </a:ln>
          </c:spPr>
          <c:marker>
            <c:symbol val="circle"/>
            <c:size val="8"/>
            <c:spPr>
              <a:noFill xmlns:a="http://schemas.openxmlformats.org/drawingml/2006/main"/>
            </c:spPr>
          </c:marker>
          <c:xVal>
            <c:numLit>
              <c:formatCode>General</c:formatCode>
              <c:ptCount val="1"/>
              <c:pt idx="0">
                <c:v>3.155548828125</c:v>
              </c:pt>
            </c:numLit>
          </c:xVal>
          <c:yVal>
            <c:numLit>
              <c:formatCode>0.0</c:formatCode>
              <c:ptCount val="1"/>
              <c:pt idx="0">
                <c:v>0.6326134643554687</c:v>
              </c:pt>
            </c:numLit>
          </c:yVal>
        </c:ser>
        <c:ser>
          <c:idx val="1"/>
          <c:order val="1"/>
          <c:tx>
            <c:v>S4 first</c:v>
          </c:tx>
          <c:spPr>
            <a:solidFill xmlns:a="http://schemas.openxmlformats.org/drawingml/2006/main">
              <a:srgbClr val="22577A"/>
            </a:solidFill>
            <a:ln xmlns:a="http://schemas.openxmlformats.org/drawingml/2006/main" w="0">
              <a:noFill/>
            </a:ln>
          </c:spPr>
          <c:marker>
            <c:symbol val="diamond"/>
            <c:size val="8"/>
            <c:spPr>
              <a:noFill xmlns:a="http://schemas.openxmlformats.org/drawingml/2006/main"/>
            </c:spPr>
          </c:marker>
          <c:xVal>
            <c:numLit>
              <c:formatCode>General</c:formatCode>
              <c:ptCount val="1"/>
              <c:pt idx="0">
                <c:v>3.08677099609375</c:v>
              </c:pt>
            </c:numLit>
          </c:xVal>
          <c:yVal>
            <c:numLit>
              <c:formatCode>0.0</c:formatCode>
              <c:ptCount val="1"/>
              <c:pt idx="0">
                <c:v>0.27337481689453125</c:v>
              </c:pt>
            </c:numLit>
          </c:yVal>
        </c:ser>
        <c:ser>
          <c:idx val="2"/>
          <c:order val="2"/>
          <c:tx>
            <c:v>S7 first</c:v>
          </c:tx>
          <c:spPr>
            <a:solidFill xmlns:a="http://schemas.openxmlformats.org/drawingml/2006/main">
              <a:srgbClr val="78B9D1"/>
            </a:solidFill>
            <a:ln xmlns:a="http://schemas.openxmlformats.org/drawingml/2006/main" w="0">
              <a:noFill/>
            </a:ln>
          </c:spPr>
          <c:marker>
            <c:symbol val="square"/>
            <c:size val="8"/>
            <c:spPr>
              <a:noFill xmlns:a="http://schemas.openxmlformats.org/drawingml/2006/main"/>
            </c:spPr>
          </c:marker>
          <c:xVal>
            <c:numLit>
              <c:formatCode>General</c:formatCode>
              <c:ptCount val="1"/>
              <c:pt idx="0">
                <c:v>2.153916259765625</c:v>
              </c:pt>
            </c:numLit>
          </c:xVal>
          <c:yVal>
            <c:numLit>
              <c:formatCode>0.0</c:formatCode>
              <c:ptCount val="1"/>
              <c:pt idx="0">
                <c:v>0.8936734619140625</c:v>
              </c:pt>
            </c:numLit>
          </c:yVal>
        </c:ser>
        <c:ser>
          <c:idx val="3"/>
          <c:order val="3"/>
          <c:tx>
            <c:v>Corridor boundary</c:v>
          </c:tx>
          <c:spPr>
            <a:ln xmlns:a="http://schemas.openxmlformats.org/drawingml/2006/main" w="19050">
              <a:solidFill>
                <a:srgbClr val="AFC4CC"/>
              </a:solidFill>
            </a:ln>
          </c:spPr>
          <c:marker>
            <c:symbol val="none"/>
          </c:marker>
          <c:xVal>
            <c:numLit>
              <c:formatCode>General</c:formatCode>
              <c:ptCount val="2"/>
              <c:pt idx="0">
                <c:v>0</c:v>
              </c:pt>
              <c:pt idx="1">
                <c:v>6</c:v>
              </c:pt>
            </c:numLit>
          </c:xVal>
          <c:yVal>
            <c:numLit>
              <c:formatCode>0.0</c:formatCode>
              <c:ptCount val="2"/>
              <c:pt idx="0">
                <c:v>0.4</c:v>
              </c:pt>
              <c:pt idx="1">
                <c:v>0.4</c:v>
              </c:pt>
            </c:numLit>
          </c:yVal>
        </c:ser>
        <c:ser>
          <c:idx val="4"/>
          <c:order val="4"/>
          <c:tx>
            <c:v>Opposite boundary</c:v>
          </c:tx>
          <c:spPr>
            <a:ln xmlns:a="http://schemas.openxmlformats.org/drawingml/2006/main" w="19050">
              <a:solidFill>
                <a:srgbClr val="AFC4CC"/>
              </a:solidFill>
            </a:ln>
          </c:spPr>
          <c:marker>
            <c:symbol val="none"/>
          </c:marker>
          <c:xVal>
            <c:numLit>
              <c:formatCode>General</c:formatCode>
              <c:ptCount val="2"/>
              <c:pt idx="0">
                <c:v>0</c:v>
              </c:pt>
              <c:pt idx="1">
                <c:v>6</c:v>
              </c:pt>
            </c:numLit>
          </c:xVal>
          <c:yVal>
            <c:numLit>
              <c:formatCode>0.0</c:formatCode>
              <c:ptCount val="2"/>
              <c:pt idx="0">
                <c:v>-0.4</c:v>
              </c:pt>
              <c:pt idx="1">
                <c:v>-0.4</c:v>
              </c:pt>
            </c:numLit>
          </c:y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1.5"/>
        </c:scaling>
        <c:delete val="0"/>
        <c:axPos val="l"/>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Lateral (m)</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majorUnit val="0.5"/>
      </c:valAx>
      <c:valAx>
        <c:axId val="48650112"/>
        <c:scaling>
          <c:orientation val="minMax"/>
          <c:max val="6"/>
          <c:min val="0"/>
        </c:scaling>
        <c:delete val="0"/>
        <c:axPos val="b"/>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Forward (m)</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marker"/>
        <c:ser>
          <c:idx val="0"/>
          <c:order val="0"/>
          <c:tx>
            <c:v>Qwen 2.5 7B</c:v>
          </c:tx>
          <c:spPr>
            <a:solidFill xmlns:a="http://schemas.openxmlformats.org/drawingml/2006/main">
              <a:srgbClr val="22577A"/>
            </a:solidFill>
            <a:ln xmlns:a="http://schemas.openxmlformats.org/drawingml/2006/main" w="0">
              <a:noFill/>
            </a:ln>
          </c:spPr>
          <c:marker>
            <c:symbol val="diamond"/>
            <c:size val="11"/>
            <c:spPr>
              <a:noFill xmlns:a="http://schemas.openxmlformats.org/drawingml/2006/main"/>
            </c:spPr>
          </c:marker>
          <c:xVal>
            <c:numLit>
              <c:formatCode>General</c:formatCode>
              <c:ptCount val="1"/>
              <c:pt idx="0">
                <c:v>3.198938208357364</c:v>
              </c:pt>
            </c:numLit>
          </c:xVal>
          <c:yVal>
            <c:numLit>
              <c:formatCode>0</c:formatCode>
              <c:ptCount val="1"/>
              <c:pt idx="0">
                <c:v>8</c:v>
              </c:pt>
            </c:numLit>
          </c:yVal>
        </c:ser>
        <c:ser>
          <c:idx val="1"/>
          <c:order val="1"/>
          <c:tx>
            <c:v>Qwen 3 4B Instruct</c:v>
          </c:tx>
          <c:spPr>
            <a:solidFill xmlns:a="http://schemas.openxmlformats.org/drawingml/2006/main">
              <a:srgbClr val="437E9D"/>
            </a:solidFill>
            <a:ln xmlns:a="http://schemas.openxmlformats.org/drawingml/2006/main" w="0">
              <a:noFill/>
            </a:ln>
          </c:spPr>
          <c:marker>
            <c:symbol val="square"/>
            <c:size val="11"/>
            <c:spPr>
              <a:noFill xmlns:a="http://schemas.openxmlformats.org/drawingml/2006/main"/>
            </c:spPr>
          </c:marker>
          <c:xVal>
            <c:numLit>
              <c:formatCode>General</c:formatCode>
              <c:ptCount val="1"/>
              <c:pt idx="0">
                <c:v>2.492149040759474</c:v>
              </c:pt>
            </c:numLit>
          </c:xVal>
          <c:yVal>
            <c:numLit>
              <c:formatCode>0</c:formatCode>
              <c:ptCount val="1"/>
              <c:pt idx="0">
                <c:v>7</c:v>
              </c:pt>
            </c:numLit>
          </c:yVal>
        </c:ser>
        <c:ser>
          <c:idx val="2"/>
          <c:order val="2"/>
          <c:tx>
            <c:v>Gemma 3 4B</c:v>
          </c:tx>
          <c:spPr>
            <a:solidFill xmlns:a="http://schemas.openxmlformats.org/drawingml/2006/main">
              <a:srgbClr val="78B9D1"/>
            </a:solidFill>
            <a:ln xmlns:a="http://schemas.openxmlformats.org/drawingml/2006/main" w="0">
              <a:noFill/>
            </a:ln>
          </c:spPr>
          <c:marker>
            <c:symbol val="triangle"/>
            <c:size val="11"/>
            <c:spPr>
              <a:noFill xmlns:a="http://schemas.openxmlformats.org/drawingml/2006/main"/>
            </c:spPr>
          </c:marker>
          <c:xVal>
            <c:numLit>
              <c:formatCode>General</c:formatCode>
              <c:ptCount val="1"/>
              <c:pt idx="0">
                <c:v>2.955871250276983</c:v>
              </c:pt>
            </c:numLit>
          </c:xVal>
          <c:yVal>
            <c:numLit>
              <c:formatCode>0</c:formatCode>
              <c:ptCount val="1"/>
              <c:pt idx="0">
                <c:v>5</c:v>
              </c:pt>
            </c:numLit>
          </c:yVal>
        </c:ser>
        <c:ser>
          <c:idx val="3"/>
          <c:order val="3"/>
          <c:tx>
            <c:v>Qwen 2.5 3B</c:v>
          </c:tx>
          <c:spPr>
            <a:solidFill xmlns:a="http://schemas.openxmlformats.org/drawingml/2006/main">
              <a:srgbClr val="AFC4CC"/>
            </a:solidFill>
            <a:ln xmlns:a="http://schemas.openxmlformats.org/drawingml/2006/main" w="0">
              <a:noFill/>
            </a:ln>
          </c:spPr>
          <c:marker>
            <c:symbol val="circle"/>
            <c:size val="11"/>
            <c:spPr>
              <a:noFill xmlns:a="http://schemas.openxmlformats.org/drawingml/2006/main"/>
            </c:spPr>
          </c:marker>
          <c:xVal>
            <c:numLit>
              <c:formatCode>General</c:formatCode>
              <c:ptCount val="1"/>
              <c:pt idx="0">
                <c:v>1.806311459044069</c:v>
              </c:pt>
            </c:numLit>
          </c:xVal>
          <c:yVal>
            <c:numLit>
              <c:formatCode>0</c:formatCode>
              <c:ptCount val="1"/>
              <c:pt idx="0">
                <c:v>4</c:v>
              </c:pt>
            </c:numLit>
          </c:y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9"/>
          <c:min val="0"/>
        </c:scaling>
        <c:delete val="0"/>
        <c:axPos val="l"/>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Aligned scenarios out of 9</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50112"/>
        <c:majorUnit val="3"/>
      </c:valAx>
      <c:valAx>
        <c:axId val="48650112"/>
        <c:scaling>
          <c:orientation val="minMax"/>
          <c:max val="4"/>
          <c:min val="0"/>
        </c:scaling>
        <c:delete val="0"/>
        <c:axPos val="b"/>
        <c:majorGridlines>
          <c:spPr>
            <a:ln xmlns:a="http://schemas.openxmlformats.org/drawingml/2006/main" w="9525">
              <a:solidFill>
                <a:srgbClr val="DDECF2"/>
              </a:solidFill>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Median complete output delay (s)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AFC4CC"/>
            </a:solidFill>
          </a:ln>
        </c:spPr>
        <c:txPr>
          <a:bodyPr xmlns:a="http://schemas.openxmlformats.org/drawingml/2006/main" anchorCtr="1"/>
          <a:lstStyle xmlns:a="http://schemas.openxmlformats.org/drawingml/2006/main"/>
          <a:p xmlns:a="http://schemas.openxmlformats.org/drawingml/2006/main">
            <a:pPr>
              <a:defRPr sz="1500">
                <a:solidFill>
                  <a:srgbClr val="26333C"/>
                </a:solidFill>
                <a:latin typeface="Noto Sans"/>
                <a:ea typeface="Noto Sans"/>
                <a:cs typeface="Not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C803B0-19A7-4467-BD51-D966562C338A}"/>
              </a:ext>
            </a:extLst>
          </p:cNvPr>
          <p:cNvSpPr>
            <a:spLocks xmlns:a="http://schemas.openxmlformats.org/drawingml/2006/main" noGrp="1"/>
          </p:cNvSpPr>
          <p:nvPr/>
        </p:nvSpPr>
        <p:spPr>
          <a:xfrm xmlns:a="http://schemas.openxmlformats.org/drawingml/2006/main">
            <a:off x="571500" y="4000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2577A"/>
                </a:solidFill>
                <a:latin typeface="Rubik"/>
                <a:ea typeface="Rubik"/>
                <a:cs typeface="Rubik"/>
              </a:defRPr>
            </a:pPr>
            <a:r>
              <a:rPr sz="2175" b="0">
                <a:solidFill>
                  <a:srgbClr val="22577A"/>
                </a:solidFill>
                <a:latin typeface="Rubik"/>
                <a:ea typeface="Rubik"/>
                <a:cs typeface="Rubik"/>
              </a:rPr>
              <a:t>Project 59</a:t>
            </a:r>
          </a:p>
        </p:txBody>
      </p:sp>
      <p:sp>
        <p:nvSpPr>
          <p:cNvPr id="2" name="">
            <a:extLst xmlns:a="http://schemas.openxmlformats.org/drawingml/2006/main">
              <a:ext uri="{FF2B5EF4-FFF2-40B4-BE49-F238E27FC236}">
                <a16:creationId xmlns:a16="http://schemas.microsoft.com/office/drawing/2014/main" id="{C379A3D0-66EC-49E8-9AD1-26741852F4E1}"/>
              </a:ext>
            </a:extLst>
          </p:cNvPr>
          <p:cNvSpPr>
            <a:spLocks xmlns:a="http://schemas.openxmlformats.org/drawingml/2006/main" noGrp="1"/>
          </p:cNvSpPr>
          <p:nvPr/>
        </p:nvSpPr>
        <p:spPr>
          <a:xfrm xmlns:a="http://schemas.openxmlformats.org/drawingml/2006/main">
            <a:off x="571500" y="981075"/>
            <a:ext cx="7000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26333C"/>
                </a:solidFill>
                <a:latin typeface="Rubik"/>
                <a:ea typeface="Rubik"/>
                <a:cs typeface="Rubik"/>
              </a:defRPr>
            </a:pPr>
            <a:r>
              <a:rPr sz="4950" b="1">
                <a:solidFill>
                  <a:srgbClr val="26333C"/>
                </a:solidFill>
                <a:latin typeface="Rubik"/>
                <a:ea typeface="Rubik"/>
                <a:cs typeface="Rubik"/>
              </a:rPr>
              <a:t>Interactive Social</a:t>
            </a:r>
          </a:p>
          <a:p xmlns:a="http://schemas.openxmlformats.org/drawingml/2006/main">
            <a:pPr algn="l">
              <a:defRPr sz="4950" b="1">
                <a:solidFill>
                  <a:srgbClr val="26333C"/>
                </a:solidFill>
                <a:latin typeface="Rubik"/>
                <a:ea typeface="Rubik"/>
                <a:cs typeface="Rubik"/>
              </a:defRPr>
            </a:pPr>
            <a:r>
              <a:rPr sz="4950" b="1">
                <a:solidFill>
                  <a:srgbClr val="26333C"/>
                </a:solidFill>
                <a:latin typeface="Rubik"/>
                <a:ea typeface="Rubik"/>
                <a:cs typeface="Rubik"/>
              </a:rPr>
              <a:t>Guide Robot</a:t>
            </a:r>
          </a:p>
        </p:txBody>
      </p:sp>
      <p:sp>
        <p:nvSpPr>
          <p:cNvPr id="3" name="">
            <a:extLst xmlns:a="http://schemas.openxmlformats.org/drawingml/2006/main">
              <a:ext uri="{FF2B5EF4-FFF2-40B4-BE49-F238E27FC236}">
                <a16:creationId xmlns:a16="http://schemas.microsoft.com/office/drawing/2014/main" id="{1FAD946B-FAFF-4F0A-899D-63ABA0FF14B1}"/>
              </a:ext>
            </a:extLst>
          </p:cNvPr>
          <p:cNvSpPr>
            <a:spLocks xmlns:a="http://schemas.openxmlformats.org/drawingml/2006/main" noGrp="1"/>
          </p:cNvSpPr>
          <p:nvPr/>
        </p:nvSpPr>
        <p:spPr>
          <a:xfrm xmlns:a="http://schemas.openxmlformats.org/drawingml/2006/main">
            <a:off x="590550" y="2838450"/>
            <a:ext cx="657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2577A"/>
                </a:solidFill>
                <a:latin typeface="Rubik"/>
                <a:ea typeface="Rubik"/>
                <a:cs typeface="Rubik"/>
              </a:defRPr>
            </a:pPr>
            <a:r>
              <a:rPr sz="2325" b="0">
                <a:solidFill>
                  <a:srgbClr val="22577A"/>
                </a:solidFill>
                <a:latin typeface="Rubik"/>
                <a:ea typeface="Rubik"/>
                <a:cs typeface="Rubik"/>
              </a:rPr>
              <a:t>Decision-making with shared social evidence</a:t>
            </a:r>
          </a:p>
        </p:txBody>
      </p:sp>
      <p:sp>
        <p:nvSpPr>
          <p:cNvPr id="4" name="">
            <a:extLst xmlns:a="http://schemas.openxmlformats.org/drawingml/2006/main">
              <a:ext uri="{FF2B5EF4-FFF2-40B4-BE49-F238E27FC236}">
                <a16:creationId xmlns:a16="http://schemas.microsoft.com/office/drawing/2014/main" id="{498DC6F2-6AE4-4614-A073-4C3CF20BF3A8}"/>
              </a:ext>
            </a:extLst>
          </p:cNvPr>
          <p:cNvSpPr>
            <a:spLocks xmlns:a="http://schemas.openxmlformats.org/drawingml/2006/main" noGrp="1"/>
          </p:cNvSpPr>
          <p:nvPr/>
        </p:nvSpPr>
        <p:spPr>
          <a:xfrm xmlns:a="http://schemas.openxmlformats.org/drawingml/2006/main">
            <a:off x="590550" y="3733800"/>
            <a:ext cx="657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33C"/>
                </a:solidFill>
                <a:latin typeface="Noto Sans"/>
                <a:ea typeface="Noto Sans"/>
                <a:cs typeface="Noto Sans"/>
              </a:defRPr>
            </a:pPr>
            <a:r>
              <a:rPr sz="2175" b="0">
                <a:solidFill>
                  <a:srgbClr val="26333C"/>
                </a:solidFill>
                <a:latin typeface="Noto Sans"/>
                <a:ea typeface="Noto Sans"/>
                <a:cs typeface="Noto Sans"/>
              </a:rPr>
              <a:t>A robot on a laboratory route must decide</a:t>
            </a:r>
          </a:p>
          <a:p xmlns:a="http://schemas.openxmlformats.org/drawingml/2006/main">
            <a:pPr algn="l">
              <a:defRPr sz="2175" b="0">
                <a:solidFill>
                  <a:srgbClr val="26333C"/>
                </a:solidFill>
                <a:latin typeface="Noto Sans"/>
                <a:ea typeface="Noto Sans"/>
                <a:cs typeface="Noto Sans"/>
              </a:defRPr>
            </a:pPr>
            <a:r>
              <a:rPr sz="2175" b="0">
                <a:solidFill>
                  <a:srgbClr val="26333C"/>
                </a:solidFill>
                <a:latin typeface="Noto Sans"/>
                <a:ea typeface="Noto Sans"/>
                <a:cs typeface="Noto Sans"/>
              </a:rPr>
              <a:t>when to interact and when to make space.</a:t>
            </a:r>
          </a:p>
        </p:txBody>
      </p:sp>
      <p:sp>
        <p:nvSpPr>
          <p:cNvPr id="5" name="CONTINUE">
            <a:extLst xmlns:a="http://schemas.openxmlformats.org/drawingml/2006/main">
              <a:ext uri="{FF2B5EF4-FFF2-40B4-BE49-F238E27FC236}">
                <a16:creationId xmlns:a16="http://schemas.microsoft.com/office/drawing/2014/main" id="{CB87A0B7-CE65-406C-9DE4-3F391D04412C}"/>
              </a:ext>
            </a:extLst>
          </p:cNvPr>
          <p:cNvSpPr>
            <a:spLocks xmlns:a="http://schemas.openxmlformats.org/drawingml/2006/main" noGrp="1"/>
          </p:cNvSpPr>
          <p:nvPr/>
        </p:nvSpPr>
        <p:spPr>
          <a:xfrm xmlns:a="http://schemas.openxmlformats.org/drawingml/2006/main">
            <a:off x="590550" y="4857750"/>
            <a:ext cx="1552575" cy="561975"/>
          </a:xfrm>
          <a:prstGeom xmlns:a="http://schemas.openxmlformats.org/drawingml/2006/main" prst="roundRect">
            <a:avLst>
              <a:gd name="adj" fmla="val 16949"/>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CONTINUE</a:t>
            </a:r>
          </a:p>
        </p:txBody>
      </p:sp>
      <p:sp>
        <p:nvSpPr>
          <p:cNvPr id="6" name="APPROACH">
            <a:extLst xmlns:a="http://schemas.openxmlformats.org/drawingml/2006/main">
              <a:ext uri="{FF2B5EF4-FFF2-40B4-BE49-F238E27FC236}">
                <a16:creationId xmlns:a16="http://schemas.microsoft.com/office/drawing/2014/main" id="{C164F8A1-F9AD-49CD-A041-903E2C504341}"/>
              </a:ext>
            </a:extLst>
          </p:cNvPr>
          <p:cNvSpPr>
            <a:spLocks xmlns:a="http://schemas.openxmlformats.org/drawingml/2006/main" noGrp="1"/>
          </p:cNvSpPr>
          <p:nvPr/>
        </p:nvSpPr>
        <p:spPr>
          <a:xfrm xmlns:a="http://schemas.openxmlformats.org/drawingml/2006/main">
            <a:off x="2266950" y="4857750"/>
            <a:ext cx="1552575" cy="561975"/>
          </a:xfrm>
          <a:prstGeom xmlns:a="http://schemas.openxmlformats.org/drawingml/2006/main" prst="roundRect">
            <a:avLst>
              <a:gd name="adj" fmla="val 1694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APPROACH</a:t>
            </a:r>
          </a:p>
        </p:txBody>
      </p:sp>
      <p:sp>
        <p:nvSpPr>
          <p:cNvPr id="7" name="ENGAGE">
            <a:extLst xmlns:a="http://schemas.openxmlformats.org/drawingml/2006/main">
              <a:ext uri="{FF2B5EF4-FFF2-40B4-BE49-F238E27FC236}">
                <a16:creationId xmlns:a16="http://schemas.microsoft.com/office/drawing/2014/main" id="{61ADF582-B5C4-4729-9D37-3A2D0EF05EB3}"/>
              </a:ext>
            </a:extLst>
          </p:cNvPr>
          <p:cNvSpPr>
            <a:spLocks xmlns:a="http://schemas.openxmlformats.org/drawingml/2006/main" noGrp="1"/>
          </p:cNvSpPr>
          <p:nvPr/>
        </p:nvSpPr>
        <p:spPr>
          <a:xfrm xmlns:a="http://schemas.openxmlformats.org/drawingml/2006/main">
            <a:off x="3943350" y="4857750"/>
            <a:ext cx="1552575" cy="561975"/>
          </a:xfrm>
          <a:prstGeom xmlns:a="http://schemas.openxmlformats.org/drawingml/2006/main" prst="roundRect">
            <a:avLst>
              <a:gd name="adj" fmla="val 16949"/>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ENGAGE</a:t>
            </a:r>
          </a:p>
        </p:txBody>
      </p:sp>
      <p:sp>
        <p:nvSpPr>
          <p:cNvPr id="8" name="YIELD">
            <a:extLst xmlns:a="http://schemas.openxmlformats.org/drawingml/2006/main">
              <a:ext uri="{FF2B5EF4-FFF2-40B4-BE49-F238E27FC236}">
                <a16:creationId xmlns:a16="http://schemas.microsoft.com/office/drawing/2014/main" id="{6749AF39-AF3C-407E-8B09-0E4EFE7ADB2B}"/>
              </a:ext>
            </a:extLst>
          </p:cNvPr>
          <p:cNvSpPr>
            <a:spLocks xmlns:a="http://schemas.openxmlformats.org/drawingml/2006/main" noGrp="1"/>
          </p:cNvSpPr>
          <p:nvPr/>
        </p:nvSpPr>
        <p:spPr>
          <a:xfrm xmlns:a="http://schemas.openxmlformats.org/drawingml/2006/main">
            <a:off x="5619750" y="4857750"/>
            <a:ext cx="1552575" cy="561975"/>
          </a:xfrm>
          <a:prstGeom xmlns:a="http://schemas.openxmlformats.org/drawingml/2006/main" prst="roundRect">
            <a:avLst>
              <a:gd name="adj" fmla="val 1694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575" b="1">
                <a:solidFill>
                  <a:srgbClr val="22577A"/>
                </a:solidFill>
                <a:latin typeface="Noto Sans"/>
                <a:ea typeface="Noto Sans"/>
                <a:cs typeface="Noto Sans"/>
              </a:defRPr>
            </a:pPr>
            <a:r>
              <a:rPr sz="1575" b="1">
                <a:solidFill>
                  <a:srgbClr val="22577A"/>
                </a:solidFill>
                <a:latin typeface="Noto Sans"/>
                <a:ea typeface="Noto Sans"/>
                <a:cs typeface="Noto Sans"/>
              </a:rPr>
              <a:t>YIELD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162fe760b7d4199"/>
          <a:stretch xmlns:a="http://schemas.openxmlformats.org/drawingml/2006/main"/>
        </p:blipFill>
        <p:spPr>
          <a:xfrm xmlns:a="http://schemas.openxmlformats.org/drawingml/2006/main">
            <a:off x="7849865" y="819150"/>
            <a:ext cx="3302645" cy="4953000"/>
          </a:xfrm>
          <a:prstGeom xmlns:a="http://schemas.openxmlformats.org/drawingml/2006/main" prst="rect">
            <a:avLst/>
          </a:prstGeom>
        </p:spPr>
      </p:pic>
      <p:sp>
        <p:nvSpPr>
          <p:cNvPr id="10" name="Placeholder: LAB PHOTO">
            <a:extLst xmlns:a="http://schemas.openxmlformats.org/drawingml/2006/main">
              <a:ext uri="{FF2B5EF4-FFF2-40B4-BE49-F238E27FC236}">
                <a16:creationId xmlns:a16="http://schemas.microsoft.com/office/drawing/2014/main" id="{C0EF0357-A734-41E7-870B-B75EED300033}"/>
              </a:ext>
            </a:extLst>
          </p:cNvPr>
          <p:cNvSpPr>
            <a:spLocks xmlns:a="http://schemas.openxmlformats.org/drawingml/2006/main" noGrp="1"/>
          </p:cNvSpPr>
          <p:nvPr/>
        </p:nvSpPr>
        <p:spPr>
          <a:xfrm xmlns:a="http://schemas.openxmlformats.org/drawingml/2006/main">
            <a:off x="590550" y="5610225"/>
            <a:ext cx="6524625" cy="581025"/>
          </a:xfrm>
          <a:prstGeom xmlns:a="http://schemas.openxmlformats.org/drawingml/2006/main" prst="roundRect">
            <a:avLst>
              <a:gd name="adj" fmla="val 19672"/>
            </a:avLst>
          </a:prstGeom>
          <a:solidFill xmlns:a="http://schemas.openxmlformats.org/drawingml/2006/main">
            <a:srgbClr val="F3F0E7"/>
          </a:solidFill>
          <a:ln xmlns:a="http://schemas.openxmlformats.org/drawingml/2006/main" w="14288">
            <a:solidFill>
              <a:srgbClr val="AFC4CC"/>
            </a:solidFill>
            <a:prstDash val="dash"/>
          </a:ln>
        </p:spPr>
      </p:sp>
      <p:sp>
        <p:nvSpPr>
          <p:cNvPr id="11" name="">
            <a:extLst xmlns:a="http://schemas.openxmlformats.org/drawingml/2006/main">
              <a:ext uri="{FF2B5EF4-FFF2-40B4-BE49-F238E27FC236}">
                <a16:creationId xmlns:a16="http://schemas.microsoft.com/office/drawing/2014/main" id="{FB6BE215-8019-4014-A2DA-D899F9775D19}"/>
              </a:ext>
            </a:extLst>
          </p:cNvPr>
          <p:cNvSpPr>
            <a:spLocks xmlns:a="http://schemas.openxmlformats.org/drawingml/2006/main" noGrp="1"/>
          </p:cNvSpPr>
          <p:nvPr/>
        </p:nvSpPr>
        <p:spPr>
          <a:xfrm xmlns:a="http://schemas.openxmlformats.org/drawingml/2006/main">
            <a:off x="762000" y="5753100"/>
            <a:ext cx="61817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22577A"/>
                </a:solidFill>
                <a:latin typeface="Rubik"/>
                <a:ea typeface="Rubik"/>
                <a:cs typeface="Rubik"/>
              </a:defRPr>
            </a:pPr>
            <a:r>
              <a:rPr sz="1575" b="1">
                <a:solidFill>
                  <a:srgbClr val="22577A"/>
                </a:solidFill>
                <a:latin typeface="Rubik"/>
                <a:ea typeface="Rubik"/>
                <a:cs typeface="Rubik"/>
              </a:rPr>
              <a:t>PHOTO PLACEHOLDER: LAB PHOTO</a:t>
            </a:r>
          </a:p>
        </p:txBody>
      </p:sp>
      <p:sp>
        <p:nvSpPr>
          <p:cNvPr id="12" name="">
            <a:extLst xmlns:a="http://schemas.openxmlformats.org/drawingml/2006/main">
              <a:ext uri="{FF2B5EF4-FFF2-40B4-BE49-F238E27FC236}">
                <a16:creationId xmlns:a16="http://schemas.microsoft.com/office/drawing/2014/main" id="{E3585657-2984-43AC-BB7F-EB54017AA3CA}"/>
              </a:ext>
            </a:extLst>
          </p:cNvPr>
          <p:cNvSpPr>
            <a:spLocks xmlns:a="http://schemas.openxmlformats.org/drawingml/2006/main" noGrp="1"/>
          </p:cNvSpPr>
          <p:nvPr/>
        </p:nvSpPr>
        <p:spPr>
          <a:xfrm xmlns:a="http://schemas.openxmlformats.org/drawingml/2006/main">
            <a:off x="571500" y="6372225"/>
            <a:ext cx="628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2577A"/>
                </a:solidFill>
                <a:latin typeface="Noto Sans"/>
                <a:ea typeface="Noto Sans"/>
                <a:cs typeface="Noto Sans"/>
              </a:defRPr>
            </a:pPr>
            <a:r>
              <a:rPr sz="1350" b="0">
                <a:solidFill>
                  <a:srgbClr val="22577A"/>
                </a:solidFill>
                <a:latin typeface="Noto Sans"/>
                <a:ea typeface="Noto Sans"/>
                <a:cs typeface="Noto Sans"/>
              </a:rPr>
              <a:t>Eddie Kim and Jeruh Kim</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3b9975778bf4d93"/>
          <a:stretch xmlns:a="http://schemas.openxmlformats.org/drawingml/2006/main"/>
        </p:blipFill>
        <p:spPr>
          <a:xfrm xmlns:a="http://schemas.openxmlformats.org/drawingml/2006/main">
            <a:off x="9994822" y="6153150"/>
            <a:ext cx="1108230" cy="561975"/>
          </a:xfrm>
          <a:prstGeom xmlns:a="http://schemas.openxmlformats.org/drawingml/2006/main" prst="rect">
            <a:avLst/>
          </a:prstGeom>
        </p:spPr>
      </p:pic>
    </p:spTree>
    <p:extLst>
      <p:ext uri="{BB962C8B-B14F-4D97-AF65-F5344CB8AC3E}">
        <p14:creationId xmlns:p14="http://schemas.microsoft.com/office/powerpoint/2010/main" val="14976326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DE2EE3D-2C48-40A4-BF8E-B25191E15735}"/>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36590B-469A-44CE-8E9F-278F75E327A9}"/>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E99BB5-8B11-4743-A5B2-0194BEF68AD3}"/>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Research Questions and Evaluation</a:t>
            </a:r>
          </a:p>
        </p:txBody>
      </p:sp>
      <p:sp>
        <p:nvSpPr>
          <p:cNvPr id="4" name="">
            <a:extLst xmlns:a="http://schemas.openxmlformats.org/drawingml/2006/main">
              <a:ext uri="{FF2B5EF4-FFF2-40B4-BE49-F238E27FC236}">
                <a16:creationId xmlns:a16="http://schemas.microsoft.com/office/drawing/2014/main" id="{4A43A8C3-BB11-44F6-AE9C-2B20A5C70A9E}"/>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4F33A892-9651-4246-BF57-0F95377C14DC}"/>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a:t>
            </a:r>
          </a:p>
        </p:txBody>
      </p:sp>
      <p:sp>
        <p:nvSpPr>
          <p:cNvPr id="6" name="">
            <a:extLst xmlns:a="http://schemas.openxmlformats.org/drawingml/2006/main">
              <a:ext uri="{FF2B5EF4-FFF2-40B4-BE49-F238E27FC236}">
                <a16:creationId xmlns:a16="http://schemas.microsoft.com/office/drawing/2014/main" id="{DA884472-618D-497E-81F7-8A93D74EE5BB}"/>
              </a:ext>
            </a:extLst>
          </p:cNvPr>
          <p:cNvSpPr>
            <a:spLocks xmlns:a="http://schemas.openxmlformats.org/drawingml/2006/main" noGrp="1"/>
          </p:cNvSpPr>
          <p:nvPr/>
        </p:nvSpPr>
        <p:spPr>
          <a:xfrm xmlns:a="http://schemas.openxmlformats.org/drawingml/2006/main">
            <a:off x="571500" y="1466850"/>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2577A"/>
                </a:solidFill>
                <a:latin typeface="Rubik"/>
                <a:ea typeface="Rubik"/>
                <a:cs typeface="Rubik"/>
              </a:defRPr>
            </a:pPr>
            <a:r>
              <a:rPr sz="2850" b="1">
                <a:solidFill>
                  <a:srgbClr val="22577A"/>
                </a:solidFill>
                <a:latin typeface="Rubik"/>
                <a:ea typeface="Rubik"/>
                <a:cs typeface="Rubik"/>
              </a:rPr>
              <a:t>RQ1</a:t>
            </a:r>
          </a:p>
        </p:txBody>
      </p:sp>
      <p:sp>
        <p:nvSpPr>
          <p:cNvPr id="7" name="">
            <a:extLst xmlns:a="http://schemas.openxmlformats.org/drawingml/2006/main">
              <a:ext uri="{FF2B5EF4-FFF2-40B4-BE49-F238E27FC236}">
                <a16:creationId xmlns:a16="http://schemas.microsoft.com/office/drawing/2014/main" id="{F33CAF76-487A-4DF5-B9BD-6FEB251741FA}"/>
              </a:ext>
            </a:extLst>
          </p:cNvPr>
          <p:cNvSpPr>
            <a:spLocks xmlns:a="http://schemas.openxmlformats.org/drawingml/2006/main" noGrp="1"/>
          </p:cNvSpPr>
          <p:nvPr/>
        </p:nvSpPr>
        <p:spPr>
          <a:xfrm xmlns:a="http://schemas.openxmlformats.org/drawingml/2006/main">
            <a:off x="1762125" y="14668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How can gaze and distance over time become</a:t>
            </a:r>
          </a:p>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shared evidence for both decision policies?</a:t>
            </a:r>
          </a:p>
        </p:txBody>
      </p:sp>
      <p:sp>
        <p:nvSpPr>
          <p:cNvPr id="8" name="">
            <a:extLst xmlns:a="http://schemas.openxmlformats.org/drawingml/2006/main">
              <a:ext uri="{FF2B5EF4-FFF2-40B4-BE49-F238E27FC236}">
                <a16:creationId xmlns:a16="http://schemas.microsoft.com/office/drawing/2014/main" id="{DFEBBB6C-4B10-4276-99F3-3B892C8F8B41}"/>
              </a:ext>
            </a:extLst>
          </p:cNvPr>
          <p:cNvSpPr>
            <a:spLocks xmlns:a="http://schemas.openxmlformats.org/drawingml/2006/main" noGrp="1"/>
          </p:cNvSpPr>
          <p:nvPr/>
        </p:nvSpPr>
        <p:spPr>
          <a:xfrm xmlns:a="http://schemas.openxmlformats.org/drawingml/2006/main">
            <a:off x="571500" y="2647950"/>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2577A"/>
                </a:solidFill>
                <a:latin typeface="Rubik"/>
                <a:ea typeface="Rubik"/>
                <a:cs typeface="Rubik"/>
              </a:defRPr>
            </a:pPr>
            <a:r>
              <a:rPr sz="2850" b="1">
                <a:solidFill>
                  <a:srgbClr val="22577A"/>
                </a:solidFill>
                <a:latin typeface="Rubik"/>
                <a:ea typeface="Rubik"/>
                <a:cs typeface="Rubik"/>
              </a:rPr>
              <a:t>RQ2</a:t>
            </a:r>
          </a:p>
        </p:txBody>
      </p:sp>
      <p:sp>
        <p:nvSpPr>
          <p:cNvPr id="9" name="">
            <a:extLst xmlns:a="http://schemas.openxmlformats.org/drawingml/2006/main">
              <a:ext uri="{FF2B5EF4-FFF2-40B4-BE49-F238E27FC236}">
                <a16:creationId xmlns:a16="http://schemas.microsoft.com/office/drawing/2014/main" id="{2DF61F2F-45FF-4049-B1F1-13EB2E6A94A9}"/>
              </a:ext>
            </a:extLst>
          </p:cNvPr>
          <p:cNvSpPr>
            <a:spLocks xmlns:a="http://schemas.openxmlformats.org/drawingml/2006/main" noGrp="1"/>
          </p:cNvSpPr>
          <p:nvPr/>
        </p:nvSpPr>
        <p:spPr>
          <a:xfrm xmlns:a="http://schemas.openxmlformats.org/drawingml/2006/main">
            <a:off x="1762125" y="26479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How do their decisions compare with human</a:t>
            </a:r>
          </a:p>
          <a:p xmlns:a="http://schemas.openxmlformats.org/drawingml/2006/main">
            <a:pPr algn="l">
              <a:defRPr sz="2250" b="0">
                <a:solidFill>
                  <a:srgbClr val="26333C"/>
                </a:solidFill>
                <a:latin typeface="Noto Sans"/>
                <a:ea typeface="Noto Sans"/>
                <a:cs typeface="Noto Sans"/>
              </a:defRPr>
            </a:pPr>
            <a:r>
              <a:rPr sz="2250" b="0">
                <a:solidFill>
                  <a:srgbClr val="26333C"/>
                </a:solidFill>
                <a:latin typeface="Noto Sans"/>
                <a:ea typeface="Noto Sans"/>
                <a:cs typeface="Noto Sans"/>
              </a:rPr>
              <a:t>preferences and appropriateness ratings?</a:t>
            </a:r>
          </a:p>
        </p:txBody>
      </p:sp>
      <p:sp>
        <p:nvSpPr>
          <p:cNvPr id="10" name="Human video judgments">
            <a:extLst xmlns:a="http://schemas.openxmlformats.org/drawingml/2006/main">
              <a:ext uri="{FF2B5EF4-FFF2-40B4-BE49-F238E27FC236}">
                <a16:creationId xmlns:a16="http://schemas.microsoft.com/office/drawing/2014/main" id="{85D1C179-C285-400B-9534-76547B5A405A}"/>
              </a:ext>
            </a:extLst>
          </p:cNvPr>
          <p:cNvSpPr>
            <a:spLocks xmlns:a="http://schemas.openxmlformats.org/drawingml/2006/main" noGrp="1"/>
          </p:cNvSpPr>
          <p:nvPr/>
        </p:nvSpPr>
        <p:spPr>
          <a:xfrm xmlns:a="http://schemas.openxmlformats.org/drawingml/2006/main">
            <a:off x="571500" y="3981450"/>
            <a:ext cx="3286125" cy="885825"/>
          </a:xfrm>
          <a:prstGeom xmlns:a="http://schemas.openxmlformats.org/drawingml/2006/main" prst="roundRect">
            <a:avLst>
              <a:gd name="adj" fmla="val 10753"/>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Human video judgments</a:t>
            </a:r>
          </a:p>
        </p:txBody>
      </p:sp>
      <p:sp>
        <p:nvSpPr>
          <p:cNvPr id="11" name="Laboratory sensor recordings">
            <a:extLst xmlns:a="http://schemas.openxmlformats.org/drawingml/2006/main">
              <a:ext uri="{FF2B5EF4-FFF2-40B4-BE49-F238E27FC236}">
                <a16:creationId xmlns:a16="http://schemas.microsoft.com/office/drawing/2014/main" id="{40B18B9C-4120-4E72-AF81-36ECF8F52FE2}"/>
              </a:ext>
            </a:extLst>
          </p:cNvPr>
          <p:cNvSpPr>
            <a:spLocks xmlns:a="http://schemas.openxmlformats.org/drawingml/2006/main" noGrp="1"/>
          </p:cNvSpPr>
          <p:nvPr/>
        </p:nvSpPr>
        <p:spPr>
          <a:xfrm xmlns:a="http://schemas.openxmlformats.org/drawingml/2006/main">
            <a:off x="4343400" y="3981450"/>
            <a:ext cx="3286125" cy="885825"/>
          </a:xfrm>
          <a:prstGeom xmlns:a="http://schemas.openxmlformats.org/drawingml/2006/main" prst="roundRect">
            <a:avLst>
              <a:gd name="adj" fmla="val 10753"/>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Laboratory sensor recordings</a:t>
            </a:r>
          </a:p>
        </p:txBody>
      </p:sp>
      <p:sp>
        <p:nvSpPr>
          <p:cNvPr id="12" name="Paired policy evaluation">
            <a:extLst xmlns:a="http://schemas.openxmlformats.org/drawingml/2006/main">
              <a:ext uri="{FF2B5EF4-FFF2-40B4-BE49-F238E27FC236}">
                <a16:creationId xmlns:a16="http://schemas.microsoft.com/office/drawing/2014/main" id="{F9AA0B1E-1A53-4CBD-BA0D-BA44635D5F85}"/>
              </a:ext>
            </a:extLst>
          </p:cNvPr>
          <p:cNvSpPr>
            <a:spLocks xmlns:a="http://schemas.openxmlformats.org/drawingml/2006/main" noGrp="1"/>
          </p:cNvSpPr>
          <p:nvPr/>
        </p:nvSpPr>
        <p:spPr>
          <a:xfrm xmlns:a="http://schemas.openxmlformats.org/drawingml/2006/main">
            <a:off x="8143875" y="3981450"/>
            <a:ext cx="3429000" cy="885825"/>
          </a:xfrm>
          <a:prstGeom xmlns:a="http://schemas.openxmlformats.org/drawingml/2006/main" prst="roundRect">
            <a:avLst>
              <a:gd name="adj" fmla="val 10753"/>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Paired policy evaluation</a:t>
            </a:r>
          </a:p>
        </p:txBody>
      </p:sp>
      <p:cxnSp>
        <p:nvCxnSpPr>
          <p:cNvPr id="31" name=""/>
          <p:cNvCxnSpPr>
            <a:stCxn xmlns:a="http://schemas.openxmlformats.org/drawingml/2006/main" id="10" idx="3"/>
            <a:endCxn xmlns:a="http://schemas.openxmlformats.org/drawingml/2006/main" id="11" idx="1"/>
          </p:cNvCxnSpPr>
          <p:nvPr/>
        </p:nvCxnSpPr>
        <p:spPr>
          <a:xfrm xmlns:a="http://schemas.openxmlformats.org/drawingml/2006/main">
            <a:off x="3857625" y="4424363"/>
            <a:ext cx="48577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2" name=""/>
          <p:cNvCxnSpPr>
            <a:stCxn xmlns:a="http://schemas.openxmlformats.org/drawingml/2006/main" id="11" idx="3"/>
            <a:endCxn xmlns:a="http://schemas.openxmlformats.org/drawingml/2006/main" id="12" idx="1"/>
          </p:cNvCxnSpPr>
          <p:nvPr/>
        </p:nvCxnSpPr>
        <p:spPr>
          <a:xfrm xmlns:a="http://schemas.openxmlformats.org/drawingml/2006/main">
            <a:off x="7629525" y="4424363"/>
            <a:ext cx="51435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5" name="">
            <a:extLst xmlns:a="http://schemas.openxmlformats.org/drawingml/2006/main">
              <a:ext uri="{FF2B5EF4-FFF2-40B4-BE49-F238E27FC236}">
                <a16:creationId xmlns:a16="http://schemas.microsoft.com/office/drawing/2014/main" id="{B39D64EB-757D-4196-A4E3-91B65AB6863C}"/>
              </a:ext>
            </a:extLst>
          </p:cNvPr>
          <p:cNvSpPr>
            <a:spLocks xmlns:a="http://schemas.openxmlformats.org/drawingml/2006/main" noGrp="1"/>
          </p:cNvSpPr>
          <p:nvPr/>
        </p:nvSpPr>
        <p:spPr>
          <a:xfrm xmlns:a="http://schemas.openxmlformats.org/drawingml/2006/main">
            <a:off x="619125" y="5067300"/>
            <a:ext cx="319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Preferred action and</a:t>
            </a:r>
          </a:p>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appropriateness ratings</a:t>
            </a:r>
          </a:p>
        </p:txBody>
      </p:sp>
      <p:sp>
        <p:nvSpPr>
          <p:cNvPr id="16" name="">
            <a:extLst xmlns:a="http://schemas.openxmlformats.org/drawingml/2006/main">
              <a:ext uri="{FF2B5EF4-FFF2-40B4-BE49-F238E27FC236}">
                <a16:creationId xmlns:a16="http://schemas.microsoft.com/office/drawing/2014/main" id="{B09B5F98-254F-46FB-A7CF-31F91A1349B0}"/>
              </a:ext>
            </a:extLst>
          </p:cNvPr>
          <p:cNvSpPr>
            <a:spLocks xmlns:a="http://schemas.openxmlformats.org/drawingml/2006/main" noGrp="1"/>
          </p:cNvSpPr>
          <p:nvPr/>
        </p:nvSpPr>
        <p:spPr>
          <a:xfrm xmlns:a="http://schemas.openxmlformats.org/drawingml/2006/main">
            <a:off x="4381500" y="5067300"/>
            <a:ext cx="3219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Nine controlled scenarios</a:t>
            </a:r>
          </a:p>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using real Navel observations</a:t>
            </a:r>
          </a:p>
        </p:txBody>
      </p:sp>
      <p:sp>
        <p:nvSpPr>
          <p:cNvPr id="17" name="">
            <a:extLst xmlns:a="http://schemas.openxmlformats.org/drawingml/2006/main">
              <a:ext uri="{FF2B5EF4-FFF2-40B4-BE49-F238E27FC236}">
                <a16:creationId xmlns:a16="http://schemas.microsoft.com/office/drawing/2014/main" id="{5A759128-40C5-43C1-BF72-0EA7C9081681}"/>
              </a:ext>
            </a:extLst>
          </p:cNvPr>
          <p:cNvSpPr>
            <a:spLocks xmlns:a="http://schemas.openxmlformats.org/drawingml/2006/main" noGrp="1"/>
          </p:cNvSpPr>
          <p:nvPr/>
        </p:nvSpPr>
        <p:spPr>
          <a:xfrm xmlns:a="http://schemas.openxmlformats.org/drawingml/2006/main">
            <a:off x="8210550" y="5067300"/>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First eligible action</a:t>
            </a:r>
          </a:p>
          <a:p xmlns:a="http://schemas.openxmlformats.org/drawingml/2006/main">
            <a:pPr algn="l">
              <a:defRPr sz="1650" b="0">
                <a:solidFill>
                  <a:srgbClr val="26333C"/>
                </a:solidFill>
                <a:latin typeface="Noto Sans"/>
                <a:ea typeface="Noto Sans"/>
                <a:cs typeface="Noto Sans"/>
              </a:defRPr>
            </a:pPr>
            <a:r>
              <a:rPr sz="1650" b="0">
                <a:solidFill>
                  <a:srgbClr val="26333C"/>
                </a:solidFill>
                <a:latin typeface="Noto Sans"/>
                <a:ea typeface="Noto Sans"/>
                <a:cs typeface="Noto Sans"/>
              </a:rPr>
              <a:t>and time to complete output</a:t>
            </a:r>
          </a:p>
        </p:txBody>
      </p:sp>
      <p:sp>
        <p:nvSpPr>
          <p:cNvPr id="18" name="">
            <a:extLst xmlns:a="http://schemas.openxmlformats.org/drawingml/2006/main">
              <a:ext uri="{FF2B5EF4-FFF2-40B4-BE49-F238E27FC236}">
                <a16:creationId xmlns:a16="http://schemas.microsoft.com/office/drawing/2014/main" id="{BB8F321B-D763-41C1-8514-FC4ECDF6ED0A}"/>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Current scores describe expected first actions in tuning recordings. Survey-endpoint alignment remains separate.</a:t>
            </a:r>
          </a:p>
        </p:txBody>
      </p:sp>
    </p:spTree>
    <p:extLst>
      <p:ext uri="{BB962C8B-B14F-4D97-AF65-F5344CB8AC3E}">
        <p14:creationId xmlns:p14="http://schemas.microsoft.com/office/powerpoint/2010/main" val="10888067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482778D-8EBB-4A67-8AC5-E392B5F5FC57}"/>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697C28-1D44-449E-B664-1E3C60DFF99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B55D23-8D3B-4D08-B47B-80964752DBBA}"/>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Shared Temporal Social-State Pipeline</a:t>
            </a:r>
          </a:p>
        </p:txBody>
      </p:sp>
      <p:sp>
        <p:nvSpPr>
          <p:cNvPr id="4" name="">
            <a:extLst xmlns:a="http://schemas.openxmlformats.org/drawingml/2006/main">
              <a:ext uri="{FF2B5EF4-FFF2-40B4-BE49-F238E27FC236}">
                <a16:creationId xmlns:a16="http://schemas.microsoft.com/office/drawing/2014/main" id="{05426BFC-3558-4E2A-86DC-E09C3174BD29}"/>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94822834-E51D-4210-87B4-8AF354BCDE92}"/>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a:t>
            </a:r>
          </a:p>
        </p:txBody>
      </p:sp>
      <p:sp>
        <p:nvSpPr>
          <p:cNvPr id="6" name="Navel sensors&#10;Gaze, distance, motion">
            <a:extLst xmlns:a="http://schemas.openxmlformats.org/drawingml/2006/main">
              <a:ext uri="{FF2B5EF4-FFF2-40B4-BE49-F238E27FC236}">
                <a16:creationId xmlns:a16="http://schemas.microsoft.com/office/drawing/2014/main" id="{F3BA893D-85B5-48BD-832F-E945084CE523}"/>
              </a:ext>
            </a:extLst>
          </p:cNvPr>
          <p:cNvSpPr>
            <a:spLocks xmlns:a="http://schemas.openxmlformats.org/drawingml/2006/main" noGrp="1"/>
          </p:cNvSpPr>
          <p:nvPr/>
        </p:nvSpPr>
        <p:spPr>
          <a:xfrm xmlns:a="http://schemas.openxmlformats.org/drawingml/2006/main">
            <a:off x="571500" y="1619250"/>
            <a:ext cx="2381250" cy="1000125"/>
          </a:xfrm>
          <a:prstGeom xmlns:a="http://schemas.openxmlformats.org/drawingml/2006/main" prst="roundRect">
            <a:avLst>
              <a:gd name="adj" fmla="val 952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Navel sensors</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Gaze, distance, motion</a:t>
            </a:r>
          </a:p>
        </p:txBody>
      </p:sp>
      <p:sp>
        <p:nvSpPr>
          <p:cNvPr id="7" name="HTTP receiver&#10;Validate and record">
            <a:extLst xmlns:a="http://schemas.openxmlformats.org/drawingml/2006/main">
              <a:ext uri="{FF2B5EF4-FFF2-40B4-BE49-F238E27FC236}">
                <a16:creationId xmlns:a16="http://schemas.microsoft.com/office/drawing/2014/main" id="{CF6EF791-2F33-44B8-A4F9-46A195B169DD}"/>
              </a:ext>
            </a:extLst>
          </p:cNvPr>
          <p:cNvSpPr>
            <a:spLocks xmlns:a="http://schemas.openxmlformats.org/drawingml/2006/main" noGrp="1"/>
          </p:cNvSpPr>
          <p:nvPr/>
        </p:nvSpPr>
        <p:spPr>
          <a:xfrm xmlns:a="http://schemas.openxmlformats.org/drawingml/2006/main">
            <a:off x="3429000" y="1619250"/>
            <a:ext cx="2381250" cy="1000125"/>
          </a:xfrm>
          <a:prstGeom xmlns:a="http://schemas.openxmlformats.org/drawingml/2006/main" prst="roundRect">
            <a:avLst>
              <a:gd name="adj" fmla="val 9524"/>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HTTP receiver</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Validate and record</a:t>
            </a:r>
          </a:p>
        </p:txBody>
      </p:sp>
      <p:sp>
        <p:nvSpPr>
          <p:cNvPr id="8" name="Track history&#10;Time and evidence quality">
            <a:extLst xmlns:a="http://schemas.openxmlformats.org/drawingml/2006/main">
              <a:ext uri="{FF2B5EF4-FFF2-40B4-BE49-F238E27FC236}">
                <a16:creationId xmlns:a16="http://schemas.microsoft.com/office/drawing/2014/main" id="{12966DAF-2DE5-424C-82EF-C338AA5237A2}"/>
              </a:ext>
            </a:extLst>
          </p:cNvPr>
          <p:cNvSpPr>
            <a:spLocks xmlns:a="http://schemas.openxmlformats.org/drawingml/2006/main" noGrp="1"/>
          </p:cNvSpPr>
          <p:nvPr/>
        </p:nvSpPr>
        <p:spPr>
          <a:xfrm xmlns:a="http://schemas.openxmlformats.org/drawingml/2006/main">
            <a:off x="6286500" y="1619250"/>
            <a:ext cx="2667000" cy="1000125"/>
          </a:xfrm>
          <a:prstGeom xmlns:a="http://schemas.openxmlformats.org/drawingml/2006/main" prst="roundRect">
            <a:avLst>
              <a:gd name="adj" fmla="val 952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Track history</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Time and evidence quality</a:t>
            </a:r>
          </a:p>
        </p:txBody>
      </p:sp>
      <p:sp>
        <p:nvSpPr>
          <p:cNvPr id="9" name="Full SocialState&#10;Diagnostic record">
            <a:extLst xmlns:a="http://schemas.openxmlformats.org/drawingml/2006/main">
              <a:ext uri="{FF2B5EF4-FFF2-40B4-BE49-F238E27FC236}">
                <a16:creationId xmlns:a16="http://schemas.microsoft.com/office/drawing/2014/main" id="{BDD4F593-E677-49BB-9DF1-A08CB1DE84A2}"/>
              </a:ext>
            </a:extLst>
          </p:cNvPr>
          <p:cNvSpPr>
            <a:spLocks xmlns:a="http://schemas.openxmlformats.org/drawingml/2006/main" noGrp="1"/>
          </p:cNvSpPr>
          <p:nvPr/>
        </p:nvSpPr>
        <p:spPr>
          <a:xfrm xmlns:a="http://schemas.openxmlformats.org/drawingml/2006/main">
            <a:off x="9429750" y="1619250"/>
            <a:ext cx="2143125" cy="1000125"/>
          </a:xfrm>
          <a:prstGeom xmlns:a="http://schemas.openxmlformats.org/drawingml/2006/main" prst="roundRect">
            <a:avLst>
              <a:gd name="adj" fmla="val 9524"/>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Full SocialState</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Diagnostic record</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952750" y="2119313"/>
            <a:ext cx="47625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5810250" y="2119313"/>
            <a:ext cx="47625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8953500" y="2119313"/>
            <a:ext cx="47625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3" name="DecisionState&#10;Shared compact input">
            <a:extLst xmlns:a="http://schemas.openxmlformats.org/drawingml/2006/main">
              <a:ext uri="{FF2B5EF4-FFF2-40B4-BE49-F238E27FC236}">
                <a16:creationId xmlns:a16="http://schemas.microsoft.com/office/drawing/2014/main" id="{775C0AA2-99E7-4A26-9E4D-D87DD11D1B52}"/>
              </a:ext>
            </a:extLst>
          </p:cNvPr>
          <p:cNvSpPr>
            <a:spLocks xmlns:a="http://schemas.openxmlformats.org/drawingml/2006/main" noGrp="1"/>
          </p:cNvSpPr>
          <p:nvPr/>
        </p:nvSpPr>
        <p:spPr>
          <a:xfrm xmlns:a="http://schemas.openxmlformats.org/drawingml/2006/main">
            <a:off x="8858250" y="3457575"/>
            <a:ext cx="2714625" cy="1009650"/>
          </a:xfrm>
          <a:prstGeom xmlns:a="http://schemas.openxmlformats.org/drawingml/2006/main" prst="roundRect">
            <a:avLst>
              <a:gd name="adj" fmla="val 943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DecisionState</a:t>
            </a:r>
          </a:p>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Shared compact input</a:t>
            </a:r>
          </a:p>
        </p:txBody>
      </p:sp>
      <p:cxnSp>
        <p:nvCxnSpPr>
          <p:cNvPr id="42" name=""/>
          <p:cNvCxnSpPr>
            <a:stCxn xmlns:a="http://schemas.openxmlformats.org/drawingml/2006/main" id="9" idx="2"/>
            <a:endCxn xmlns:a="http://schemas.openxmlformats.org/drawingml/2006/main" id="13" idx="0"/>
          </p:cNvCxnSpPr>
          <p:nvPr/>
        </p:nvCxnSpPr>
        <p:spPr>
          <a:xfrm xmlns:a="http://schemas.openxmlformats.org/drawingml/2006/main" flipH="1">
            <a:off x="10215563" y="2619375"/>
            <a:ext cx="285750" cy="838200"/>
          </a:xfrm>
          <a:prstGeom xmlns:a="http://schemas.openxmlformats.org/drawingml/2006/main" prst="bentConnector4">
            <a:avLst>
              <a:gd name="adj1" fmla="val 0"/>
              <a:gd name="adj2" fmla="val 50000"/>
            </a:avLst>
          </a:prstGeom>
          <a:ln xmlns:a="http://schemas.openxmlformats.org/drawingml/2006/main" w="19050">
            <a:solidFill>
              <a:srgbClr val="22577A"/>
            </a:solidFill>
            <a:tailEnd type="arrow" w="med" len="med"/>
          </a:ln>
        </p:spPr>
      </p:cxnSp>
      <p:sp>
        <p:nvSpPr>
          <p:cNvPr id="15" name="Rule policy">
            <a:extLst xmlns:a="http://schemas.openxmlformats.org/drawingml/2006/main">
              <a:ext uri="{FF2B5EF4-FFF2-40B4-BE49-F238E27FC236}">
                <a16:creationId xmlns:a16="http://schemas.microsoft.com/office/drawing/2014/main" id="{508C8C24-38CC-4BEC-AF4B-A8F872E1A403}"/>
              </a:ext>
            </a:extLst>
          </p:cNvPr>
          <p:cNvSpPr>
            <a:spLocks xmlns:a="http://schemas.openxmlformats.org/drawingml/2006/main" noGrp="1"/>
          </p:cNvSpPr>
          <p:nvPr/>
        </p:nvSpPr>
        <p:spPr>
          <a:xfrm xmlns:a="http://schemas.openxmlformats.org/drawingml/2006/main">
            <a:off x="5905500" y="3143250"/>
            <a:ext cx="2333625" cy="723900"/>
          </a:xfrm>
          <a:prstGeom xmlns:a="http://schemas.openxmlformats.org/drawingml/2006/main" prst="roundRect">
            <a:avLst>
              <a:gd name="adj" fmla="val 1315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22577A"/>
                </a:solidFill>
                <a:latin typeface="Noto Sans"/>
                <a:ea typeface="Noto Sans"/>
                <a:cs typeface="Noto Sans"/>
              </a:defRPr>
            </a:pPr>
            <a:r>
              <a:rPr sz="2025" b="1">
                <a:solidFill>
                  <a:srgbClr val="22577A"/>
                </a:solidFill>
                <a:latin typeface="Noto Sans"/>
                <a:ea typeface="Noto Sans"/>
                <a:cs typeface="Noto Sans"/>
              </a:rPr>
              <a:t>Rule policy</a:t>
            </a:r>
          </a:p>
        </p:txBody>
      </p:sp>
      <p:sp>
        <p:nvSpPr>
          <p:cNvPr id="16" name="LLM policy">
            <a:extLst xmlns:a="http://schemas.openxmlformats.org/drawingml/2006/main">
              <a:ext uri="{FF2B5EF4-FFF2-40B4-BE49-F238E27FC236}">
                <a16:creationId xmlns:a16="http://schemas.microsoft.com/office/drawing/2014/main" id="{0BF82917-E9BF-46C2-978E-7E16EFA16422}"/>
              </a:ext>
            </a:extLst>
          </p:cNvPr>
          <p:cNvSpPr>
            <a:spLocks xmlns:a="http://schemas.openxmlformats.org/drawingml/2006/main" noGrp="1"/>
          </p:cNvSpPr>
          <p:nvPr/>
        </p:nvSpPr>
        <p:spPr>
          <a:xfrm xmlns:a="http://schemas.openxmlformats.org/drawingml/2006/main">
            <a:off x="5905500" y="4343400"/>
            <a:ext cx="2333625" cy="723900"/>
          </a:xfrm>
          <a:prstGeom xmlns:a="http://schemas.openxmlformats.org/drawingml/2006/main" prst="roundRect">
            <a:avLst>
              <a:gd name="adj" fmla="val 1315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22577A"/>
                </a:solidFill>
                <a:latin typeface="Noto Sans"/>
                <a:ea typeface="Noto Sans"/>
                <a:cs typeface="Noto Sans"/>
              </a:defRPr>
            </a:pPr>
            <a:r>
              <a:rPr sz="2025" b="1">
                <a:solidFill>
                  <a:srgbClr val="22577A"/>
                </a:solidFill>
                <a:latin typeface="Noto Sans"/>
                <a:ea typeface="Noto Sans"/>
                <a:cs typeface="Noto Sans"/>
              </a:rPr>
              <a:t>LLM policy</a:t>
            </a:r>
          </a:p>
        </p:txBody>
      </p:sp>
      <p:cxnSp>
        <p:nvCxnSpPr>
          <p:cNvPr id="45" name=""/>
          <p:cNvCxnSpPr>
            <a:stCxn xmlns:a="http://schemas.openxmlformats.org/drawingml/2006/main" id="13" idx="1"/>
            <a:endCxn xmlns:a="http://schemas.openxmlformats.org/drawingml/2006/main" id="15" idx="3"/>
          </p:cNvCxnSpPr>
          <p:nvPr/>
        </p:nvCxnSpPr>
        <p:spPr>
          <a:xfrm xmlns:a="http://schemas.openxmlformats.org/drawingml/2006/main" flipH="1" flipV="1">
            <a:off x="8239125" y="3505200"/>
            <a:ext cx="619125" cy="457200"/>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cxnSp>
        <p:nvCxnSpPr>
          <p:cNvPr id="46" name=""/>
          <p:cNvCxnSpPr>
            <a:stCxn xmlns:a="http://schemas.openxmlformats.org/drawingml/2006/main" id="13" idx="1"/>
            <a:endCxn xmlns:a="http://schemas.openxmlformats.org/drawingml/2006/main" id="16" idx="3"/>
          </p:cNvCxnSpPr>
          <p:nvPr/>
        </p:nvCxnSpPr>
        <p:spPr>
          <a:xfrm xmlns:a="http://schemas.openxmlformats.org/drawingml/2006/main" flipH="1">
            <a:off x="8239125" y="3962400"/>
            <a:ext cx="619125" cy="742950"/>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sp>
        <p:nvSpPr>
          <p:cNvPr id="19" name="Selected action&#10;Output and freshness checks">
            <a:extLst xmlns:a="http://schemas.openxmlformats.org/drawingml/2006/main">
              <a:ext uri="{FF2B5EF4-FFF2-40B4-BE49-F238E27FC236}">
                <a16:creationId xmlns:a16="http://schemas.microsoft.com/office/drawing/2014/main" id="{FE003A58-23B7-4163-9E51-5631CEA24328}"/>
              </a:ext>
            </a:extLst>
          </p:cNvPr>
          <p:cNvSpPr>
            <a:spLocks xmlns:a="http://schemas.openxmlformats.org/drawingml/2006/main" noGrp="1"/>
          </p:cNvSpPr>
          <p:nvPr/>
        </p:nvSpPr>
        <p:spPr>
          <a:xfrm xmlns:a="http://schemas.openxmlformats.org/drawingml/2006/main">
            <a:off x="2857500" y="3619500"/>
            <a:ext cx="2428875" cy="1009650"/>
          </a:xfrm>
          <a:prstGeom xmlns:a="http://schemas.openxmlformats.org/drawingml/2006/main" prst="roundRect">
            <a:avLst>
              <a:gd name="adj" fmla="val 9434"/>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Selected action</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Output and freshness checks</a:t>
            </a:r>
          </a:p>
        </p:txBody>
      </p:sp>
      <p:cxnSp>
        <p:nvCxnSpPr>
          <p:cNvPr id="48" name=""/>
          <p:cNvCxnSpPr>
            <a:stCxn xmlns:a="http://schemas.openxmlformats.org/drawingml/2006/main" id="15" idx="1"/>
            <a:endCxn xmlns:a="http://schemas.openxmlformats.org/drawingml/2006/main" id="19" idx="3"/>
          </p:cNvCxnSpPr>
          <p:nvPr/>
        </p:nvCxnSpPr>
        <p:spPr>
          <a:xfrm xmlns:a="http://schemas.openxmlformats.org/drawingml/2006/main" flipH="1">
            <a:off x="5286375" y="3505200"/>
            <a:ext cx="619125" cy="619125"/>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cxnSp>
        <p:nvCxnSpPr>
          <p:cNvPr id="49" name=""/>
          <p:cNvCxnSpPr>
            <a:stCxn xmlns:a="http://schemas.openxmlformats.org/drawingml/2006/main" id="16" idx="1"/>
            <a:endCxn xmlns:a="http://schemas.openxmlformats.org/drawingml/2006/main" id="19" idx="3"/>
          </p:cNvCxnSpPr>
          <p:nvPr/>
        </p:nvCxnSpPr>
        <p:spPr>
          <a:xfrm xmlns:a="http://schemas.openxmlformats.org/drawingml/2006/main" flipH="1" flipV="1">
            <a:off x="5286375" y="4124325"/>
            <a:ext cx="619125" cy="581025"/>
          </a:xfrm>
          <a:prstGeom xmlns:a="http://schemas.openxmlformats.org/drawingml/2006/main" prst="bentConnector3">
            <a:avLst>
              <a:gd name="adj1" fmla="val 50000"/>
            </a:avLst>
          </a:prstGeom>
          <a:ln xmlns:a="http://schemas.openxmlformats.org/drawingml/2006/main" w="19050">
            <a:solidFill>
              <a:srgbClr val="22577A"/>
            </a:solidFill>
            <a:tailEnd type="arrow" w="med" len="med"/>
          </a:ln>
        </p:spPr>
      </p:cxnSp>
      <p:sp>
        <p:nvSpPr>
          <p:cNvPr id="22" name="Robot action&#10;Opt-in handler">
            <a:extLst xmlns:a="http://schemas.openxmlformats.org/drawingml/2006/main">
              <a:ext uri="{FF2B5EF4-FFF2-40B4-BE49-F238E27FC236}">
                <a16:creationId xmlns:a16="http://schemas.microsoft.com/office/drawing/2014/main" id="{A49E7840-95F9-48F8-975C-C0CB88C8EE7C}"/>
              </a:ext>
            </a:extLst>
          </p:cNvPr>
          <p:cNvSpPr>
            <a:spLocks xmlns:a="http://schemas.openxmlformats.org/drawingml/2006/main" noGrp="1"/>
          </p:cNvSpPr>
          <p:nvPr/>
        </p:nvSpPr>
        <p:spPr>
          <a:xfrm xmlns:a="http://schemas.openxmlformats.org/drawingml/2006/main">
            <a:off x="571500" y="3619500"/>
            <a:ext cx="1762125" cy="1009650"/>
          </a:xfrm>
          <a:prstGeom xmlns:a="http://schemas.openxmlformats.org/drawingml/2006/main" prst="roundRect">
            <a:avLst>
              <a:gd name="adj" fmla="val 9434"/>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650" b="1">
                <a:solidFill>
                  <a:srgbClr val="22577A"/>
                </a:solidFill>
                <a:latin typeface="Noto Sans"/>
                <a:ea typeface="Noto Sans"/>
                <a:cs typeface="Noto Sans"/>
              </a:defRPr>
            </a:pPr>
            <a:r>
              <a:rPr sz="1650" b="1">
                <a:solidFill>
                  <a:srgbClr val="22577A"/>
                </a:solidFill>
                <a:latin typeface="Noto Sans"/>
                <a:ea typeface="Noto Sans"/>
                <a:cs typeface="Noto Sans"/>
              </a:rPr>
              <a:t>Robot action</a:t>
            </a:r>
          </a:p>
          <a:p xmlns:a="http://schemas.openxmlformats.org/drawingml/2006/main">
            <a:pPr algn="ctr">
              <a:defRPr sz="1650" b="1">
                <a:solidFill>
                  <a:srgbClr val="22577A"/>
                </a:solidFill>
                <a:latin typeface="Noto Sans"/>
                <a:ea typeface="Noto Sans"/>
                <a:cs typeface="Noto Sans"/>
              </a:defRPr>
            </a:pPr>
            <a:r>
              <a:rPr sz="1650" b="1">
                <a:solidFill>
                  <a:srgbClr val="22577A"/>
                </a:solidFill>
                <a:latin typeface="Noto Sans"/>
                <a:ea typeface="Noto Sans"/>
                <a:cs typeface="Noto Sans"/>
              </a:rPr>
              <a:t>Opt-in handler</a:t>
            </a:r>
          </a:p>
        </p:txBody>
      </p:sp>
      <p:cxnSp>
        <p:nvCxnSpPr>
          <p:cNvPr id="51" name=""/>
          <p:cNvCxnSpPr>
            <a:stCxn xmlns:a="http://schemas.openxmlformats.org/drawingml/2006/main" id="19" idx="1"/>
            <a:endCxn xmlns:a="http://schemas.openxmlformats.org/drawingml/2006/main" id="22" idx="3"/>
          </p:cNvCxnSpPr>
          <p:nvPr/>
        </p:nvCxnSpPr>
        <p:spPr>
          <a:xfrm xmlns:a="http://schemas.openxmlformats.org/drawingml/2006/main" flipH="1">
            <a:off x="2333625" y="41243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24" name="">
            <a:extLst xmlns:a="http://schemas.openxmlformats.org/drawingml/2006/main">
              <a:ext uri="{FF2B5EF4-FFF2-40B4-BE49-F238E27FC236}">
                <a16:creationId xmlns:a16="http://schemas.microsoft.com/office/drawing/2014/main" id="{4C9B8C15-C13F-4AE2-A8F2-82D0F39D1FBB}"/>
              </a:ext>
            </a:extLst>
          </p:cNvPr>
          <p:cNvSpPr>
            <a:spLocks xmlns:a="http://schemas.openxmlformats.org/drawingml/2006/main" noGrp="1"/>
          </p:cNvSpPr>
          <p:nvPr/>
        </p:nvSpPr>
        <p:spPr>
          <a:xfrm xmlns:a="http://schemas.openxmlformats.org/drawingml/2006/main">
            <a:off x="619125" y="5362575"/>
            <a:ext cx="2143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Current gaze</a:t>
            </a:r>
          </a:p>
        </p:txBody>
      </p:sp>
      <p:sp>
        <p:nvSpPr>
          <p:cNvPr id="25" name="">
            <a:extLst xmlns:a="http://schemas.openxmlformats.org/drawingml/2006/main">
              <a:ext uri="{FF2B5EF4-FFF2-40B4-BE49-F238E27FC236}">
                <a16:creationId xmlns:a16="http://schemas.microsoft.com/office/drawing/2014/main" id="{4626E3E6-0CB7-4AC5-B13F-C4B6304A4965}"/>
              </a:ext>
            </a:extLst>
          </p:cNvPr>
          <p:cNvSpPr>
            <a:spLocks xmlns:a="http://schemas.openxmlformats.org/drawingml/2006/main" noGrp="1"/>
          </p:cNvSpPr>
          <p:nvPr/>
        </p:nvSpPr>
        <p:spPr>
          <a:xfrm xmlns:a="http://schemas.openxmlformats.org/drawingml/2006/main">
            <a:off x="2857500" y="5362575"/>
            <a:ext cx="2143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Looking history</a:t>
            </a:r>
          </a:p>
        </p:txBody>
      </p:sp>
      <p:sp>
        <p:nvSpPr>
          <p:cNvPr id="26" name="">
            <a:extLst xmlns:a="http://schemas.openxmlformats.org/drawingml/2006/main">
              <a:ext uri="{FF2B5EF4-FFF2-40B4-BE49-F238E27FC236}">
                <a16:creationId xmlns:a16="http://schemas.microsoft.com/office/drawing/2014/main" id="{5B78D7ED-8736-4C40-840A-A902ED46F7EC}"/>
              </a:ext>
            </a:extLst>
          </p:cNvPr>
          <p:cNvSpPr>
            <a:spLocks xmlns:a="http://schemas.openxmlformats.org/drawingml/2006/main" noGrp="1"/>
          </p:cNvSpPr>
          <p:nvPr/>
        </p:nvSpPr>
        <p:spPr>
          <a:xfrm xmlns:a="http://schemas.openxmlformats.org/drawingml/2006/main">
            <a:off x="5238750" y="5362575"/>
            <a:ext cx="2714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Relative separation</a:t>
            </a:r>
          </a:p>
        </p:txBody>
      </p:sp>
      <p:sp>
        <p:nvSpPr>
          <p:cNvPr id="27" name="">
            <a:extLst xmlns:a="http://schemas.openxmlformats.org/drawingml/2006/main">
              <a:ext uri="{FF2B5EF4-FFF2-40B4-BE49-F238E27FC236}">
                <a16:creationId xmlns:a16="http://schemas.microsoft.com/office/drawing/2014/main" id="{E57160C5-C8AE-4B57-B7E9-4D813D369E05}"/>
              </a:ext>
            </a:extLst>
          </p:cNvPr>
          <p:cNvSpPr>
            <a:spLocks xmlns:a="http://schemas.openxmlformats.org/drawingml/2006/main" noGrp="1"/>
          </p:cNvSpPr>
          <p:nvPr/>
        </p:nvSpPr>
        <p:spPr>
          <a:xfrm xmlns:a="http://schemas.openxmlformats.org/drawingml/2006/main">
            <a:off x="8477250" y="5362575"/>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2577A"/>
                </a:solidFill>
                <a:latin typeface="Noto Sans"/>
                <a:ea typeface="Noto Sans"/>
                <a:cs typeface="Noto Sans"/>
              </a:defRPr>
            </a:pPr>
            <a:r>
              <a:rPr sz="1725" b="1">
                <a:solidFill>
                  <a:srgbClr val="22577A"/>
                </a:solidFill>
                <a:latin typeface="Noto Sans"/>
                <a:ea typeface="Noto Sans"/>
                <a:cs typeface="Noto Sans"/>
              </a:rPr>
              <a:t>Validity and position</a:t>
            </a:r>
          </a:p>
        </p:txBody>
      </p:sp>
      <p:sp>
        <p:nvSpPr>
          <p:cNvPr id="28" name="">
            <a:extLst xmlns:a="http://schemas.openxmlformats.org/drawingml/2006/main">
              <a:ext uri="{FF2B5EF4-FFF2-40B4-BE49-F238E27FC236}">
                <a16:creationId xmlns:a16="http://schemas.microsoft.com/office/drawing/2014/main" id="{A84A2F11-92ED-42F2-9664-4D9A1EBFDF5B}"/>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Both policies share measured evidence. Unknown cues remain explicit. Physical execution is opt-in.</a:t>
            </a:r>
          </a:p>
        </p:txBody>
      </p:sp>
    </p:spTree>
    <p:extLst>
      <p:ext uri="{BB962C8B-B14F-4D97-AF65-F5344CB8AC3E}">
        <p14:creationId xmlns:p14="http://schemas.microsoft.com/office/powerpoint/2010/main" val="14841022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8E1480-4040-453E-835D-A655B93C55DB}"/>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572443-C659-413D-A521-30C23798A40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F9CA6F-226C-4C56-97E2-36DD524BBFB2}"/>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Rule-Based Decision Policy</a:t>
            </a:r>
          </a:p>
        </p:txBody>
      </p:sp>
      <p:sp>
        <p:nvSpPr>
          <p:cNvPr id="4" name="">
            <a:extLst xmlns:a="http://schemas.openxmlformats.org/drawingml/2006/main">
              <a:ext uri="{FF2B5EF4-FFF2-40B4-BE49-F238E27FC236}">
                <a16:creationId xmlns:a16="http://schemas.microsoft.com/office/drawing/2014/main" id="{C09955BE-17A7-4712-A3DD-19AEA8F289A1}"/>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654003A7-BF36-4CB4-9560-AF00BB993AC7}"/>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4</a:t>
            </a:r>
          </a:p>
        </p:txBody>
      </p:sp>
      <p:graphicFrame>
        <p:nvGraphicFramePr>
          <p:cNvPr id="16" name=""/>
          <p:cNvGraphicFramePr/>
          <p:nvPr/>
        </p:nvGraphicFramePr>
        <p:xfrm>
          <a:off xmlns:a="http://schemas.openxmlformats.org/drawingml/2006/main" x="571500" y="1524000"/>
          <a:ext xmlns:a="http://schemas.openxmlformats.org/drawingml/2006/main" cx="11001375" cy="2876550"/>
        </p:xfrm>
        <a:graphic xmlns:a="http://schemas.openxmlformats.org/drawingml/2006/main">
          <a:graphicData uri="http://schemas.openxmlformats.org/drawingml/2006/table">
            <a:tbl>
              <a:tblPr/>
              <a:tblGrid>
                <a:gridCol w="8239125"/>
                <a:gridCol w="2762250"/>
              </a:tblGrid>
              <a:tr h="575310">
                <a:tc>
                  <a:txBody>
                    <a:bodyPr/>
                    <a:lstStyle/>
                    <a:p>
                      <a:r>
                        <a:rPr sz="1950" b="1">
                          <a:solidFill>
                            <a:srgbClr val="FFFFFF"/>
                          </a:solidFill>
                          <a:latin typeface="Noto Sans"/>
                          <a:ea typeface="Noto Sans"/>
                          <a:cs typeface="Noto Sans"/>
                        </a:rPr>
                        <a:t>Observed evidence</a:t>
                      </a:r>
                    </a:p>
                  </a:txBody>
                  <a:tcPr marL="95250" marR="95250" marT="57150" marB="57150">
                    <a:solidFill>
                      <a:srgbClr val="22577A"/>
                    </a:solidFill>
                  </a:tcPr>
                </a:tc>
                <a:tc>
                  <a:txBody>
                    <a:bodyPr/>
                    <a:lstStyle/>
                    <a:p>
                      <a:r>
                        <a:rPr sz="1950" b="1">
                          <a:solidFill>
                            <a:srgbClr val="FFFFFF"/>
                          </a:solidFill>
                          <a:latin typeface="Noto Sans"/>
                          <a:ea typeface="Noto Sans"/>
                          <a:cs typeface="Noto Sans"/>
                        </a:rPr>
                        <a:t>Action</a:t>
                      </a:r>
                    </a:p>
                  </a:txBody>
                  <a:tcPr marL="95250" marR="95250" marT="57150" marB="57150">
                    <a:solidFill>
                      <a:srgbClr val="22577A"/>
                    </a:solidFill>
                  </a:tcPr>
                </a:tc>
              </a:tr>
              <a:tr h="575310">
                <a:tc>
                  <a:txBody>
                    <a:bodyPr/>
                    <a:lstStyle/>
                    <a:p>
                      <a:r>
                        <a:rPr sz="2025" b="0">
                          <a:solidFill>
                            <a:srgbClr val="26333C"/>
                          </a:solidFill>
                          <a:latin typeface="Noto Sans"/>
                          <a:ea typeface="Noto Sans"/>
                          <a:cs typeface="Noto Sans"/>
                        </a:rPr>
                        <a:t>Sustained looking, farther away</a:t>
                      </a:r>
                    </a:p>
                  </a:txBody>
                  <a:tcPr marL="95250" marR="95250" marT="57150" marB="57150">
                    <a:solidFill>
                      <a:srgbClr val="DDECF2"/>
                    </a:solidFill>
                  </a:tcPr>
                </a:tc>
                <a:tc>
                  <a:txBody>
                    <a:bodyPr/>
                    <a:lstStyle/>
                    <a:p>
                      <a:r>
                        <a:rPr sz="2025" b="0">
                          <a:solidFill>
                            <a:srgbClr val="26333C"/>
                          </a:solidFill>
                          <a:latin typeface="Noto Sans"/>
                          <a:ea typeface="Noto Sans"/>
                          <a:cs typeface="Noto Sans"/>
                        </a:rPr>
                        <a:t>APPROACH</a:t>
                      </a:r>
                    </a:p>
                  </a:txBody>
                  <a:tcPr marL="95250" marR="95250" marT="57150" marB="57150">
                    <a:solidFill>
                      <a:srgbClr val="DDECF2"/>
                    </a:solidFill>
                  </a:tcPr>
                </a:tc>
              </a:tr>
              <a:tr h="575310">
                <a:tc>
                  <a:txBody>
                    <a:bodyPr/>
                    <a:lstStyle/>
                    <a:p>
                      <a:r>
                        <a:rPr sz="2025" b="0">
                          <a:solidFill>
                            <a:srgbClr val="26333C"/>
                          </a:solidFill>
                          <a:latin typeface="Noto Sans"/>
                          <a:ea typeface="Noto Sans"/>
                          <a:cs typeface="Noto Sans"/>
                        </a:rPr>
                        <a:t>Sustained looking, already nearby</a:t>
                      </a:r>
                    </a:p>
                  </a:txBody>
                  <a:tcPr marL="95250" marR="95250" marT="57150" marB="57150">
                    <a:solidFill>
                      <a:srgbClr val="F3F0E7"/>
                    </a:solidFill>
                  </a:tcPr>
                </a:tc>
                <a:tc>
                  <a:txBody>
                    <a:bodyPr/>
                    <a:lstStyle/>
                    <a:p>
                      <a:r>
                        <a:rPr sz="2025" b="0">
                          <a:solidFill>
                            <a:srgbClr val="26333C"/>
                          </a:solidFill>
                          <a:latin typeface="Noto Sans"/>
                          <a:ea typeface="Noto Sans"/>
                          <a:cs typeface="Noto Sans"/>
                        </a:rPr>
                        <a:t>ENGAGE</a:t>
                      </a:r>
                    </a:p>
                  </a:txBody>
                  <a:tcPr marL="95250" marR="95250" marT="57150" marB="57150">
                    <a:solidFill>
                      <a:srgbClr val="F3F0E7"/>
                    </a:solidFill>
                  </a:tcPr>
                </a:tc>
              </a:tr>
              <a:tr h="575310">
                <a:tc>
                  <a:txBody>
                    <a:bodyPr/>
                    <a:lstStyle/>
                    <a:p>
                      <a:r>
                        <a:rPr sz="2025" b="0">
                          <a:solidFill>
                            <a:srgbClr val="26333C"/>
                          </a:solidFill>
                          <a:latin typeface="Noto Sans"/>
                          <a:ea typeface="Noto Sans"/>
                          <a:cs typeface="Noto Sans"/>
                        </a:rPr>
                        <a:t>Closing inside corridor, low looking</a:t>
                      </a:r>
                    </a:p>
                  </a:txBody>
                  <a:tcPr marL="95250" marR="95250" marT="57150" marB="57150">
                    <a:solidFill>
                      <a:srgbClr val="DDECF2"/>
                    </a:solidFill>
                  </a:tcPr>
                </a:tc>
                <a:tc>
                  <a:txBody>
                    <a:bodyPr/>
                    <a:lstStyle/>
                    <a:p>
                      <a:r>
                        <a:rPr sz="2025" b="0">
                          <a:solidFill>
                            <a:srgbClr val="26333C"/>
                          </a:solidFill>
                          <a:latin typeface="Noto Sans"/>
                          <a:ea typeface="Noto Sans"/>
                          <a:cs typeface="Noto Sans"/>
                        </a:rPr>
                        <a:t>YIELD</a:t>
                      </a:r>
                    </a:p>
                  </a:txBody>
                  <a:tcPr marL="95250" marR="95250" marT="57150" marB="57150">
                    <a:solidFill>
                      <a:srgbClr val="DDECF2"/>
                    </a:solidFill>
                  </a:tcPr>
                </a:tc>
              </a:tr>
              <a:tr h="575310">
                <a:tc>
                  <a:txBody>
                    <a:bodyPr/>
                    <a:lstStyle/>
                    <a:p>
                      <a:r>
                        <a:rPr sz="2025" b="0">
                          <a:solidFill>
                            <a:srgbClr val="26333C"/>
                          </a:solidFill>
                          <a:latin typeface="Noto Sans"/>
                          <a:ea typeface="Noto Sans"/>
                          <a:cs typeface="Noto Sans"/>
                        </a:rPr>
                        <a:t>Other eligible cases</a:t>
                      </a:r>
                    </a:p>
                  </a:txBody>
                  <a:tcPr marL="95250" marR="95250" marT="57150" marB="57150">
                    <a:solidFill>
                      <a:srgbClr val="F3F0E7"/>
                    </a:solidFill>
                  </a:tcPr>
                </a:tc>
                <a:tc>
                  <a:txBody>
                    <a:bodyPr/>
                    <a:lstStyle/>
                    <a:p>
                      <a:r>
                        <a:rPr sz="2025" b="0">
                          <a:solidFill>
                            <a:srgbClr val="26333C"/>
                          </a:solidFill>
                          <a:latin typeface="Noto Sans"/>
                          <a:ea typeface="Noto Sans"/>
                          <a:cs typeface="Noto Sans"/>
                        </a:rPr>
                        <a:t>CONTINUE</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42405607-47A1-4E79-B115-B2AD7EBCCD9E}"/>
              </a:ext>
            </a:extLst>
          </p:cNvPr>
          <p:cNvSpPr>
            <a:spLocks xmlns:a="http://schemas.openxmlformats.org/drawingml/2006/main" noGrp="1"/>
          </p:cNvSpPr>
          <p:nvPr/>
        </p:nvSpPr>
        <p:spPr>
          <a:xfrm xmlns:a="http://schemas.openxmlformats.org/drawingml/2006/main">
            <a:off x="619125" y="4657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Refinements</a:t>
            </a:r>
          </a:p>
        </p:txBody>
      </p:sp>
      <p:sp>
        <p:nvSpPr>
          <p:cNvPr id="8" name="">
            <a:extLst xmlns:a="http://schemas.openxmlformats.org/drawingml/2006/main">
              <a:ext uri="{FF2B5EF4-FFF2-40B4-BE49-F238E27FC236}">
                <a16:creationId xmlns:a16="http://schemas.microsoft.com/office/drawing/2014/main" id="{20A8A3A3-2F9B-45F7-A0FC-95D3219544C0}"/>
              </a:ext>
            </a:extLst>
          </p:cNvPr>
          <p:cNvSpPr>
            <a:spLocks xmlns:a="http://schemas.openxmlformats.org/drawingml/2006/main" noGrp="1"/>
          </p:cNvSpPr>
          <p:nvPr/>
        </p:nvSpPr>
        <p:spPr>
          <a:xfrm xmlns:a="http://schemas.openxmlformats.org/drawingml/2006/main">
            <a:off x="619125" y="5143500"/>
            <a:ext cx="690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700"/>
              </a:spcAft>
              <a:buChar char="•"/>
              <a:defRPr sz="1800" b="0">
                <a:solidFill>
                  <a:srgbClr val="26333C"/>
                </a:solidFill>
                <a:latin typeface="Noto Sans"/>
                <a:ea typeface="Noto Sans"/>
                <a:cs typeface="Noto Sans"/>
              </a:defRPr>
            </a:pPr>
            <a:r>
              <a:t>Temporal gaze and gap handling</a:t>
            </a:r>
          </a:p>
          <a:p xmlns:a="http://schemas.openxmlformats.org/drawingml/2006/main">
            <a:pPr marL="215900" indent="-114300" algn="l">
              <a:spcAft>
                <a:spcPts val="700"/>
              </a:spcAft>
              <a:buChar char="•"/>
              <a:defRPr sz="1800" b="0">
                <a:solidFill>
                  <a:srgbClr val="26333C"/>
                </a:solidFill>
                <a:latin typeface="Noto Sans"/>
                <a:ea typeface="Noto Sans"/>
                <a:cs typeface="Noto Sans"/>
              </a:defRPr>
            </a:pPr>
            <a:r>
              <a:t>Distance-aware thresholds</a:t>
            </a:r>
          </a:p>
          <a:p xmlns:a="http://schemas.openxmlformats.org/drawingml/2006/main">
            <a:pPr marL="215900" indent="-114300" algn="l">
              <a:spcAft>
                <a:spcPts val="700"/>
              </a:spcAft>
              <a:buChar char="•"/>
              <a:defRPr sz="1800" b="0">
                <a:solidFill>
                  <a:srgbClr val="26333C"/>
                </a:solidFill>
                <a:latin typeface="Noto Sans"/>
                <a:ea typeface="Noto Sans"/>
                <a:cs typeface="Noto Sans"/>
              </a:defRPr>
            </a:pPr>
            <a:r>
              <a:t>Corridor and closing evidence</a:t>
            </a:r>
          </a:p>
        </p:txBody>
      </p:sp>
      <p:sp>
        <p:nvSpPr>
          <p:cNvPr id="9" name="">
            <a:extLst xmlns:a="http://schemas.openxmlformats.org/drawingml/2006/main">
              <a:ext uri="{FF2B5EF4-FFF2-40B4-BE49-F238E27FC236}">
                <a16:creationId xmlns:a16="http://schemas.microsoft.com/office/drawing/2014/main" id="{93A001DA-20B5-4BDD-BE22-CB98426C994D}"/>
              </a:ext>
            </a:extLst>
          </p:cNvPr>
          <p:cNvSpPr>
            <a:spLocks xmlns:a="http://schemas.openxmlformats.org/drawingml/2006/main" noGrp="1"/>
          </p:cNvSpPr>
          <p:nvPr/>
        </p:nvSpPr>
        <p:spPr>
          <a:xfrm xmlns:a="http://schemas.openxmlformats.org/drawingml/2006/main">
            <a:off x="8915400" y="47625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950" b="1">
                <a:solidFill>
                  <a:srgbClr val="22577A"/>
                </a:solidFill>
                <a:latin typeface="Rubik"/>
                <a:ea typeface="Rubik"/>
                <a:cs typeface="Rubik"/>
              </a:defRPr>
            </a:pPr>
            <a:r>
              <a:rPr sz="4950" b="1">
                <a:solidFill>
                  <a:srgbClr val="22577A"/>
                </a:solidFill>
                <a:latin typeface="Rubik"/>
                <a:ea typeface="Rubik"/>
                <a:cs typeface="Rubik"/>
              </a:rPr>
              <a:t>9/9</a:t>
            </a:r>
          </a:p>
        </p:txBody>
      </p:sp>
      <p:sp>
        <p:nvSpPr>
          <p:cNvPr id="10" name="">
            <a:extLst xmlns:a="http://schemas.openxmlformats.org/drawingml/2006/main">
              <a:ext uri="{FF2B5EF4-FFF2-40B4-BE49-F238E27FC236}">
                <a16:creationId xmlns:a16="http://schemas.microsoft.com/office/drawing/2014/main" id="{4498A684-47A9-4BBC-A38C-3656A16AF57F}"/>
              </a:ext>
            </a:extLst>
          </p:cNvPr>
          <p:cNvSpPr>
            <a:spLocks xmlns:a="http://schemas.openxmlformats.org/drawingml/2006/main" noGrp="1"/>
          </p:cNvSpPr>
          <p:nvPr/>
        </p:nvSpPr>
        <p:spPr>
          <a:xfrm xmlns:a="http://schemas.openxmlformats.org/drawingml/2006/main">
            <a:off x="8229600" y="55721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26333C"/>
                </a:solidFill>
                <a:latin typeface="Noto Sans"/>
                <a:ea typeface="Noto Sans"/>
                <a:cs typeface="Noto Sans"/>
              </a:defRPr>
            </a:pPr>
            <a:r>
              <a:rPr sz="1725" b="0">
                <a:solidFill>
                  <a:srgbClr val="26333C"/>
                </a:solidFill>
                <a:latin typeface="Noto Sans"/>
                <a:ea typeface="Noto Sans"/>
                <a:cs typeface="Noto Sans"/>
              </a:rPr>
              <a:t>expected first actions</a:t>
            </a:r>
          </a:p>
        </p:txBody>
      </p:sp>
    </p:spTree>
    <p:extLst>
      <p:ext uri="{BB962C8B-B14F-4D97-AF65-F5344CB8AC3E}">
        <p14:creationId xmlns:p14="http://schemas.microsoft.com/office/powerpoint/2010/main" val="20662140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C12321-640E-4796-8C37-02DA70508237}"/>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394F66-8F2A-4083-A0B0-705002BE5931}"/>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769CC3D-398C-437E-A7BF-96224CE41825}"/>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Compact Evidence Improved LLM Performance</a:t>
            </a:r>
          </a:p>
        </p:txBody>
      </p:sp>
      <p:sp>
        <p:nvSpPr>
          <p:cNvPr id="4" name="">
            <a:extLst xmlns:a="http://schemas.openxmlformats.org/drawingml/2006/main">
              <a:ext uri="{FF2B5EF4-FFF2-40B4-BE49-F238E27FC236}">
                <a16:creationId xmlns:a16="http://schemas.microsoft.com/office/drawing/2014/main" id="{A1D005CD-FF27-4C7A-A124-8EADFD617D7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6B4D8240-507C-49A5-A423-EB53F4BBF16F}"/>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5</a:t>
            </a:r>
          </a:p>
        </p:txBody>
      </p:sp>
      <p:graphicFrame>
        <p:nvGraphicFramePr>
          <p:cNvPr id="17" name=""/>
          <p:cNvGraphicFramePr/>
          <p:nvPr/>
        </p:nvGraphicFramePr>
        <p:xfrm>
          <a:off xmlns:a="http://schemas.openxmlformats.org/drawingml/2006/main" x="571500" y="1609725"/>
          <a:ext xmlns:a="http://schemas.openxmlformats.org/drawingml/2006/main" cx="11001375" cy="2514600"/>
        </p:xfrm>
        <a:graphic xmlns:a="http://schemas.openxmlformats.org/drawingml/2006/main">
          <a:graphicData uri="http://schemas.openxmlformats.org/drawingml/2006/table">
            <a:tbl>
              <a:tblPr/>
              <a:tblGrid>
                <a:gridCol w="5667375"/>
                <a:gridCol w="2667000"/>
                <a:gridCol w="2667000"/>
              </a:tblGrid>
              <a:tr h="628650">
                <a:tc>
                  <a:txBody>
                    <a:bodyPr/>
                    <a:lstStyle/>
                    <a:p>
                      <a:r>
                        <a:rPr sz="1875" b="1">
                          <a:solidFill>
                            <a:srgbClr val="FFFFFF"/>
                          </a:solidFill>
                          <a:latin typeface="Noto Sans"/>
                          <a:ea typeface="Noto Sans"/>
                          <a:cs typeface="Noto Sans"/>
                        </a:rPr>
                        <a:t>First decision</a:t>
                      </a:r>
                    </a:p>
                  </a:txBody>
                  <a:tcPr marL="95250" marR="95250" marT="57150" marB="57150">
                    <a:solidFill>
                      <a:srgbClr val="22577A"/>
                    </a:solidFill>
                  </a:tcPr>
                </a:tc>
                <a:tc>
                  <a:txBody>
                    <a:bodyPr/>
                    <a:lstStyle/>
                    <a:p>
                      <a:r>
                        <a:rPr sz="1875" b="1">
                          <a:solidFill>
                            <a:srgbClr val="FFFFFF"/>
                          </a:solidFill>
                          <a:latin typeface="Noto Sans"/>
                          <a:ea typeface="Noto Sans"/>
                          <a:cs typeface="Noto Sans"/>
                        </a:rPr>
                        <a:t>Initial</a:t>
                      </a:r>
                    </a:p>
                  </a:txBody>
                  <a:tcPr marL="95250" marR="95250" marT="57150" marB="57150">
                    <a:solidFill>
                      <a:srgbClr val="22577A"/>
                    </a:solidFill>
                  </a:tcPr>
                </a:tc>
                <a:tc>
                  <a:txBody>
                    <a:bodyPr/>
                    <a:lstStyle/>
                    <a:p>
                      <a:r>
                        <a:rPr sz="1875" b="1">
                          <a:solidFill>
                            <a:srgbClr val="FFFFFF"/>
                          </a:solidFill>
                          <a:latin typeface="Noto Sans"/>
                          <a:ea typeface="Noto Sans"/>
                          <a:cs typeface="Noto Sans"/>
                        </a:rPr>
                        <a:t>Final selection</a:t>
                      </a:r>
                    </a:p>
                  </a:txBody>
                  <a:tcPr marL="95250" marR="95250" marT="57150" marB="57150">
                    <a:solidFill>
                      <a:srgbClr val="22577A"/>
                    </a:solidFill>
                  </a:tcPr>
                </a:tc>
              </a:tr>
              <a:tr h="628650">
                <a:tc>
                  <a:txBody>
                    <a:bodyPr/>
                    <a:lstStyle/>
                    <a:p>
                      <a:r>
                        <a:rPr sz="2100" b="0">
                          <a:solidFill>
                            <a:srgbClr val="26333C"/>
                          </a:solidFill>
                          <a:latin typeface="Noto Sans"/>
                          <a:ea typeface="Noto Sans"/>
                          <a:cs typeface="Noto Sans"/>
                        </a:rPr>
                        <a:t>Expected-action agreement</a:t>
                      </a:r>
                    </a:p>
                  </a:txBody>
                  <a:tcPr marL="95250" marR="95250" marT="57150" marB="57150">
                    <a:solidFill>
                      <a:srgbClr val="DDECF2"/>
                    </a:solidFill>
                  </a:tcPr>
                </a:tc>
                <a:tc>
                  <a:txBody>
                    <a:bodyPr/>
                    <a:lstStyle/>
                    <a:p>
                      <a:r>
                        <a:rPr sz="2100" b="0">
                          <a:solidFill>
                            <a:srgbClr val="26333C"/>
                          </a:solidFill>
                          <a:latin typeface="Noto Sans"/>
                          <a:ea typeface="Noto Sans"/>
                          <a:cs typeface="Noto Sans"/>
                        </a:rPr>
                        <a:t>6/9</a:t>
                      </a:r>
                    </a:p>
                  </a:txBody>
                  <a:tcPr marL="95250" marR="95250" marT="57150" marB="57150">
                    <a:solidFill>
                      <a:srgbClr val="DDECF2"/>
                    </a:solidFill>
                  </a:tcPr>
                </a:tc>
                <a:tc>
                  <a:txBody>
                    <a:bodyPr/>
                    <a:lstStyle/>
                    <a:p>
                      <a:r>
                        <a:rPr sz="2100" b="0">
                          <a:solidFill>
                            <a:srgbClr val="26333C"/>
                          </a:solidFill>
                          <a:latin typeface="Noto Sans"/>
                          <a:ea typeface="Noto Sans"/>
                          <a:cs typeface="Noto Sans"/>
                        </a:rPr>
                        <a:t>8/9</a:t>
                      </a:r>
                    </a:p>
                  </a:txBody>
                  <a:tcPr marL="95250" marR="95250" marT="57150" marB="57150">
                    <a:solidFill>
                      <a:srgbClr val="DDECF2"/>
                    </a:solidFill>
                  </a:tcPr>
                </a:tc>
              </a:tr>
              <a:tr h="628650">
                <a:tc>
                  <a:txBody>
                    <a:bodyPr/>
                    <a:lstStyle/>
                    <a:p>
                      <a:r>
                        <a:rPr sz="2100" b="0">
                          <a:solidFill>
                            <a:srgbClr val="26333C"/>
                          </a:solidFill>
                          <a:latin typeface="Noto Sans"/>
                          <a:ea typeface="Noto Sans"/>
                          <a:cs typeface="Noto Sans"/>
                        </a:rPr>
                        <a:t>Median output delay</a:t>
                      </a:r>
                    </a:p>
                  </a:txBody>
                  <a:tcPr marL="95250" marR="95250" marT="57150" marB="57150">
                    <a:solidFill>
                      <a:srgbClr val="F3F0E7"/>
                    </a:solidFill>
                  </a:tcPr>
                </a:tc>
                <a:tc>
                  <a:txBody>
                    <a:bodyPr/>
                    <a:lstStyle/>
                    <a:p>
                      <a:r>
                        <a:rPr sz="2100" b="0">
                          <a:solidFill>
                            <a:srgbClr val="26333C"/>
                          </a:solidFill>
                          <a:latin typeface="Noto Sans"/>
                          <a:ea typeface="Noto Sans"/>
                          <a:cs typeface="Noto Sans"/>
                        </a:rPr>
                        <a:t>6.21s</a:t>
                      </a:r>
                    </a:p>
                  </a:txBody>
                  <a:tcPr marL="95250" marR="95250" marT="57150" marB="57150">
                    <a:solidFill>
                      <a:srgbClr val="F3F0E7"/>
                    </a:solidFill>
                  </a:tcPr>
                </a:tc>
                <a:tc>
                  <a:txBody>
                    <a:bodyPr/>
                    <a:lstStyle/>
                    <a:p>
                      <a:r>
                        <a:rPr sz="2100" b="0">
                          <a:solidFill>
                            <a:srgbClr val="26333C"/>
                          </a:solidFill>
                          <a:latin typeface="Noto Sans"/>
                          <a:ea typeface="Noto Sans"/>
                          <a:cs typeface="Noto Sans"/>
                        </a:rPr>
                        <a:t>3.20s</a:t>
                      </a:r>
                    </a:p>
                  </a:txBody>
                  <a:tcPr marL="95250" marR="95250" marT="57150" marB="57150">
                    <a:solidFill>
                      <a:srgbClr val="F3F0E7"/>
                    </a:solidFill>
                  </a:tcPr>
                </a:tc>
              </a:tr>
              <a:tr h="628650">
                <a:tc>
                  <a:txBody>
                    <a:bodyPr/>
                    <a:lstStyle/>
                    <a:p>
                      <a:r>
                        <a:rPr sz="2100" b="0">
                          <a:solidFill>
                            <a:srgbClr val="26333C"/>
                          </a:solidFill>
                          <a:latin typeface="Noto Sans"/>
                          <a:ea typeface="Noto Sans"/>
                          <a:cs typeface="Noto Sans"/>
                        </a:rPr>
                        <a:t>Median input tokens</a:t>
                      </a:r>
                    </a:p>
                  </a:txBody>
                  <a:tcPr marL="95250" marR="95250" marT="57150" marB="57150">
                    <a:solidFill>
                      <a:srgbClr val="DDECF2"/>
                    </a:solidFill>
                  </a:tcPr>
                </a:tc>
                <a:tc>
                  <a:txBody>
                    <a:bodyPr/>
                    <a:lstStyle/>
                    <a:p>
                      <a:r>
                        <a:rPr sz="2100" b="0">
                          <a:solidFill>
                            <a:srgbClr val="26333C"/>
                          </a:solidFill>
                          <a:latin typeface="Noto Sans"/>
                          <a:ea typeface="Noto Sans"/>
                          <a:cs typeface="Noto Sans"/>
                        </a:rPr>
                        <a:t>1,766</a:t>
                      </a:r>
                    </a:p>
                  </a:txBody>
                  <a:tcPr marL="95250" marR="95250" marT="57150" marB="57150">
                    <a:solidFill>
                      <a:srgbClr val="DDECF2"/>
                    </a:solidFill>
                  </a:tcPr>
                </a:tc>
                <a:tc>
                  <a:txBody>
                    <a:bodyPr/>
                    <a:lstStyle/>
                    <a:p>
                      <a:r>
                        <a:rPr sz="2100" b="0">
                          <a:solidFill>
                            <a:srgbClr val="26333C"/>
                          </a:solidFill>
                          <a:latin typeface="Noto Sans"/>
                          <a:ea typeface="Noto Sans"/>
                          <a:cs typeface="Noto Sans"/>
                        </a:rPr>
                        <a:t>917</a:t>
                      </a:r>
                    </a:p>
                  </a:txBody>
                  <a:tcPr marL="95250" marR="95250" marT="57150" marB="57150">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918F9627-B1B0-4E7C-BB6B-177D757155AC}"/>
              </a:ext>
            </a:extLst>
          </p:cNvPr>
          <p:cNvSpPr>
            <a:spLocks xmlns:a="http://schemas.openxmlformats.org/drawingml/2006/main" noGrp="1"/>
          </p:cNvSpPr>
          <p:nvPr/>
        </p:nvSpPr>
        <p:spPr>
          <a:xfrm xmlns:a="http://schemas.openxmlformats.org/drawingml/2006/main">
            <a:off x="619125" y="44577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What we retained</a:t>
            </a:r>
          </a:p>
        </p:txBody>
      </p:sp>
      <p:sp>
        <p:nvSpPr>
          <p:cNvPr id="8" name="">
            <a:extLst xmlns:a="http://schemas.openxmlformats.org/drawingml/2006/main">
              <a:ext uri="{FF2B5EF4-FFF2-40B4-BE49-F238E27FC236}">
                <a16:creationId xmlns:a16="http://schemas.microsoft.com/office/drawing/2014/main" id="{89E33345-C91D-46FF-8E36-CA780365CB1B}"/>
              </a:ext>
            </a:extLst>
          </p:cNvPr>
          <p:cNvSpPr>
            <a:spLocks xmlns:a="http://schemas.openxmlformats.org/drawingml/2006/main" noGrp="1"/>
          </p:cNvSpPr>
          <p:nvPr/>
        </p:nvSpPr>
        <p:spPr>
          <a:xfrm xmlns:a="http://schemas.openxmlformats.org/drawingml/2006/main">
            <a:off x="619125" y="4991100"/>
            <a:ext cx="666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700"/>
              </a:spcAft>
              <a:buChar char="•"/>
              <a:defRPr sz="1950" b="0">
                <a:solidFill>
                  <a:srgbClr val="26333C"/>
                </a:solidFill>
                <a:latin typeface="Noto Sans"/>
                <a:ea typeface="Noto Sans"/>
                <a:cs typeface="Noto Sans"/>
              </a:defRPr>
            </a:pPr>
            <a:r>
              <a:t>Compact shared evidence</a:t>
            </a:r>
          </a:p>
          <a:p xmlns:a="http://schemas.openxmlformats.org/drawingml/2006/main">
            <a:pPr marL="215900" indent="-114300" algn="l">
              <a:spcAft>
                <a:spcPts val="700"/>
              </a:spcAft>
              <a:buChar char="•"/>
              <a:defRPr sz="1950" b="0">
                <a:solidFill>
                  <a:srgbClr val="26333C"/>
                </a:solidFill>
                <a:latin typeface="Noto Sans"/>
                <a:ea typeface="Noto Sans"/>
                <a:cs typeface="Noto Sans"/>
              </a:defRPr>
            </a:pPr>
            <a:r>
              <a:t>Descriptive labels and clear instructions</a:t>
            </a:r>
          </a:p>
        </p:txBody>
      </p:sp>
      <p:sp>
        <p:nvSpPr>
          <p:cNvPr id="9" name="">
            <a:extLst xmlns:a="http://schemas.openxmlformats.org/drawingml/2006/main">
              <a:ext uri="{FF2B5EF4-FFF2-40B4-BE49-F238E27FC236}">
                <a16:creationId xmlns:a16="http://schemas.microsoft.com/office/drawing/2014/main" id="{D0099CE7-1496-4043-A107-4DF10A0204D6}"/>
              </a:ext>
            </a:extLst>
          </p:cNvPr>
          <p:cNvSpPr>
            <a:spLocks xmlns:a="http://schemas.openxmlformats.org/drawingml/2006/main" noGrp="1"/>
          </p:cNvSpPr>
          <p:nvPr/>
        </p:nvSpPr>
        <p:spPr>
          <a:xfrm xmlns:a="http://schemas.openxmlformats.org/drawingml/2006/main">
            <a:off x="8210550" y="4743450"/>
            <a:ext cx="333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550" b="1">
                <a:solidFill>
                  <a:srgbClr val="22577A"/>
                </a:solidFill>
                <a:latin typeface="Rubik"/>
                <a:ea typeface="Rubik"/>
                <a:cs typeface="Rubik"/>
              </a:defRPr>
            </a:pPr>
            <a:r>
              <a:rPr sz="2550" b="1">
                <a:solidFill>
                  <a:srgbClr val="22577A"/>
                </a:solidFill>
                <a:latin typeface="Rubik"/>
                <a:ea typeface="Rubik"/>
                <a:cs typeface="Rubik"/>
              </a:rPr>
              <a:t>Qwen 2.5 7B</a:t>
            </a:r>
          </a:p>
        </p:txBody>
      </p:sp>
      <p:sp>
        <p:nvSpPr>
          <p:cNvPr id="10" name="">
            <a:extLst xmlns:a="http://schemas.openxmlformats.org/drawingml/2006/main">
              <a:ext uri="{FF2B5EF4-FFF2-40B4-BE49-F238E27FC236}">
                <a16:creationId xmlns:a16="http://schemas.microsoft.com/office/drawing/2014/main" id="{6A14E5EC-235D-4C92-ADB1-A2506735AD53}"/>
              </a:ext>
            </a:extLst>
          </p:cNvPr>
          <p:cNvSpPr>
            <a:spLocks xmlns:a="http://schemas.openxmlformats.org/drawingml/2006/main" noGrp="1"/>
          </p:cNvSpPr>
          <p:nvPr/>
        </p:nvSpPr>
        <p:spPr>
          <a:xfrm xmlns:a="http://schemas.openxmlformats.org/drawingml/2006/main">
            <a:off x="8210550" y="5305425"/>
            <a:ext cx="333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0">
                <a:solidFill>
                  <a:srgbClr val="26333C"/>
                </a:solidFill>
                <a:latin typeface="Noto Sans"/>
                <a:ea typeface="Noto Sans"/>
                <a:cs typeface="Noto Sans"/>
              </a:defRPr>
            </a:pPr>
            <a:r>
              <a:rPr sz="1875" b="0">
                <a:solidFill>
                  <a:srgbClr val="26333C"/>
                </a:solidFill>
                <a:latin typeface="Noto Sans"/>
                <a:ea typeface="Noto Sans"/>
                <a:cs typeface="Noto Sans"/>
              </a:rPr>
              <a:t>DecisionState v3</a:t>
            </a:r>
          </a:p>
          <a:p xmlns:a="http://schemas.openxmlformats.org/drawingml/2006/main">
            <a:pPr algn="ctr">
              <a:defRPr sz="1875" b="0">
                <a:solidFill>
                  <a:srgbClr val="26333C"/>
                </a:solidFill>
                <a:latin typeface="Noto Sans"/>
                <a:ea typeface="Noto Sans"/>
                <a:cs typeface="Noto Sans"/>
              </a:defRPr>
            </a:pPr>
            <a:r>
              <a:rPr sz="1875" b="0">
                <a:solidFill>
                  <a:srgbClr val="26333C"/>
                </a:solidFill>
                <a:latin typeface="Noto Sans"/>
                <a:ea typeface="Noto Sans"/>
                <a:cs typeface="Noto Sans"/>
              </a:rPr>
              <a:t>Instructions v16</a:t>
            </a:r>
          </a:p>
        </p:txBody>
      </p:sp>
      <p:sp>
        <p:nvSpPr>
          <p:cNvPr id="11" name="">
            <a:extLst xmlns:a="http://schemas.openxmlformats.org/drawingml/2006/main">
              <a:ext uri="{FF2B5EF4-FFF2-40B4-BE49-F238E27FC236}">
                <a16:creationId xmlns:a16="http://schemas.microsoft.com/office/drawing/2014/main" id="{CE560782-401D-4D53-B17F-58BE94847F3D}"/>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Delay starts at the first eligible observation. Richer labels did not improve the 8/9 score.</a:t>
            </a:r>
          </a:p>
        </p:txBody>
      </p:sp>
    </p:spTree>
    <p:extLst>
      <p:ext uri="{BB962C8B-B14F-4D97-AF65-F5344CB8AC3E}">
        <p14:creationId xmlns:p14="http://schemas.microsoft.com/office/powerpoint/2010/main" val="5089621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A6311A3-8973-4C5C-8C6D-313F15E7D85D}"/>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449D33-4C80-4C41-96BB-339D0FFCBAEE}"/>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667069-CA8A-4F4E-952B-5A90EC314873}"/>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First-Action Accuracy and Decision Delay</a:t>
            </a:r>
          </a:p>
        </p:txBody>
      </p:sp>
      <p:sp>
        <p:nvSpPr>
          <p:cNvPr id="4" name="">
            <a:extLst xmlns:a="http://schemas.openxmlformats.org/drawingml/2006/main">
              <a:ext uri="{FF2B5EF4-FFF2-40B4-BE49-F238E27FC236}">
                <a16:creationId xmlns:a16="http://schemas.microsoft.com/office/drawing/2014/main" id="{E85ADC43-950B-47B9-A32E-F0D8B2C6BEAC}"/>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E66540DD-9E81-4ADF-B5C8-2AB75BCDE45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6</a:t>
            </a:r>
          </a:p>
        </p:txBody>
      </p:sp>
      <p:graphicFrame>
        <p:nvGraphicFramePr>
          <p:cNvPr id="19" name="Chart"/>
          <p:cNvGraphicFramePr/>
          <p:nvPr/>
        </p:nvGraphicFramePr>
        <p:xfrm>
          <a:off xmlns:a="http://schemas.openxmlformats.org/drawingml/2006/main" x="571500" y="1466850"/>
          <a:ext xmlns:a="http://schemas.openxmlformats.org/drawingml/2006/main" cx="5143500" cy="3524250"/>
        </p:xfrm>
        <a:graphic xmlns:a="http://schemas.openxmlformats.org/drawingml/2006/main">
          <a:graphicData uri="http://schemas.openxmlformats.org/drawingml/2006/chart">
            <c:chart xmlns:r="http://schemas.openxmlformats.org/officeDocument/2006/relationships" xmlns:c="http://schemas.openxmlformats.org/drawingml/2006/chart" r:id="Rd68a4a4fe960425b"/>
          </a:graphicData>
        </a:graphic>
      </p:graphicFrame>
      <p:sp>
        <p:nvSpPr>
          <p:cNvPr id="7" name="">
            <a:extLst xmlns:a="http://schemas.openxmlformats.org/drawingml/2006/main">
              <a:ext uri="{FF2B5EF4-FFF2-40B4-BE49-F238E27FC236}">
                <a16:creationId xmlns:a16="http://schemas.microsoft.com/office/drawing/2014/main" id="{13689AE5-13E8-48D3-BC97-C4443AAE51C8}"/>
              </a:ext>
            </a:extLst>
          </p:cNvPr>
          <p:cNvSpPr>
            <a:spLocks xmlns:a="http://schemas.openxmlformats.org/drawingml/2006/main" noGrp="1"/>
          </p:cNvSpPr>
          <p:nvPr/>
        </p:nvSpPr>
        <p:spPr>
          <a:xfrm xmlns:a="http://schemas.openxmlformats.org/drawingml/2006/main">
            <a:off x="571500" y="50292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Expected first actions matched</a:t>
            </a:r>
          </a:p>
        </p:txBody>
      </p:sp>
      <p:sp>
        <p:nvSpPr>
          <p:cNvPr id="8" name="Placeholder: S4 SCENARIO PHOTO">
            <a:extLst xmlns:a="http://schemas.openxmlformats.org/drawingml/2006/main">
              <a:ext uri="{FF2B5EF4-FFF2-40B4-BE49-F238E27FC236}">
                <a16:creationId xmlns:a16="http://schemas.microsoft.com/office/drawing/2014/main" id="{83495ADB-145D-475E-A756-AC5A39720ECF}"/>
              </a:ext>
            </a:extLst>
          </p:cNvPr>
          <p:cNvSpPr>
            <a:spLocks xmlns:a="http://schemas.openxmlformats.org/drawingml/2006/main" noGrp="1"/>
          </p:cNvSpPr>
          <p:nvPr/>
        </p:nvSpPr>
        <p:spPr>
          <a:xfrm xmlns:a="http://schemas.openxmlformats.org/drawingml/2006/main">
            <a:off x="6429375" y="1476375"/>
            <a:ext cx="5143500" cy="1905000"/>
          </a:xfrm>
          <a:prstGeom xmlns:a="http://schemas.openxmlformats.org/drawingml/2006/main" prst="roundRect">
            <a:avLst>
              <a:gd name="adj" fmla="val 6000"/>
            </a:avLst>
          </a:prstGeom>
          <a:solidFill xmlns:a="http://schemas.openxmlformats.org/drawingml/2006/main">
            <a:srgbClr val="F3F0E7"/>
          </a:solidFill>
          <a:ln xmlns:a="http://schemas.openxmlformats.org/drawingml/2006/main" w="14288">
            <a:solidFill>
              <a:srgbClr val="AFC4CC"/>
            </a:solidFill>
            <a:prstDash val="dash"/>
          </a:ln>
        </p:spPr>
      </p:sp>
      <p:sp>
        <p:nvSpPr>
          <p:cNvPr id="9" name="">
            <a:extLst xmlns:a="http://schemas.openxmlformats.org/drawingml/2006/main">
              <a:ext uri="{FF2B5EF4-FFF2-40B4-BE49-F238E27FC236}">
                <a16:creationId xmlns:a16="http://schemas.microsoft.com/office/drawing/2014/main" id="{4A8AE1FB-F451-4D30-8513-466D3BEB272A}"/>
              </a:ext>
            </a:extLst>
          </p:cNvPr>
          <p:cNvSpPr>
            <a:spLocks xmlns:a="http://schemas.openxmlformats.org/drawingml/2006/main" noGrp="1"/>
          </p:cNvSpPr>
          <p:nvPr/>
        </p:nvSpPr>
        <p:spPr>
          <a:xfrm xmlns:a="http://schemas.openxmlformats.org/drawingml/2006/main">
            <a:off x="6619875" y="20288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2577A"/>
                </a:solidFill>
                <a:latin typeface="Rubik"/>
                <a:ea typeface="Rubik"/>
                <a:cs typeface="Rubik"/>
              </a:defRPr>
            </a:pPr>
            <a:r>
              <a:rPr sz="2025" b="1">
                <a:solidFill>
                  <a:srgbClr val="22577A"/>
                </a:solidFill>
                <a:latin typeface="Rubik"/>
                <a:ea typeface="Rubik"/>
                <a:cs typeface="Rubik"/>
              </a:rPr>
              <a:t>S4 SCENARIO PHOTO</a:t>
            </a:r>
          </a:p>
        </p:txBody>
      </p:sp>
      <p:sp>
        <p:nvSpPr>
          <p:cNvPr id="10" name="">
            <a:extLst xmlns:a="http://schemas.openxmlformats.org/drawingml/2006/main">
              <a:ext uri="{FF2B5EF4-FFF2-40B4-BE49-F238E27FC236}">
                <a16:creationId xmlns:a16="http://schemas.microsoft.com/office/drawing/2014/main" id="{AE2D0B5C-5057-45DB-AB42-65EB78E1B382}"/>
              </a:ext>
            </a:extLst>
          </p:cNvPr>
          <p:cNvSpPr>
            <a:spLocks xmlns:a="http://schemas.openxmlformats.org/drawingml/2006/main" noGrp="1"/>
          </p:cNvSpPr>
          <p:nvPr/>
        </p:nvSpPr>
        <p:spPr>
          <a:xfrm xmlns:a="http://schemas.openxmlformats.org/drawingml/2006/main">
            <a:off x="6638925" y="2543175"/>
            <a:ext cx="4724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37E9D"/>
                </a:solidFill>
                <a:latin typeface="Noto Sans"/>
                <a:ea typeface="Noto Sans"/>
                <a:cs typeface="Noto Sans"/>
              </a:defRPr>
            </a:pPr>
            <a:r>
              <a:rPr sz="1500" b="0">
                <a:solidFill>
                  <a:srgbClr val="437E9D"/>
                </a:solidFill>
                <a:latin typeface="Noto Sans"/>
                <a:ea typeface="Noto Sans"/>
                <a:cs typeface="Noto Sans"/>
              </a:rPr>
              <a:t>Insert the closing encounter inside the forward corridor</a:t>
            </a:r>
          </a:p>
        </p:txBody>
      </p:sp>
      <p:graphicFrame>
        <p:nvGraphicFramePr>
          <p:cNvPr id="24" name=""/>
          <p:cNvGraphicFramePr/>
          <p:nvPr/>
        </p:nvGraphicFramePr>
        <p:xfrm>
          <a:off xmlns:a="http://schemas.openxmlformats.org/drawingml/2006/main" x="6429375" y="3638550"/>
          <a:ext xmlns:a="http://schemas.openxmlformats.org/drawingml/2006/main" cx="5143500" cy="1495425"/>
        </p:xfrm>
        <a:graphic xmlns:a="http://schemas.openxmlformats.org/drawingml/2006/main">
          <a:graphicData uri="http://schemas.openxmlformats.org/drawingml/2006/table">
            <a:tbl>
              <a:tblPr/>
              <a:tblGrid>
                <a:gridCol w="3238500"/>
                <a:gridCol w="1905000"/>
              </a:tblGrid>
              <a:tr h="498475">
                <a:tc>
                  <a:txBody>
                    <a:bodyPr/>
                    <a:lstStyle/>
                    <a:p>
                      <a:r>
                        <a:rPr sz="1725" b="1">
                          <a:solidFill>
                            <a:srgbClr val="FFFFFF"/>
                          </a:solidFill>
                          <a:latin typeface="Noto Sans"/>
                          <a:ea typeface="Noto Sans"/>
                          <a:cs typeface="Noto Sans"/>
                        </a:rPr>
                        <a:t>Same S4 evidence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First action</a:t>
                      </a:r>
                    </a:p>
                  </a:txBody>
                  <a:tcPr marL="95250" marR="95250" marT="57150" marB="57150">
                    <a:solidFill>
                      <a:srgbClr val="22577A"/>
                    </a:solidFill>
                  </a:tcPr>
                </a:tc>
              </a:tr>
              <a:tr h="498475">
                <a:tc>
                  <a:txBody>
                    <a:bodyPr/>
                    <a:lstStyle/>
                    <a:p>
                      <a:r>
                        <a:rPr sz="1950" b="0">
                          <a:solidFill>
                            <a:srgbClr val="26333C"/>
                          </a:solidFill>
                          <a:latin typeface="Noto Sans"/>
                          <a:ea typeface="Noto Sans"/>
                          <a:cs typeface="Noto Sans"/>
                        </a:rPr>
                        <a:t>Rules</a:t>
                      </a:r>
                    </a:p>
                  </a:txBody>
                  <a:tcPr marL="95250" marR="95250" marT="57150" marB="57150">
                    <a:solidFill>
                      <a:srgbClr val="DDECF2"/>
                    </a:solidFill>
                  </a:tcPr>
                </a:tc>
                <a:tc>
                  <a:txBody>
                    <a:bodyPr/>
                    <a:lstStyle/>
                    <a:p>
                      <a:r>
                        <a:rPr sz="1950" b="0">
                          <a:solidFill>
                            <a:srgbClr val="26333C"/>
                          </a:solidFill>
                          <a:latin typeface="Noto Sans"/>
                          <a:ea typeface="Noto Sans"/>
                          <a:cs typeface="Noto Sans"/>
                        </a:rPr>
                        <a:t>YIELD</a:t>
                      </a:r>
                    </a:p>
                  </a:txBody>
                  <a:tcPr marL="95250" marR="95250" marT="57150" marB="57150">
                    <a:solidFill>
                      <a:srgbClr val="DDECF2"/>
                    </a:solidFill>
                  </a:tcPr>
                </a:tc>
              </a:tr>
              <a:tr h="498475">
                <a:tc>
                  <a:txBody>
                    <a:bodyPr/>
                    <a:lstStyle/>
                    <a:p>
                      <a:r>
                        <a:rPr sz="1950" b="0">
                          <a:solidFill>
                            <a:srgbClr val="26333C"/>
                          </a:solidFill>
                          <a:latin typeface="Noto Sans"/>
                          <a:ea typeface="Noto Sans"/>
                          <a:cs typeface="Noto Sans"/>
                        </a:rPr>
                        <a:t>Selected LLM</a:t>
                      </a:r>
                    </a:p>
                  </a:txBody>
                  <a:tcPr marL="95250" marR="95250" marT="57150" marB="57150">
                    <a:solidFill>
                      <a:srgbClr val="F3F0E7"/>
                    </a:solidFill>
                  </a:tcPr>
                </a:tc>
                <a:tc>
                  <a:txBody>
                    <a:bodyPr/>
                    <a:lstStyle/>
                    <a:p>
                      <a:r>
                        <a:rPr sz="1950" b="0">
                          <a:solidFill>
                            <a:srgbClr val="26333C"/>
                          </a:solidFill>
                          <a:latin typeface="Noto Sans"/>
                          <a:ea typeface="Noto Sans"/>
                          <a:cs typeface="Noto Sans"/>
                        </a:rPr>
                        <a:t>CONTINUE</a:t>
                      </a:r>
                    </a:p>
                  </a:txBody>
                  <a:tcPr marL="95250" marR="95250" marT="57150" marB="57150">
                    <a:solidFill>
                      <a:srgbClr val="F3F0E7"/>
                    </a:solidFill>
                  </a:tcPr>
                </a:tc>
              </a:tr>
            </a:tbl>
          </a:graphicData>
        </a:graphic>
      </p:graphicFrame>
      <p:sp>
        <p:nvSpPr>
          <p:cNvPr id="12" name="">
            <a:extLst xmlns:a="http://schemas.openxmlformats.org/drawingml/2006/main">
              <a:ext uri="{FF2B5EF4-FFF2-40B4-BE49-F238E27FC236}">
                <a16:creationId xmlns:a16="http://schemas.microsoft.com/office/drawing/2014/main" id="{01FE9498-CC46-40E5-93F2-548F9A214E5A}"/>
              </a:ext>
            </a:extLst>
          </p:cNvPr>
          <p:cNvSpPr>
            <a:spLocks xmlns:a="http://schemas.openxmlformats.org/drawingml/2006/main" noGrp="1"/>
          </p:cNvSpPr>
          <p:nvPr/>
        </p:nvSpPr>
        <p:spPr>
          <a:xfrm xmlns:a="http://schemas.openxmlformats.org/drawingml/2006/main">
            <a:off x="6457950" y="538162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2577A"/>
                </a:solidFill>
                <a:latin typeface="Rubik"/>
                <a:ea typeface="Rubik"/>
                <a:cs typeface="Rubik"/>
              </a:defRPr>
            </a:pPr>
            <a:r>
              <a:rPr sz="2175" b="1">
                <a:solidFill>
                  <a:srgbClr val="22577A"/>
                </a:solidFill>
                <a:latin typeface="Rubik"/>
                <a:ea typeface="Rubik"/>
                <a:cs typeface="Rubik"/>
              </a:rPr>
              <a:t>LLM median 3.20s</a:t>
            </a:r>
          </a:p>
        </p:txBody>
      </p:sp>
      <p:sp>
        <p:nvSpPr>
          <p:cNvPr id="13" name="">
            <a:extLst xmlns:a="http://schemas.openxmlformats.org/drawingml/2006/main">
              <a:ext uri="{FF2B5EF4-FFF2-40B4-BE49-F238E27FC236}">
                <a16:creationId xmlns:a16="http://schemas.microsoft.com/office/drawing/2014/main" id="{8E293722-DCCB-4F2E-A792-ED33392700DC}"/>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Three repetitions on nine tuning recordings. LLM 95th percentile: 6.34s after eligibility.</a:t>
            </a:r>
          </a:p>
        </p:txBody>
      </p:sp>
    </p:spTree>
    <p:extLst>
      <p:ext uri="{BB962C8B-B14F-4D97-AF65-F5344CB8AC3E}">
        <p14:creationId xmlns:p14="http://schemas.microsoft.com/office/powerpoint/2010/main" val="5489194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EDEF63-BD58-4F0C-B534-7935177A39EA}"/>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A61E79-B64F-4141-B662-CD90B822F8FB}"/>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2DEE37F-DD65-4685-9BAC-18DB6EB23339}"/>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Rubik"/>
                <a:ea typeface="Rubik"/>
                <a:cs typeface="Rubik"/>
              </a:defRPr>
            </a:pPr>
            <a:r>
              <a:rPr sz="3300" b="1">
                <a:solidFill>
                  <a:srgbClr val="FFFFFF"/>
                </a:solidFill>
                <a:latin typeface="Rubik"/>
                <a:ea typeface="Rubik"/>
                <a:cs typeface="Rubik"/>
              </a:rPr>
              <a:t>Robot Behaviour Demonstration</a:t>
            </a:r>
          </a:p>
        </p:txBody>
      </p:sp>
      <p:sp>
        <p:nvSpPr>
          <p:cNvPr id="4" name="">
            <a:extLst xmlns:a="http://schemas.openxmlformats.org/drawingml/2006/main">
              <a:ext uri="{FF2B5EF4-FFF2-40B4-BE49-F238E27FC236}">
                <a16:creationId xmlns:a16="http://schemas.microsoft.com/office/drawing/2014/main" id="{797FCC65-FE36-4C0A-B4DD-1CA2EF70C0D4}"/>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Project 59</a:t>
            </a:r>
          </a:p>
        </p:txBody>
      </p:sp>
      <p:sp>
        <p:nvSpPr>
          <p:cNvPr id="5" name="">
            <a:extLst xmlns:a="http://schemas.openxmlformats.org/drawingml/2006/main">
              <a:ext uri="{FF2B5EF4-FFF2-40B4-BE49-F238E27FC236}">
                <a16:creationId xmlns:a16="http://schemas.microsoft.com/office/drawing/2014/main" id="{D9A1F9DF-EBE1-4445-AEBB-21F8DE9D5636}"/>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7</a:t>
            </a:r>
          </a:p>
        </p:txBody>
      </p:sp>
      <p:sp>
        <p:nvSpPr>
          <p:cNvPr id="6" name="Placeholder: VIDEO PLACEHOLDER">
            <a:extLst xmlns:a="http://schemas.openxmlformats.org/drawingml/2006/main">
              <a:ext uri="{FF2B5EF4-FFF2-40B4-BE49-F238E27FC236}">
                <a16:creationId xmlns:a16="http://schemas.microsoft.com/office/drawing/2014/main" id="{EAC18657-36E3-46A5-9ABB-0C96FECFDBB6}"/>
              </a:ext>
            </a:extLst>
          </p:cNvPr>
          <p:cNvSpPr>
            <a:spLocks xmlns:a="http://schemas.openxmlformats.org/drawingml/2006/main" noGrp="1"/>
          </p:cNvSpPr>
          <p:nvPr/>
        </p:nvSpPr>
        <p:spPr>
          <a:xfrm xmlns:a="http://schemas.openxmlformats.org/drawingml/2006/main">
            <a:off x="571500" y="1495425"/>
            <a:ext cx="11001375" cy="3124200"/>
          </a:xfrm>
          <a:prstGeom xmlns:a="http://schemas.openxmlformats.org/drawingml/2006/main" prst="roundRect">
            <a:avLst>
              <a:gd name="adj" fmla="val 3659"/>
            </a:avLst>
          </a:prstGeom>
          <a:solidFill xmlns:a="http://schemas.openxmlformats.org/drawingml/2006/main">
            <a:srgbClr val="F3F0E7"/>
          </a:solidFill>
          <a:ln xmlns:a="http://schemas.openxmlformats.org/drawingml/2006/main" w="14288">
            <a:solidFill>
              <a:srgbClr val="AFC4CC"/>
            </a:solidFill>
            <a:prstDash val="dash"/>
          </a:ln>
        </p:spPr>
      </p:sp>
      <p:sp>
        <p:nvSpPr>
          <p:cNvPr id="7" name="">
            <a:extLst xmlns:a="http://schemas.openxmlformats.org/drawingml/2006/main">
              <a:ext uri="{FF2B5EF4-FFF2-40B4-BE49-F238E27FC236}">
                <a16:creationId xmlns:a16="http://schemas.microsoft.com/office/drawing/2014/main" id="{8A291CC5-75C7-43CF-9E32-F5B63D79E58D}"/>
              </a:ext>
            </a:extLst>
          </p:cNvPr>
          <p:cNvSpPr>
            <a:spLocks xmlns:a="http://schemas.openxmlformats.org/drawingml/2006/main" noGrp="1"/>
          </p:cNvSpPr>
          <p:nvPr/>
        </p:nvSpPr>
        <p:spPr>
          <a:xfrm xmlns:a="http://schemas.openxmlformats.org/drawingml/2006/main">
            <a:off x="762000" y="265747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22577A"/>
                </a:solidFill>
                <a:latin typeface="Rubik"/>
                <a:ea typeface="Rubik"/>
                <a:cs typeface="Rubik"/>
              </a:defRPr>
            </a:pPr>
            <a:r>
              <a:rPr sz="2025" b="1">
                <a:solidFill>
                  <a:srgbClr val="22577A"/>
                </a:solidFill>
                <a:latin typeface="Rubik"/>
                <a:ea typeface="Rubik"/>
                <a:cs typeface="Rubik"/>
              </a:rPr>
              <a:t>VIDEO PLACEHOLDER</a:t>
            </a:r>
          </a:p>
        </p:txBody>
      </p:sp>
      <p:sp>
        <p:nvSpPr>
          <p:cNvPr id="8" name="">
            <a:extLst xmlns:a="http://schemas.openxmlformats.org/drawingml/2006/main">
              <a:ext uri="{FF2B5EF4-FFF2-40B4-BE49-F238E27FC236}">
                <a16:creationId xmlns:a16="http://schemas.microsoft.com/office/drawing/2014/main" id="{0CA0CFC4-C5AE-4E6C-A264-03468BA6D60A}"/>
              </a:ext>
            </a:extLst>
          </p:cNvPr>
          <p:cNvSpPr>
            <a:spLocks xmlns:a="http://schemas.openxmlformats.org/drawingml/2006/main" noGrp="1"/>
          </p:cNvSpPr>
          <p:nvPr/>
        </p:nvSpPr>
        <p:spPr>
          <a:xfrm xmlns:a="http://schemas.openxmlformats.org/drawingml/2006/main">
            <a:off x="781050" y="3171825"/>
            <a:ext cx="105822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37E9D"/>
                </a:solidFill>
                <a:latin typeface="Noto Sans"/>
                <a:ea typeface="Noto Sans"/>
                <a:cs typeface="Noto Sans"/>
              </a:defRPr>
            </a:pPr>
            <a:r>
              <a:rPr sz="1500" b="0">
                <a:solidFill>
                  <a:srgbClr val="437E9D"/>
                </a:solidFill>
                <a:latin typeface="Noto Sans"/>
                <a:ea typeface="Noto Sans"/>
                <a:cs typeface="Noto Sans"/>
              </a:rPr>
              <a:t>15-second montage: route following, approach, greeting and giving space</a:t>
            </a:r>
          </a:p>
        </p:txBody>
      </p:sp>
      <p:sp>
        <p:nvSpPr>
          <p:cNvPr id="9" name="">
            <a:extLst xmlns:a="http://schemas.openxmlformats.org/drawingml/2006/main">
              <a:ext uri="{FF2B5EF4-FFF2-40B4-BE49-F238E27FC236}">
                <a16:creationId xmlns:a16="http://schemas.microsoft.com/office/drawing/2014/main" id="{4A5B7AA0-020C-4656-8D86-A2B7CDF7E2F2}"/>
              </a:ext>
            </a:extLst>
          </p:cNvPr>
          <p:cNvSpPr>
            <a:spLocks xmlns:a="http://schemas.openxmlformats.org/drawingml/2006/main" noGrp="1"/>
          </p:cNvSpPr>
          <p:nvPr/>
        </p:nvSpPr>
        <p:spPr>
          <a:xfrm xmlns:a="http://schemas.openxmlformats.org/drawingml/2006/main">
            <a:off x="619125" y="4972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2577A"/>
                </a:solidFill>
                <a:latin typeface="Rubik"/>
                <a:ea typeface="Rubik"/>
                <a:cs typeface="Rubik"/>
              </a:defRPr>
            </a:pPr>
            <a:r>
              <a:rPr sz="2550" b="1">
                <a:solidFill>
                  <a:srgbClr val="22577A"/>
                </a:solidFill>
                <a:latin typeface="Rubik"/>
                <a:ea typeface="Rubik"/>
                <a:cs typeface="Rubik"/>
              </a:rPr>
              <a:t>Shared evidence made comparison possible</a:t>
            </a:r>
          </a:p>
        </p:txBody>
      </p:sp>
      <p:sp>
        <p:nvSpPr>
          <p:cNvPr id="10" name="">
            <a:extLst xmlns:a="http://schemas.openxmlformats.org/drawingml/2006/main">
              <a:ext uri="{FF2B5EF4-FFF2-40B4-BE49-F238E27FC236}">
                <a16:creationId xmlns:a16="http://schemas.microsoft.com/office/drawing/2014/main" id="{81934BB3-8ACE-4361-A3A4-1059D7631B9A}"/>
              </a:ext>
            </a:extLst>
          </p:cNvPr>
          <p:cNvSpPr>
            <a:spLocks xmlns:a="http://schemas.openxmlformats.org/drawingml/2006/main" noGrp="1"/>
          </p:cNvSpPr>
          <p:nvPr/>
        </p:nvSpPr>
        <p:spPr>
          <a:xfrm xmlns:a="http://schemas.openxmlformats.org/drawingml/2006/main">
            <a:off x="619125" y="54864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6333C"/>
                </a:solidFill>
                <a:latin typeface="Noto Sans"/>
                <a:ea typeface="Noto Sans"/>
                <a:cs typeface="Noto Sans"/>
              </a:defRPr>
            </a:pPr>
            <a:r>
              <a:rPr sz="1950" b="0">
                <a:solidFill>
                  <a:srgbClr val="26333C"/>
                </a:solidFill>
                <a:latin typeface="Noto Sans"/>
                <a:ea typeface="Noto Sans"/>
                <a:cs typeface="Noto Sans"/>
              </a:rPr>
              <a:t>Compact input improved LLM decisions and delay.</a:t>
            </a:r>
          </a:p>
          <a:p xmlns:a="http://schemas.openxmlformats.org/drawingml/2006/main">
            <a:pPr algn="l">
              <a:defRPr sz="1950" b="0">
                <a:solidFill>
                  <a:srgbClr val="26333C"/>
                </a:solidFill>
                <a:latin typeface="Noto Sans"/>
                <a:ea typeface="Noto Sans"/>
                <a:cs typeface="Noto Sans"/>
              </a:defRPr>
            </a:pPr>
            <a:r>
              <a:rPr sz="1950" b="0">
                <a:solidFill>
                  <a:srgbClr val="26333C"/>
                </a:solidFill>
                <a:latin typeface="Noto Sans"/>
                <a:ea typeface="Noto Sans"/>
                <a:cs typeface="Noto Sans"/>
              </a:rPr>
              <a:t>The tuned rule policy remained more reliable on tested first decisions.</a:t>
            </a:r>
          </a:p>
        </p:txBody>
      </p:sp>
    </p:spTree>
    <p:extLst>
      <p:ext uri="{BB962C8B-B14F-4D97-AF65-F5344CB8AC3E}">
        <p14:creationId xmlns:p14="http://schemas.microsoft.com/office/powerpoint/2010/main" val="15036894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809525-01E2-475B-A3F1-E6B9B85CC048}"/>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A68FC1-50B2-46C8-BB82-44596C2FE6A7}"/>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5496E0-6C62-4CB6-82F7-02CCEAC5C3E4}"/>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Appendix: Technical Details and Evidence</a:t>
            </a:r>
          </a:p>
        </p:txBody>
      </p:sp>
      <p:sp>
        <p:nvSpPr>
          <p:cNvPr id="4" name="">
            <a:extLst xmlns:a="http://schemas.openxmlformats.org/drawingml/2006/main">
              <a:ext uri="{FF2B5EF4-FFF2-40B4-BE49-F238E27FC236}">
                <a16:creationId xmlns:a16="http://schemas.microsoft.com/office/drawing/2014/main" id="{BD06096D-4350-4A17-A2A1-536E6D3F87A1}"/>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01</a:t>
            </a:r>
          </a:p>
        </p:txBody>
      </p:sp>
      <p:sp>
        <p:nvSpPr>
          <p:cNvPr id="5" name="">
            <a:extLst xmlns:a="http://schemas.openxmlformats.org/drawingml/2006/main">
              <a:ext uri="{FF2B5EF4-FFF2-40B4-BE49-F238E27FC236}">
                <a16:creationId xmlns:a16="http://schemas.microsoft.com/office/drawing/2014/main" id="{39ACD141-9A15-4DA4-A80E-867E48AC5D97}"/>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8</a:t>
            </a:r>
          </a:p>
        </p:txBody>
      </p:sp>
      <p:graphicFrame>
        <p:nvGraphicFramePr>
          <p:cNvPr id="13" name=""/>
          <p:cNvGraphicFramePr/>
          <p:nvPr/>
        </p:nvGraphicFramePr>
        <p:xfrm>
          <a:off xmlns:a="http://schemas.openxmlformats.org/drawingml/2006/main" x="571500" y="1581150"/>
          <a:ext xmlns:a="http://schemas.openxmlformats.org/drawingml/2006/main" cx="11001375" cy="4048125"/>
        </p:xfrm>
        <a:graphic xmlns:a="http://schemas.openxmlformats.org/drawingml/2006/main">
          <a:graphicData uri="http://schemas.openxmlformats.org/drawingml/2006/table">
            <a:tbl>
              <a:tblPr/>
              <a:tblGrid>
                <a:gridCol w="8001000"/>
                <a:gridCol w="3000375"/>
              </a:tblGrid>
              <a:tr h="578304">
                <a:tc>
                  <a:txBody>
                    <a:bodyPr/>
                    <a:lstStyle/>
                    <a:p>
                      <a:r>
                        <a:rPr sz="1725" b="1">
                          <a:solidFill>
                            <a:srgbClr val="FFFFFF"/>
                          </a:solidFill>
                          <a:latin typeface="Noto Sans"/>
                          <a:ea typeface="Noto Sans"/>
                          <a:cs typeface="Noto Sans"/>
                        </a:rPr>
                        <a:t>Topic</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Slides</a:t>
                      </a:r>
                    </a:p>
                  </a:txBody>
                  <a:tcPr marL="95250" marR="95250" marT="57150" marB="57150">
                    <a:solidFill>
                      <a:srgbClr val="22577A"/>
                    </a:solidFill>
                  </a:tcPr>
                </a:tc>
              </a:tr>
              <a:tr h="578304">
                <a:tc>
                  <a:txBody>
                    <a:bodyPr/>
                    <a:lstStyle/>
                    <a:p>
                      <a:r>
                        <a:rPr sz="2025" b="0">
                          <a:solidFill>
                            <a:srgbClr val="26333C"/>
                          </a:solidFill>
                          <a:latin typeface="Noto Sans"/>
                          <a:ea typeface="Noto Sans"/>
                          <a:cs typeface="Noto Sans"/>
                        </a:rPr>
                        <a:t>Evaluation and human reference</a:t>
                      </a:r>
                    </a:p>
                  </a:txBody>
                  <a:tcPr marL="95250" marR="95250" marT="57150" marB="57150">
                    <a:solidFill>
                      <a:srgbClr val="DDECF2"/>
                    </a:solidFill>
                  </a:tcPr>
                </a:tc>
                <a:tc>
                  <a:txBody>
                    <a:bodyPr/>
                    <a:lstStyle/>
                    <a:p>
                      <a:r>
                        <a:rPr sz="2025" b="0">
                          <a:solidFill>
                            <a:srgbClr val="26333C"/>
                          </a:solidFill>
                          <a:latin typeface="Noto Sans"/>
                          <a:ea typeface="Noto Sans"/>
                          <a:cs typeface="Noto Sans"/>
                        </a:rPr>
                        <a:t>9 to 11</a:t>
                      </a:r>
                    </a:p>
                  </a:txBody>
                  <a:tcPr marL="95250" marR="95250" marT="57150" marB="57150">
                    <a:solidFill>
                      <a:srgbClr val="DDECF2"/>
                    </a:solidFill>
                  </a:tcPr>
                </a:tc>
              </a:tr>
              <a:tr h="578304">
                <a:tc>
                  <a:txBody>
                    <a:bodyPr/>
                    <a:lstStyle/>
                    <a:p>
                      <a:r>
                        <a:rPr sz="2025" b="0">
                          <a:solidFill>
                            <a:srgbClr val="26333C"/>
                          </a:solidFill>
                          <a:latin typeface="Noto Sans"/>
                          <a:ea typeface="Noto Sans"/>
                          <a:cs typeface="Noto Sans"/>
                        </a:rPr>
                        <a:t>Sensors, history and cue calculations</a:t>
                      </a:r>
                    </a:p>
                  </a:txBody>
                  <a:tcPr marL="95250" marR="95250" marT="57150" marB="57150">
                    <a:solidFill>
                      <a:srgbClr val="F3F0E7"/>
                    </a:solidFill>
                  </a:tcPr>
                </a:tc>
                <a:tc>
                  <a:txBody>
                    <a:bodyPr/>
                    <a:lstStyle/>
                    <a:p>
                      <a:r>
                        <a:rPr sz="2025" b="0">
                          <a:solidFill>
                            <a:srgbClr val="26333C"/>
                          </a:solidFill>
                          <a:latin typeface="Noto Sans"/>
                          <a:ea typeface="Noto Sans"/>
                          <a:cs typeface="Noto Sans"/>
                        </a:rPr>
                        <a:t>12 to 18</a:t>
                      </a:r>
                    </a:p>
                  </a:txBody>
                  <a:tcPr marL="95250" marR="95250" marT="57150" marB="57150">
                    <a:solidFill>
                      <a:srgbClr val="F3F0E7"/>
                    </a:solidFill>
                  </a:tcPr>
                </a:tc>
              </a:tr>
              <a:tr h="578304">
                <a:tc>
                  <a:txBody>
                    <a:bodyPr/>
                    <a:lstStyle/>
                    <a:p>
                      <a:r>
                        <a:rPr sz="2025" b="0">
                          <a:solidFill>
                            <a:srgbClr val="26333C"/>
                          </a:solidFill>
                          <a:latin typeface="Noto Sans"/>
                          <a:ea typeface="Noto Sans"/>
                          <a:cs typeface="Noto Sans"/>
                        </a:rPr>
                        <a:t>Rule policy and target locking</a:t>
                      </a:r>
                    </a:p>
                  </a:txBody>
                  <a:tcPr marL="95250" marR="95250" marT="57150" marB="57150">
                    <a:solidFill>
                      <a:srgbClr val="DDECF2"/>
                    </a:solidFill>
                  </a:tcPr>
                </a:tc>
                <a:tc>
                  <a:txBody>
                    <a:bodyPr/>
                    <a:lstStyle/>
                    <a:p>
                      <a:r>
                        <a:rPr sz="2025" b="0">
                          <a:solidFill>
                            <a:srgbClr val="26333C"/>
                          </a:solidFill>
                          <a:latin typeface="Noto Sans"/>
                          <a:ea typeface="Noto Sans"/>
                          <a:cs typeface="Noto Sans"/>
                        </a:rPr>
                        <a:t>19 to 23</a:t>
                      </a:r>
                    </a:p>
                  </a:txBody>
                  <a:tcPr marL="95250" marR="95250" marT="57150" marB="57150">
                    <a:solidFill>
                      <a:srgbClr val="DDECF2"/>
                    </a:solidFill>
                  </a:tcPr>
                </a:tc>
              </a:tr>
              <a:tr h="578304">
                <a:tc>
                  <a:txBody>
                    <a:bodyPr/>
                    <a:lstStyle/>
                    <a:p>
                      <a:r>
                        <a:rPr sz="2025" b="0">
                          <a:solidFill>
                            <a:srgbClr val="26333C"/>
                          </a:solidFill>
                          <a:latin typeface="Noto Sans"/>
                          <a:ea typeface="Noto Sans"/>
                          <a:cs typeface="Noto Sans"/>
                        </a:rPr>
                        <a:t>Shared input and LLM instructions</a:t>
                      </a:r>
                    </a:p>
                  </a:txBody>
                  <a:tcPr marL="95250" marR="95250" marT="57150" marB="57150">
                    <a:solidFill>
                      <a:srgbClr val="F3F0E7"/>
                    </a:solidFill>
                  </a:tcPr>
                </a:tc>
                <a:tc>
                  <a:txBody>
                    <a:bodyPr/>
                    <a:lstStyle/>
                    <a:p>
                      <a:r>
                        <a:rPr sz="2025" b="0">
                          <a:solidFill>
                            <a:srgbClr val="26333C"/>
                          </a:solidFill>
                          <a:latin typeface="Noto Sans"/>
                          <a:ea typeface="Noto Sans"/>
                          <a:cs typeface="Noto Sans"/>
                        </a:rPr>
                        <a:t>24 to 26 and 36</a:t>
                      </a:r>
                    </a:p>
                  </a:txBody>
                  <a:tcPr marL="95250" marR="95250" marT="57150" marB="57150">
                    <a:solidFill>
                      <a:srgbClr val="F3F0E7"/>
                    </a:solidFill>
                  </a:tcPr>
                </a:tc>
              </a:tr>
              <a:tr h="578304">
                <a:tc>
                  <a:txBody>
                    <a:bodyPr/>
                    <a:lstStyle/>
                    <a:p>
                      <a:r>
                        <a:rPr sz="2025" b="0">
                          <a:solidFill>
                            <a:srgbClr val="26333C"/>
                          </a:solidFill>
                          <a:latin typeface="Noto Sans"/>
                          <a:ea typeface="Noto Sans"/>
                          <a:cs typeface="Noto Sans"/>
                        </a:rPr>
                        <a:t>Refinement results and model comparison</a:t>
                      </a:r>
                    </a:p>
                  </a:txBody>
                  <a:tcPr marL="95250" marR="95250" marT="57150" marB="57150">
                    <a:solidFill>
                      <a:srgbClr val="DDECF2"/>
                    </a:solidFill>
                  </a:tcPr>
                </a:tc>
                <a:tc>
                  <a:txBody>
                    <a:bodyPr/>
                    <a:lstStyle/>
                    <a:p>
                      <a:r>
                        <a:rPr sz="2025" b="0">
                          <a:solidFill>
                            <a:srgbClr val="26333C"/>
                          </a:solidFill>
                          <a:latin typeface="Noto Sans"/>
                          <a:ea typeface="Noto Sans"/>
                          <a:cs typeface="Noto Sans"/>
                        </a:rPr>
                        <a:t>27 to 32 and 35</a:t>
                      </a:r>
                    </a:p>
                  </a:txBody>
                  <a:tcPr marL="95250" marR="95250" marT="57150" marB="57150">
                    <a:solidFill>
                      <a:srgbClr val="DDECF2"/>
                    </a:solidFill>
                  </a:tcPr>
                </a:tc>
              </a:tr>
              <a:tr h="578304">
                <a:tc>
                  <a:txBody>
                    <a:bodyPr/>
                    <a:lstStyle/>
                    <a:p>
                      <a:r>
                        <a:rPr sz="2025" b="0">
                          <a:solidFill>
                            <a:srgbClr val="26333C"/>
                          </a:solidFill>
                          <a:latin typeface="Noto Sans"/>
                          <a:ea typeface="Noto Sans"/>
                          <a:cs typeface="Noto Sans"/>
                        </a:rPr>
                        <a:t>Final configuration and research limits</a:t>
                      </a:r>
                    </a:p>
                  </a:txBody>
                  <a:tcPr marL="95250" marR="95250" marT="57150" marB="57150">
                    <a:solidFill>
                      <a:srgbClr val="F3F0E7"/>
                    </a:solidFill>
                  </a:tcPr>
                </a:tc>
                <a:tc>
                  <a:txBody>
                    <a:bodyPr/>
                    <a:lstStyle/>
                    <a:p>
                      <a:r>
                        <a:rPr sz="2025" b="0">
                          <a:solidFill>
                            <a:srgbClr val="26333C"/>
                          </a:solidFill>
                          <a:latin typeface="Noto Sans"/>
                          <a:ea typeface="Noto Sans"/>
                          <a:cs typeface="Noto Sans"/>
                        </a:rPr>
                        <a:t>33 to 34</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556CB84A-76F7-401B-BB85-1DA75FE83B1B}"/>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Tables, figures and diagrams are editable. Photo and video frames are labelled placeholders.</a:t>
            </a:r>
          </a:p>
        </p:txBody>
      </p:sp>
    </p:spTree>
    <p:extLst>
      <p:ext uri="{BB962C8B-B14F-4D97-AF65-F5344CB8AC3E}">
        <p14:creationId xmlns:p14="http://schemas.microsoft.com/office/powerpoint/2010/main" val="12671704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14D2B0-6258-4807-BDD8-E8743BECC4A6}"/>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14B136-CE2E-4292-90B5-7C29A140B41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B42B8A-DFFE-4B60-9B45-FF69F05247F8}"/>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Frozen First-Decision Evaluation</a:t>
            </a:r>
          </a:p>
        </p:txBody>
      </p:sp>
      <p:sp>
        <p:nvSpPr>
          <p:cNvPr id="4" name="">
            <a:extLst xmlns:a="http://schemas.openxmlformats.org/drawingml/2006/main">
              <a:ext uri="{FF2B5EF4-FFF2-40B4-BE49-F238E27FC236}">
                <a16:creationId xmlns:a16="http://schemas.microsoft.com/office/drawing/2014/main" id="{2A2239FE-51E0-4A76-A4F6-16EB302E9AB0}"/>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02</a:t>
            </a:r>
          </a:p>
        </p:txBody>
      </p:sp>
      <p:sp>
        <p:nvSpPr>
          <p:cNvPr id="5" name="">
            <a:extLst xmlns:a="http://schemas.openxmlformats.org/drawingml/2006/main">
              <a:ext uri="{FF2B5EF4-FFF2-40B4-BE49-F238E27FC236}">
                <a16:creationId xmlns:a16="http://schemas.microsoft.com/office/drawing/2014/main" id="{73DA4EFF-0DA0-4C66-944F-10BBB307C47D}"/>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9</a:t>
            </a:r>
          </a:p>
        </p:txBody>
      </p:sp>
      <p:graphicFrame>
        <p:nvGraphicFramePr>
          <p:cNvPr id="13" name=""/>
          <p:cNvGraphicFramePr/>
          <p:nvPr/>
        </p:nvGraphicFramePr>
        <p:xfrm>
          <a:off xmlns:a="http://schemas.openxmlformats.org/drawingml/2006/main" x="571500" y="1447800"/>
          <a:ext xmlns:a="http://schemas.openxmlformats.org/drawingml/2006/main" cx="11001375" cy="4191000"/>
        </p:xfrm>
        <a:graphic xmlns:a="http://schemas.openxmlformats.org/drawingml/2006/main">
          <a:graphicData uri="http://schemas.openxmlformats.org/drawingml/2006/table">
            <a:tbl>
              <a:tblPr/>
              <a:tblGrid>
                <a:gridCol w="1000125"/>
                <a:gridCol w="3762375"/>
                <a:gridCol w="1666875"/>
                <a:gridCol w="1666875"/>
                <a:gridCol w="2905125"/>
              </a:tblGrid>
              <a:tr h="419100">
                <a:tc>
                  <a:txBody>
                    <a:bodyPr/>
                    <a:lstStyle/>
                    <a:p>
                      <a:r>
                        <a:rPr sz="1650" b="1">
                          <a:solidFill>
                            <a:srgbClr val="FFFFFF"/>
                          </a:solidFill>
                          <a:latin typeface="Noto Sans"/>
                          <a:ea typeface="Noto Sans"/>
                          <a:cs typeface="Noto Sans"/>
                        </a:rPr>
                        <a:t>Scenario</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Allowed first actions</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Rules</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LLM</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Eligible after motion</a:t>
                      </a:r>
                    </a:p>
                  </a:txBody>
                  <a:tcPr marL="95250" marR="95250" marT="57150" marB="57150">
                    <a:solidFill>
                      <a:srgbClr val="22577A"/>
                    </a:solidFill>
                  </a:tcPr>
                </a:tc>
              </a:tr>
              <a:tr h="419100">
                <a:tc>
                  <a:txBody>
                    <a:bodyPr/>
                    <a:lstStyle/>
                    <a:p>
                      <a:r>
                        <a:rPr sz="1650" b="0">
                          <a:solidFill>
                            <a:srgbClr val="26333C"/>
                          </a:solidFill>
                          <a:latin typeface="Noto Sans"/>
                          <a:ea typeface="Noto Sans"/>
                          <a:cs typeface="Noto Sans"/>
                        </a:rPr>
                        <a:t>S1</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1.18s</a:t>
                      </a:r>
                    </a:p>
                  </a:txBody>
                  <a:tcPr marL="95250" marR="95250" marT="57150" marB="57150">
                    <a:solidFill>
                      <a:srgbClr val="DDECF2"/>
                    </a:solidFill>
                  </a:tcPr>
                </a:tc>
              </a:tr>
              <a:tr h="419100">
                <a:tc>
                  <a:txBody>
                    <a:bodyPr/>
                    <a:lstStyle/>
                    <a:p>
                      <a:r>
                        <a:rPr sz="1650" b="0">
                          <a:solidFill>
                            <a:srgbClr val="26333C"/>
                          </a:solidFill>
                          <a:latin typeface="Noto Sans"/>
                          <a:ea typeface="Noto Sans"/>
                          <a:cs typeface="Noto Sans"/>
                        </a:rPr>
                        <a:t>S2</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APPROACH</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APPROACH</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APPROACH</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1.10s</a:t>
                      </a:r>
                    </a:p>
                  </a:txBody>
                  <a:tcPr marL="95250" marR="95250" marT="57150" marB="57150">
                    <a:solidFill>
                      <a:srgbClr val="F3F0E7"/>
                    </a:solidFill>
                  </a:tcPr>
                </a:tc>
              </a:tr>
              <a:tr h="419100">
                <a:tc>
                  <a:txBody>
                    <a:bodyPr/>
                    <a:lstStyle/>
                    <a:p>
                      <a:r>
                        <a:rPr sz="1650" b="0">
                          <a:solidFill>
                            <a:srgbClr val="26333C"/>
                          </a:solidFill>
                          <a:latin typeface="Noto Sans"/>
                          <a:ea typeface="Noto Sans"/>
                          <a:cs typeface="Noto Sans"/>
                        </a:rPr>
                        <a:t>S3</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ENGAGE / APPROACH</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ENGAGE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ENGAGE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1.21s</a:t>
                      </a:r>
                    </a:p>
                  </a:txBody>
                  <a:tcPr marL="95250" marR="95250" marT="57150" marB="57150">
                    <a:solidFill>
                      <a:srgbClr val="DDECF2"/>
                    </a:solidFill>
                  </a:tcPr>
                </a:tc>
              </a:tr>
              <a:tr h="419100">
                <a:tc>
                  <a:txBody>
                    <a:bodyPr/>
                    <a:lstStyle/>
                    <a:p>
                      <a:r>
                        <a:rPr sz="1650" b="0">
                          <a:solidFill>
                            <a:srgbClr val="26333C"/>
                          </a:solidFill>
                          <a:latin typeface="Noto Sans"/>
                          <a:ea typeface="Noto Sans"/>
                          <a:cs typeface="Noto Sans"/>
                        </a:rPr>
                        <a:t>S4</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YIELD</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YIELD</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1.10s</a:t>
                      </a:r>
                    </a:p>
                  </a:txBody>
                  <a:tcPr marL="95250" marR="95250" marT="57150" marB="57150">
                    <a:solidFill>
                      <a:srgbClr val="F3F0E7"/>
                    </a:solidFill>
                  </a:tcPr>
                </a:tc>
              </a:tr>
              <a:tr h="419100">
                <a:tc>
                  <a:txBody>
                    <a:bodyPr/>
                    <a:lstStyle/>
                    <a:p>
                      <a:r>
                        <a:rPr sz="1650" b="0">
                          <a:solidFill>
                            <a:srgbClr val="26333C"/>
                          </a:solidFill>
                          <a:latin typeface="Noto Sans"/>
                          <a:ea typeface="Noto Sans"/>
                          <a:cs typeface="Noto Sans"/>
                        </a:rPr>
                        <a:t>S5</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1.17s</a:t>
                      </a:r>
                    </a:p>
                  </a:txBody>
                  <a:tcPr marL="95250" marR="95250" marT="57150" marB="57150">
                    <a:solidFill>
                      <a:srgbClr val="DDECF2"/>
                    </a:solidFill>
                  </a:tcPr>
                </a:tc>
              </a:tr>
              <a:tr h="419100">
                <a:tc>
                  <a:txBody>
                    <a:bodyPr/>
                    <a:lstStyle/>
                    <a:p>
                      <a:r>
                        <a:rPr sz="1650" b="0">
                          <a:solidFill>
                            <a:srgbClr val="26333C"/>
                          </a:solidFill>
                          <a:latin typeface="Noto Sans"/>
                          <a:ea typeface="Noto Sans"/>
                          <a:cs typeface="Noto Sans"/>
                        </a:rPr>
                        <a:t>S6</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1.11s</a:t>
                      </a:r>
                    </a:p>
                  </a:txBody>
                  <a:tcPr marL="95250" marR="95250" marT="57150" marB="57150">
                    <a:solidFill>
                      <a:srgbClr val="F3F0E7"/>
                    </a:solidFill>
                  </a:tcPr>
                </a:tc>
              </a:tr>
              <a:tr h="419100">
                <a:tc>
                  <a:txBody>
                    <a:bodyPr/>
                    <a:lstStyle/>
                    <a:p>
                      <a:r>
                        <a:rPr sz="1650" b="0">
                          <a:solidFill>
                            <a:srgbClr val="26333C"/>
                          </a:solidFill>
                          <a:latin typeface="Noto Sans"/>
                          <a:ea typeface="Noto Sans"/>
                          <a:cs typeface="Noto Sans"/>
                        </a:rPr>
                        <a:t>S7</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1.71s</a:t>
                      </a:r>
                    </a:p>
                  </a:txBody>
                  <a:tcPr marL="95250" marR="95250" marT="57150" marB="57150">
                    <a:solidFill>
                      <a:srgbClr val="DDECF2"/>
                    </a:solidFill>
                  </a:tcPr>
                </a:tc>
              </a:tr>
              <a:tr h="419100">
                <a:tc>
                  <a:txBody>
                    <a:bodyPr/>
                    <a:lstStyle/>
                    <a:p>
                      <a:r>
                        <a:rPr sz="1650" b="0">
                          <a:solidFill>
                            <a:srgbClr val="26333C"/>
                          </a:solidFill>
                          <a:latin typeface="Noto Sans"/>
                          <a:ea typeface="Noto Sans"/>
                          <a:cs typeface="Noto Sans"/>
                        </a:rPr>
                        <a:t>S8</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APPROACH / ENGAGE / CONTINUE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CONTINUE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1.17s</a:t>
                      </a:r>
                    </a:p>
                  </a:txBody>
                  <a:tcPr marL="95250" marR="95250" marT="57150" marB="57150">
                    <a:solidFill>
                      <a:srgbClr val="F3F0E7"/>
                    </a:solidFill>
                  </a:tcPr>
                </a:tc>
              </a:tr>
              <a:tr h="419100">
                <a:tc>
                  <a:txBody>
                    <a:bodyPr/>
                    <a:lstStyle/>
                    <a:p>
                      <a:r>
                        <a:rPr sz="1650" b="0">
                          <a:solidFill>
                            <a:srgbClr val="26333C"/>
                          </a:solidFill>
                          <a:latin typeface="Noto Sans"/>
                          <a:ea typeface="Noto Sans"/>
                          <a:cs typeface="Noto Sans"/>
                        </a:rPr>
                        <a:t>S9</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APPROACH</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APPROACH</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APPROACH</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1.14s</a:t>
                      </a:r>
                    </a:p>
                  </a:txBody>
                  <a:tcPr marL="95250" marR="95250" marT="57150" marB="57150">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5329561C-D451-4E39-B27A-D3E115CA5E45}"/>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S8 first uses an empty scene. These expected-action labels are evaluator metadata and never enter policy input.</a:t>
            </a:r>
          </a:p>
        </p:txBody>
      </p:sp>
    </p:spTree>
    <p:extLst>
      <p:ext uri="{BB962C8B-B14F-4D97-AF65-F5344CB8AC3E}">
        <p14:creationId xmlns:p14="http://schemas.microsoft.com/office/powerpoint/2010/main" val="6145844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A4D15C-1869-41A8-8FA6-F55013FEF481}"/>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055876-3DA8-4204-B748-81A21C1B4295}"/>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56B73B-810E-48C4-94D5-E03C1EA11CA3}"/>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Human Reference: Available Evidence</a:t>
            </a:r>
          </a:p>
        </p:txBody>
      </p:sp>
      <p:sp>
        <p:nvSpPr>
          <p:cNvPr id="4" name="">
            <a:extLst xmlns:a="http://schemas.openxmlformats.org/drawingml/2006/main">
              <a:ext uri="{FF2B5EF4-FFF2-40B4-BE49-F238E27FC236}">
                <a16:creationId xmlns:a16="http://schemas.microsoft.com/office/drawing/2014/main" id="{0E90995E-5D6C-42B0-AB37-2184EDA124AB}"/>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03</a:t>
            </a:r>
          </a:p>
        </p:txBody>
      </p:sp>
      <p:sp>
        <p:nvSpPr>
          <p:cNvPr id="5" name="">
            <a:extLst xmlns:a="http://schemas.openxmlformats.org/drawingml/2006/main">
              <a:ext uri="{FF2B5EF4-FFF2-40B4-BE49-F238E27FC236}">
                <a16:creationId xmlns:a16="http://schemas.microsoft.com/office/drawing/2014/main" id="{D24CA42B-3526-4594-B74A-F98C2C4911C3}"/>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10</a:t>
            </a:r>
          </a:p>
        </p:txBody>
      </p:sp>
      <p:graphicFrame>
        <p:nvGraphicFramePr>
          <p:cNvPr id="14" name=""/>
          <p:cNvGraphicFramePr/>
          <p:nvPr/>
        </p:nvGraphicFramePr>
        <p:xfrm>
          <a:off xmlns:a="http://schemas.openxmlformats.org/drawingml/2006/main" x="571500" y="1476375"/>
          <a:ext xmlns:a="http://schemas.openxmlformats.org/drawingml/2006/main" cx="11001375" cy="3105150"/>
        </p:xfrm>
        <a:graphic xmlns:a="http://schemas.openxmlformats.org/drawingml/2006/main">
          <a:graphicData uri="http://schemas.openxmlformats.org/drawingml/2006/table">
            <a:tbl>
              <a:tblPr/>
              <a:tblGrid>
                <a:gridCol w="3905250"/>
                <a:gridCol w="7096125"/>
              </a:tblGrid>
              <a:tr h="517525">
                <a:tc>
                  <a:txBody>
                    <a:bodyPr/>
                    <a:lstStyle/>
                    <a:p>
                      <a:r>
                        <a:rPr sz="1725" b="1">
                          <a:solidFill>
                            <a:srgbClr val="FFFFFF"/>
                          </a:solidFill>
                          <a:latin typeface="Noto Sans"/>
                          <a:ea typeface="Noto Sans"/>
                          <a:cs typeface="Noto Sans"/>
                        </a:rPr>
                        <a:t>Reference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Status</a:t>
                      </a:r>
                    </a:p>
                  </a:txBody>
                  <a:tcPr marL="95250" marR="95250" marT="57150" marB="57150">
                    <a:solidFill>
                      <a:srgbClr val="22577A"/>
                    </a:solidFill>
                  </a:tcPr>
                </a:tc>
              </a:tr>
              <a:tr h="517525">
                <a:tc>
                  <a:txBody>
                    <a:bodyPr/>
                    <a:lstStyle/>
                    <a:p>
                      <a:r>
                        <a:rPr sz="1800" b="0">
                          <a:solidFill>
                            <a:srgbClr val="26333C"/>
                          </a:solidFill>
                          <a:latin typeface="Noto Sans"/>
                          <a:ea typeface="Noto Sans"/>
                          <a:cs typeface="Noto Sans"/>
                        </a:rPr>
                        <a:t>Historical source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37 responses per scenario, verified</a:t>
                      </a:r>
                    </a:p>
                  </a:txBody>
                  <a:tcPr marL="95250" marR="95250" marT="57150" marB="57150">
                    <a:solidFill>
                      <a:srgbClr val="DDECF2"/>
                    </a:solidFill>
                  </a:tcPr>
                </a:tc>
              </a:tr>
              <a:tr h="517525">
                <a:tc>
                  <a:txBody>
                    <a:bodyPr/>
                    <a:lstStyle/>
                    <a:p>
                      <a:r>
                        <a:rPr sz="1800" b="0">
                          <a:solidFill>
                            <a:srgbClr val="26333C"/>
                          </a:solidFill>
                          <a:latin typeface="Noto Sans"/>
                          <a:ea typeface="Noto Sans"/>
                          <a:cs typeface="Noto Sans"/>
                        </a:rPr>
                        <a:t>Later workbook update</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42 expected, source unavailable/unverified</a:t>
                      </a:r>
                    </a:p>
                  </a:txBody>
                  <a:tcPr marL="95250" marR="95250" marT="57150" marB="57150">
                    <a:solidFill>
                      <a:srgbClr val="F3F0E7"/>
                    </a:solidFill>
                  </a:tcPr>
                </a:tc>
              </a:tr>
              <a:tr h="517525">
                <a:tc>
                  <a:txBody>
                    <a:bodyPr/>
                    <a:lstStyle/>
                    <a:p>
                      <a:r>
                        <a:rPr sz="1800" b="0">
                          <a:solidFill>
                            <a:srgbClr val="26333C"/>
                          </a:solidFill>
                          <a:latin typeface="Noto Sans"/>
                          <a:ea typeface="Noto Sans"/>
                          <a:cs typeface="Noto Sans"/>
                        </a:rPr>
                        <a:t>Survey decision point</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Immediate next action at clip end</a:t>
                      </a:r>
                    </a:p>
                  </a:txBody>
                  <a:tcPr marL="95250" marR="95250" marT="57150" marB="57150">
                    <a:solidFill>
                      <a:srgbClr val="DDECF2"/>
                    </a:solidFill>
                  </a:tcPr>
                </a:tc>
              </a:tr>
              <a:tr h="517525">
                <a:tc>
                  <a:txBody>
                    <a:bodyPr/>
                    <a:lstStyle/>
                    <a:p>
                      <a:r>
                        <a:rPr sz="1800" b="0">
                          <a:solidFill>
                            <a:srgbClr val="26333C"/>
                          </a:solidFill>
                          <a:latin typeface="Noto Sans"/>
                          <a:ea typeface="Noto Sans"/>
                          <a:cs typeface="Noto Sans"/>
                        </a:rPr>
                        <a:t>Operational decision point</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First eligible observation</a:t>
                      </a:r>
                    </a:p>
                  </a:txBody>
                  <a:tcPr marL="95250" marR="95250" marT="57150" marB="57150">
                    <a:solidFill>
                      <a:srgbClr val="F3F0E7"/>
                    </a:solidFill>
                  </a:tcPr>
                </a:tc>
              </a:tr>
              <a:tr h="517525">
                <a:tc>
                  <a:txBody>
                    <a:bodyPr/>
                    <a:lstStyle/>
                    <a:p>
                      <a:r>
                        <a:rPr sz="1800" b="0">
                          <a:solidFill>
                            <a:srgbClr val="26333C"/>
                          </a:solidFill>
                          <a:latin typeface="Noto Sans"/>
                          <a:ea typeface="Noto Sans"/>
                          <a:cs typeface="Noto Sans"/>
                        </a:rPr>
                        <a:t>Direct survey-end scoring</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Clip-to-sensor mapping unverified</a:t>
                      </a:r>
                    </a:p>
                  </a:txBody>
                  <a:tcPr marL="95250" marR="95250" marT="57150" marB="57150">
                    <a:solidFill>
                      <a:srgbClr val="DDECF2"/>
                    </a:solidFill>
                  </a:tcPr>
                </a:tc>
              </a:tr>
            </a:tbl>
          </a:graphicData>
        </a:graphic>
      </p:graphicFrame>
      <p:graphicFrame>
        <p:nvGraphicFramePr>
          <p:cNvPr id="15" name=""/>
          <p:cNvGraphicFramePr/>
          <p:nvPr/>
        </p:nvGraphicFramePr>
        <p:xfrm>
          <a:off xmlns:a="http://schemas.openxmlformats.org/drawingml/2006/main" x="571500" y="4857750"/>
          <a:ext xmlns:a="http://schemas.openxmlformats.org/drawingml/2006/main" cx="11001375" cy="1152525"/>
        </p:xfrm>
        <a:graphic xmlns:a="http://schemas.openxmlformats.org/drawingml/2006/main">
          <a:graphicData uri="http://schemas.openxmlformats.org/drawingml/2006/table">
            <a:tbl>
              <a:tblPr/>
              <a:tblGrid>
                <a:gridCol w="5667375"/>
                <a:gridCol w="2667000"/>
                <a:gridCol w="2667000"/>
              </a:tblGrid>
              <a:tr h="384175">
                <a:tc>
                  <a:txBody>
                    <a:bodyPr/>
                    <a:lstStyle/>
                    <a:p>
                      <a:r>
                        <a:rPr sz="1725" b="1">
                          <a:solidFill>
                            <a:srgbClr val="FFFFFF"/>
                          </a:solidFill>
                          <a:latin typeface="Noto Sans"/>
                          <a:ea typeface="Noto Sans"/>
                          <a:cs typeface="Noto Sans"/>
                        </a:rPr>
                        <a:t>Historical S3 example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YIELD</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ENGAGE</a:t>
                      </a:r>
                    </a:p>
                  </a:txBody>
                  <a:tcPr marL="95250" marR="95250" marT="57150" marB="57150">
                    <a:solidFill>
                      <a:srgbClr val="22577A"/>
                    </a:solidFill>
                  </a:tcPr>
                </a:tc>
              </a:tr>
              <a:tr h="384175">
                <a:tc>
                  <a:txBody>
                    <a:bodyPr/>
                    <a:lstStyle/>
                    <a:p>
                      <a:r>
                        <a:rPr sz="1800" b="0">
                          <a:solidFill>
                            <a:srgbClr val="26333C"/>
                          </a:solidFill>
                          <a:latin typeface="Noto Sans"/>
                          <a:ea typeface="Noto Sans"/>
                          <a:cs typeface="Noto Sans"/>
                        </a:rPr>
                        <a:t>Preferred-action votes</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18</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12</a:t>
                      </a:r>
                    </a:p>
                  </a:txBody>
                  <a:tcPr marL="95250" marR="95250" marT="57150" marB="57150">
                    <a:solidFill>
                      <a:srgbClr val="DDECF2"/>
                    </a:solidFill>
                  </a:tcPr>
                </a:tc>
              </a:tr>
              <a:tr h="384175">
                <a:tc>
                  <a:txBody>
                    <a:bodyPr/>
                    <a:lstStyle/>
                    <a:p>
                      <a:r>
                        <a:rPr sz="1800" b="0">
                          <a:solidFill>
                            <a:srgbClr val="26333C"/>
                          </a:solidFill>
                          <a:latin typeface="Noto Sans"/>
                          <a:ea typeface="Noto Sans"/>
                          <a:cs typeface="Noto Sans"/>
                        </a:rPr>
                        <a:t>Mean appropriateness</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3.57</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3.78</a:t>
                      </a:r>
                    </a:p>
                  </a:txBody>
                  <a:tcPr marL="95250" marR="95250" marT="57150" marB="57150">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70D13570-533C-4CEE-A9B2-544B8E2C89D2}"/>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Human preference and mean appropriateness can disagree. Current 9/9 and 8/9 scores use expected first actions.</a:t>
            </a:r>
          </a:p>
        </p:txBody>
      </p:sp>
    </p:spTree>
    <p:extLst>
      <p:ext uri="{BB962C8B-B14F-4D97-AF65-F5344CB8AC3E}">
        <p14:creationId xmlns:p14="http://schemas.microsoft.com/office/powerpoint/2010/main" val="14225306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0FF727-90A3-4E65-B011-ADC6BB961B16}"/>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48ACB9-AE0F-4AFA-91FD-C6F3579EAEB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C6FF27-B3A1-424C-A3BD-FFA9B0411EA8}"/>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Metric Definitions and Timing Origins</a:t>
            </a:r>
          </a:p>
        </p:txBody>
      </p:sp>
      <p:sp>
        <p:nvSpPr>
          <p:cNvPr id="4" name="">
            <a:extLst xmlns:a="http://schemas.openxmlformats.org/drawingml/2006/main">
              <a:ext uri="{FF2B5EF4-FFF2-40B4-BE49-F238E27FC236}">
                <a16:creationId xmlns:a16="http://schemas.microsoft.com/office/drawing/2014/main" id="{974D5790-9B9A-47FB-8CD1-504E0F604B87}"/>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04</a:t>
            </a:r>
          </a:p>
        </p:txBody>
      </p:sp>
      <p:sp>
        <p:nvSpPr>
          <p:cNvPr id="5" name="">
            <a:extLst xmlns:a="http://schemas.openxmlformats.org/drawingml/2006/main">
              <a:ext uri="{FF2B5EF4-FFF2-40B4-BE49-F238E27FC236}">
                <a16:creationId xmlns:a16="http://schemas.microsoft.com/office/drawing/2014/main" id="{D3B01C84-629A-4119-B537-ED109FF75F43}"/>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11</a:t>
            </a:r>
          </a:p>
        </p:txBody>
      </p:sp>
      <p:graphicFrame>
        <p:nvGraphicFramePr>
          <p:cNvPr id="15" name=""/>
          <p:cNvGraphicFramePr/>
          <p:nvPr/>
        </p:nvGraphicFramePr>
        <p:xfrm>
          <a:off xmlns:a="http://schemas.openxmlformats.org/drawingml/2006/main" x="571500" y="1466850"/>
          <a:ext xmlns:a="http://schemas.openxmlformats.org/drawingml/2006/main" cx="11001375" cy="3829050"/>
        </p:xfrm>
        <a:graphic xmlns:a="http://schemas.openxmlformats.org/drawingml/2006/main">
          <a:graphicData uri="http://schemas.openxmlformats.org/drawingml/2006/table">
            <a:tbl>
              <a:tblPr/>
              <a:tblGrid>
                <a:gridCol w="3619500"/>
                <a:gridCol w="7381875"/>
              </a:tblGrid>
              <a:tr h="547007">
                <a:tc>
                  <a:txBody>
                    <a:bodyPr/>
                    <a:lstStyle/>
                    <a:p>
                      <a:r>
                        <a:rPr sz="1725" b="1">
                          <a:solidFill>
                            <a:srgbClr val="FFFFFF"/>
                          </a:solidFill>
                          <a:latin typeface="Noto Sans"/>
                          <a:ea typeface="Noto Sans"/>
                          <a:cs typeface="Noto Sans"/>
                        </a:rPr>
                        <a:t>Measure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Definition</a:t>
                      </a:r>
                    </a:p>
                  </a:txBody>
                  <a:tcPr marL="95250" marR="95250" marT="57150" marB="57150">
                    <a:solidFill>
                      <a:srgbClr val="22577A"/>
                    </a:solidFill>
                  </a:tcPr>
                </a:tc>
              </a:tr>
              <a:tr h="547007">
                <a:tc>
                  <a:txBody>
                    <a:bodyPr/>
                    <a:lstStyle/>
                    <a:p>
                      <a:r>
                        <a:rPr sz="1800" b="0">
                          <a:solidFill>
                            <a:srgbClr val="26333C"/>
                          </a:solidFill>
                          <a:latin typeface="Noto Sans"/>
                          <a:ea typeface="Noto Sans"/>
                          <a:cs typeface="Noto Sans"/>
                        </a:rPr>
                        <a:t>First-action agreement</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Action belongs to the unchanged expected set</a:t>
                      </a:r>
                    </a:p>
                  </a:txBody>
                  <a:tcPr marL="95250" marR="95250" marT="57150" marB="57150">
                    <a:solidFill>
                      <a:srgbClr val="DDECF2"/>
                    </a:solidFill>
                  </a:tcPr>
                </a:tc>
              </a:tr>
              <a:tr h="547007">
                <a:tc>
                  <a:txBody>
                    <a:bodyPr/>
                    <a:lstStyle/>
                    <a:p>
                      <a:r>
                        <a:rPr sz="1800" b="0">
                          <a:solidFill>
                            <a:srgbClr val="26333C"/>
                          </a:solidFill>
                          <a:latin typeface="Noto Sans"/>
                          <a:ea typeface="Noto Sans"/>
                          <a:cs typeface="Noto Sans"/>
                        </a:rPr>
                        <a:t>Output validity</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Strict action enum and nonblank reason</a:t>
                      </a:r>
                    </a:p>
                  </a:txBody>
                  <a:tcPr marL="95250" marR="95250" marT="57150" marB="57150">
                    <a:solidFill>
                      <a:srgbClr val="F3F0E7"/>
                    </a:solidFill>
                  </a:tcPr>
                </a:tc>
              </a:tr>
              <a:tr h="547007">
                <a:tc>
                  <a:txBody>
                    <a:bodyPr/>
                    <a:lstStyle/>
                    <a:p>
                      <a:r>
                        <a:rPr sz="1800" b="0">
                          <a:solidFill>
                            <a:srgbClr val="26333C"/>
                          </a:solidFill>
                          <a:latin typeface="Noto Sans"/>
                          <a:ea typeface="Noto Sans"/>
                          <a:cs typeface="Noto Sans"/>
                        </a:rPr>
                        <a:t>Live-client acceptance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Correlation, current readiness and freshness</a:t>
                      </a:r>
                    </a:p>
                  </a:txBody>
                  <a:tcPr marL="95250" marR="95250" marT="57150" marB="57150">
                    <a:solidFill>
                      <a:srgbClr val="DDECF2"/>
                    </a:solidFill>
                  </a:tcPr>
                </a:tc>
              </a:tr>
              <a:tr h="547007">
                <a:tc>
                  <a:txBody>
                    <a:bodyPr/>
                    <a:lstStyle/>
                    <a:p>
                      <a:r>
                        <a:rPr sz="1800" b="0">
                          <a:solidFill>
                            <a:srgbClr val="26333C"/>
                          </a:solidFill>
                          <a:latin typeface="Noto Sans"/>
                          <a:ea typeface="Noto Sans"/>
                          <a:cs typeface="Noto Sans"/>
                        </a:rPr>
                        <a:t>Eligibility to output</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First eligible observation to complete observed output</a:t>
                      </a:r>
                    </a:p>
                  </a:txBody>
                  <a:tcPr marL="95250" marR="95250" marT="57150" marB="57150">
                    <a:solidFill>
                      <a:srgbClr val="F3F0E7"/>
                    </a:solidFill>
                  </a:tcPr>
                </a:tc>
              </a:tr>
              <a:tr h="547007">
                <a:tc>
                  <a:txBody>
                    <a:bodyPr/>
                    <a:lstStyle/>
                    <a:p>
                      <a:r>
                        <a:rPr sz="1800" b="0">
                          <a:solidFill>
                            <a:srgbClr val="26333C"/>
                          </a:solidFill>
                          <a:latin typeface="Noto Sans"/>
                          <a:ea typeface="Noto Sans"/>
                          <a:cs typeface="Noto Sans"/>
                        </a:rPr>
                        <a:t>Motion to output</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Recorded motion onset to complete observed output</a:t>
                      </a:r>
                    </a:p>
                  </a:txBody>
                  <a:tcPr marL="95250" marR="95250" marT="57150" marB="57150">
                    <a:solidFill>
                      <a:srgbClr val="DDECF2"/>
                    </a:solidFill>
                  </a:tcPr>
                </a:tc>
              </a:tr>
              <a:tr h="547007">
                <a:tc>
                  <a:txBody>
                    <a:bodyPr/>
                    <a:lstStyle/>
                    <a:p>
                      <a:r>
                        <a:rPr sz="1800" b="0">
                          <a:solidFill>
                            <a:srgbClr val="26333C"/>
                          </a:solidFill>
                          <a:latin typeface="Noto Sans"/>
                          <a:ea typeface="Noto Sans"/>
                          <a:cs typeface="Noto Sans"/>
                        </a:rPr>
                        <a:t>Later diagnosis</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Separate frozen observation, excluded from primary score</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F1973FAB-0EA6-4973-93B4-0E01556DC591}"/>
              </a:ext>
            </a:extLst>
          </p:cNvPr>
          <p:cNvSpPr>
            <a:spLocks xmlns:a="http://schemas.openxmlformats.org/drawingml/2006/main" noGrp="1"/>
          </p:cNvSpPr>
          <p:nvPr/>
        </p:nvSpPr>
        <p:spPr>
          <a:xfrm xmlns:a="http://schemas.openxmlformats.org/drawingml/2006/main">
            <a:off x="619125" y="55245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2577A"/>
                </a:solidFill>
                <a:latin typeface="Rubik"/>
                <a:ea typeface="Rubik"/>
                <a:cs typeface="Rubik"/>
              </a:defRPr>
            </a:pPr>
            <a:r>
              <a:rPr sz="2400" b="1">
                <a:solidFill>
                  <a:srgbClr val="22577A"/>
                </a:solidFill>
                <a:latin typeface="Rubik"/>
                <a:ea typeface="Rubik"/>
                <a:cs typeface="Rubik"/>
              </a:rPr>
              <a:t>3.20s median</a:t>
            </a:r>
          </a:p>
        </p:txBody>
      </p:sp>
      <p:sp>
        <p:nvSpPr>
          <p:cNvPr id="8" name="">
            <a:extLst xmlns:a="http://schemas.openxmlformats.org/drawingml/2006/main">
              <a:ext uri="{FF2B5EF4-FFF2-40B4-BE49-F238E27FC236}">
                <a16:creationId xmlns:a16="http://schemas.microsoft.com/office/drawing/2014/main" id="{4B24F75E-AA72-45CE-B6F2-6C59990B91E5}"/>
              </a:ext>
            </a:extLst>
          </p:cNvPr>
          <p:cNvSpPr>
            <a:spLocks xmlns:a="http://schemas.openxmlformats.org/drawingml/2006/main" noGrp="1"/>
          </p:cNvSpPr>
          <p:nvPr/>
        </p:nvSpPr>
        <p:spPr>
          <a:xfrm xmlns:a="http://schemas.openxmlformats.org/drawingml/2006/main">
            <a:off x="4333875" y="55245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2577A"/>
                </a:solidFill>
                <a:latin typeface="Rubik"/>
                <a:ea typeface="Rubik"/>
                <a:cs typeface="Rubik"/>
              </a:defRPr>
            </a:pPr>
            <a:r>
              <a:rPr sz="2400" b="1">
                <a:solidFill>
                  <a:srgbClr val="22577A"/>
                </a:solidFill>
                <a:latin typeface="Rubik"/>
                <a:ea typeface="Rubik"/>
                <a:cs typeface="Rubik"/>
              </a:rPr>
              <a:t>6.34s 95th percentile</a:t>
            </a:r>
          </a:p>
        </p:txBody>
      </p:sp>
      <p:sp>
        <p:nvSpPr>
          <p:cNvPr id="9" name="">
            <a:extLst xmlns:a="http://schemas.openxmlformats.org/drawingml/2006/main">
              <a:ext uri="{FF2B5EF4-FFF2-40B4-BE49-F238E27FC236}">
                <a16:creationId xmlns:a16="http://schemas.microsoft.com/office/drawing/2014/main" id="{895883AD-95F4-4350-BDD8-4D9370294141}"/>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Timing origin: after eligibility. Recorded motion-to-output median: 4.31s.</a:t>
            </a:r>
          </a:p>
        </p:txBody>
      </p:sp>
    </p:spTree>
    <p:extLst>
      <p:ext uri="{BB962C8B-B14F-4D97-AF65-F5344CB8AC3E}">
        <p14:creationId xmlns:p14="http://schemas.microsoft.com/office/powerpoint/2010/main" val="9553678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EB6C7F-707B-482E-A4C8-57F1FC430F24}"/>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95D71D-6D31-455B-BF9E-DFFA2CE3EC11}"/>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EA2899-13D4-4F2A-A7E3-810980682C96}"/>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Navel Sensor Inputs and Mapping</a:t>
            </a:r>
          </a:p>
        </p:txBody>
      </p:sp>
      <p:sp>
        <p:nvSpPr>
          <p:cNvPr id="4" name="">
            <a:extLst xmlns:a="http://schemas.openxmlformats.org/drawingml/2006/main">
              <a:ext uri="{FF2B5EF4-FFF2-40B4-BE49-F238E27FC236}">
                <a16:creationId xmlns:a16="http://schemas.microsoft.com/office/drawing/2014/main" id="{035AFBEF-EF5A-49D5-B246-8E55600F34F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05</a:t>
            </a:r>
          </a:p>
        </p:txBody>
      </p:sp>
      <p:sp>
        <p:nvSpPr>
          <p:cNvPr id="5" name="">
            <a:extLst xmlns:a="http://schemas.openxmlformats.org/drawingml/2006/main">
              <a:ext uri="{FF2B5EF4-FFF2-40B4-BE49-F238E27FC236}">
                <a16:creationId xmlns:a16="http://schemas.microsoft.com/office/drawing/2014/main" id="{35F5EC87-D6E9-4A45-83BE-24772DD239E1}"/>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12</a:t>
            </a:r>
          </a:p>
        </p:txBody>
      </p:sp>
      <p:graphicFrame>
        <p:nvGraphicFramePr>
          <p:cNvPr id="13" name=""/>
          <p:cNvGraphicFramePr/>
          <p:nvPr/>
        </p:nvGraphicFramePr>
        <p:xfrm>
          <a:off xmlns:a="http://schemas.openxmlformats.org/drawingml/2006/main" x="571500" y="1495425"/>
          <a:ext xmlns:a="http://schemas.openxmlformats.org/drawingml/2006/main" cx="11001375" cy="4000500"/>
        </p:xfrm>
        <a:graphic xmlns:a="http://schemas.openxmlformats.org/drawingml/2006/main">
          <a:graphicData uri="http://schemas.openxmlformats.org/drawingml/2006/table">
            <a:tbl>
              <a:tblPr/>
              <a:tblGrid>
                <a:gridCol w="3143250"/>
                <a:gridCol w="3905250"/>
                <a:gridCol w="3952875"/>
              </a:tblGrid>
              <a:tr h="500063">
                <a:tc>
                  <a:txBody>
                    <a:bodyPr/>
                    <a:lstStyle/>
                    <a:p>
                      <a:r>
                        <a:rPr sz="1725" b="1">
                          <a:solidFill>
                            <a:srgbClr val="FFFFFF"/>
                          </a:solidFill>
                          <a:latin typeface="Noto Sans"/>
                          <a:ea typeface="Noto Sans"/>
                          <a:cs typeface="Noto Sans"/>
                        </a:rPr>
                        <a:t>SDK observation</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Shared evidence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Interpretation</a:t>
                      </a:r>
                    </a:p>
                  </a:txBody>
                  <a:tcPr marL="95250" marR="95250" marT="57150" marB="57150">
                    <a:solidFill>
                      <a:srgbClr val="22577A"/>
                    </a:solidFill>
                  </a:tcPr>
                </a:tc>
              </a:tr>
              <a:tr h="500063">
                <a:tc>
                  <a:txBody>
                    <a:bodyPr/>
                    <a:lstStyle/>
                    <a:p>
                      <a:r>
                        <a:rPr sz="1725" b="0">
                          <a:solidFill>
                            <a:srgbClr val="26333C"/>
                          </a:solidFill>
                          <a:latin typeface="Noto Sans"/>
                          <a:ea typeface="Noto Sans"/>
                          <a:cs typeface="Noto Sans"/>
                        </a:rPr>
                        <a:t>Person UID</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Track identity and epoch</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Bookkeeping outside LLM text</a:t>
                      </a:r>
                    </a:p>
                  </a:txBody>
                  <a:tcPr marL="95250" marR="95250" marT="57150" marB="57150">
                    <a:solidFill>
                      <a:srgbClr val="DDECF2"/>
                    </a:solidFill>
                  </a:tcPr>
                </a:tc>
              </a:tr>
              <a:tr h="500063">
                <a:tc>
                  <a:txBody>
                    <a:bodyPr/>
                    <a:lstStyle/>
                    <a:p>
                      <a:r>
                        <a:rPr sz="1725" b="0">
                          <a:solidFill>
                            <a:srgbClr val="26333C"/>
                          </a:solidFill>
                          <a:latin typeface="Noto Sans"/>
                          <a:ea typeface="Noto Sans"/>
                          <a:cs typeface="Noto Sans"/>
                        </a:rPr>
                        <a:t>dist_mm</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distance_m = dist_mm / 1000</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Measured robot-person range</a:t>
                      </a:r>
                    </a:p>
                  </a:txBody>
                  <a:tcPr marL="95250" marR="95250" marT="57150" marB="57150">
                    <a:solidFill>
                      <a:srgbClr val="F3F0E7"/>
                    </a:solidFill>
                  </a:tcPr>
                </a:tc>
              </a:tr>
              <a:tr h="500063">
                <a:tc>
                  <a:txBody>
                    <a:bodyPr/>
                    <a:lstStyle/>
                    <a:p>
                      <a:r>
                        <a:rPr sz="1725" b="0">
                          <a:solidFill>
                            <a:srgbClr val="26333C"/>
                          </a:solidFill>
                          <a:latin typeface="Noto Sans"/>
                          <a:ea typeface="Noto Sans"/>
                          <a:cs typeface="Noto Sans"/>
                        </a:rPr>
                        <a:t>gaze_overlap</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Latest gaze score</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Thresholded measurement</a:t>
                      </a:r>
                    </a:p>
                  </a:txBody>
                  <a:tcPr marL="95250" marR="95250" marT="57150" marB="57150">
                    <a:solidFill>
                      <a:srgbClr val="DDECF2"/>
                    </a:solidFill>
                  </a:tcPr>
                </a:tc>
              </a:tr>
              <a:tr h="500063">
                <a:tc>
                  <a:txBody>
                    <a:bodyPr/>
                    <a:lstStyle/>
                    <a:p>
                      <a:r>
                        <a:rPr sz="1725" b="0">
                          <a:solidFill>
                            <a:srgbClr val="26333C"/>
                          </a:solidFill>
                          <a:latin typeface="Noto Sans"/>
                          <a:ea typeface="Noto Sans"/>
                          <a:cs typeface="Noto Sans"/>
                        </a:rPr>
                        <a:t>Face bounding box</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face_detected</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Face detection only</a:t>
                      </a:r>
                    </a:p>
                  </a:txBody>
                  <a:tcPr marL="95250" marR="95250" marT="57150" marB="57150">
                    <a:solidFill>
                      <a:srgbClr val="F3F0E7"/>
                    </a:solidFill>
                  </a:tcPr>
                </a:tc>
              </a:tr>
              <a:tr h="500063">
                <a:tc>
                  <a:txBody>
                    <a:bodyPr/>
                    <a:lstStyle/>
                    <a:p>
                      <a:r>
                        <a:rPr sz="1725" b="0">
                          <a:solidFill>
                            <a:srgbClr val="26333C"/>
                          </a:solidFill>
                          <a:latin typeface="Noto Sans"/>
                          <a:ea typeface="Noto Sans"/>
                          <a:cs typeface="Noto Sans"/>
                        </a:rPr>
                        <a:t>g_nose in CAM_HEAD</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Corridor position</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Fixed-head position estimate</a:t>
                      </a:r>
                    </a:p>
                  </a:txBody>
                  <a:tcPr marL="95250" marR="95250" marT="57150" marB="57150">
                    <a:solidFill>
                      <a:srgbClr val="DDECF2"/>
                    </a:solidFill>
                  </a:tcPr>
                </a:tc>
              </a:tr>
              <a:tr h="500063">
                <a:tc>
                  <a:txBody>
                    <a:bodyPr/>
                    <a:lstStyle/>
                    <a:p>
                      <a:r>
                        <a:rPr sz="1725" b="0">
                          <a:solidFill>
                            <a:srgbClr val="26333C"/>
                          </a:solidFill>
                          <a:latin typeface="Noto Sans"/>
                          <a:ea typeface="Noto Sans"/>
                          <a:cs typeface="Noto Sans"/>
                        </a:rPr>
                        <a:t>Forward and yaw velocity</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Robot motion state</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Translation or rotation</a:t>
                      </a:r>
                    </a:p>
                  </a:txBody>
                  <a:tcPr marL="95250" marR="95250" marT="57150" marB="57150">
                    <a:solidFill>
                      <a:srgbClr val="F3F0E7"/>
                    </a:solidFill>
                  </a:tcPr>
                </a:tc>
              </a:tr>
              <a:tr h="500063">
                <a:tc>
                  <a:txBody>
                    <a:bodyPr/>
                    <a:lstStyle/>
                    <a:p>
                      <a:r>
                        <a:rPr sz="1725" b="0">
                          <a:solidFill>
                            <a:srgbClr val="26333C"/>
                          </a:solidFill>
                          <a:latin typeface="Noto Sans"/>
                          <a:ea typeface="Noto Sans"/>
                          <a:cs typeface="Noto Sans"/>
                        </a:rPr>
                        <a:t>Missing or invalid values</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null / UNKNOWN</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Unavailable evidence</a:t>
                      </a:r>
                    </a:p>
                  </a:txBody>
                  <a:tcPr marL="95250" marR="95250" marT="57150" marB="57150">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1EF18BC8-4CED-4826-B91E-8199092D8393}"/>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HTTP POST /api/v1/observations. No measured pass gesture or path-relation input is available from Navel.</a:t>
            </a:r>
          </a:p>
        </p:txBody>
      </p:sp>
    </p:spTree>
    <p:extLst>
      <p:ext uri="{BB962C8B-B14F-4D97-AF65-F5344CB8AC3E}">
        <p14:creationId xmlns:p14="http://schemas.microsoft.com/office/powerpoint/2010/main" val="2052159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527E6A-00D7-4EDC-8FE6-17FE58B7DC79}"/>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B39DCC-9972-4FF5-A06E-069DC525273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2D09FD-E9A2-4C21-B9E8-2F2948AD256E}"/>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Person History and Detection Continuity</a:t>
            </a:r>
          </a:p>
        </p:txBody>
      </p:sp>
      <p:sp>
        <p:nvSpPr>
          <p:cNvPr id="4" name="">
            <a:extLst xmlns:a="http://schemas.openxmlformats.org/drawingml/2006/main">
              <a:ext uri="{FF2B5EF4-FFF2-40B4-BE49-F238E27FC236}">
                <a16:creationId xmlns:a16="http://schemas.microsoft.com/office/drawing/2014/main" id="{7F3F9571-1870-447A-87CF-0B5D10B4FED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06</a:t>
            </a:r>
          </a:p>
        </p:txBody>
      </p:sp>
      <p:sp>
        <p:nvSpPr>
          <p:cNvPr id="5" name="">
            <a:extLst xmlns:a="http://schemas.openxmlformats.org/drawingml/2006/main">
              <a:ext uri="{FF2B5EF4-FFF2-40B4-BE49-F238E27FC236}">
                <a16:creationId xmlns:a16="http://schemas.microsoft.com/office/drawing/2014/main" id="{738E9303-8BFE-4090-B19F-324C80985A92}"/>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13</a:t>
            </a:r>
          </a:p>
        </p:txBody>
      </p:sp>
      <p:sp>
        <p:nvSpPr>
          <p:cNvPr id="6" name="ACQUIRED&#10;New epoch">
            <a:extLst xmlns:a="http://schemas.openxmlformats.org/drawingml/2006/main">
              <a:ext uri="{FF2B5EF4-FFF2-40B4-BE49-F238E27FC236}">
                <a16:creationId xmlns:a16="http://schemas.microsoft.com/office/drawing/2014/main" id="{0155F56B-C07E-4A92-97F8-18ECB2AD54C3}"/>
              </a:ext>
            </a:extLst>
          </p:cNvPr>
          <p:cNvSpPr>
            <a:spLocks xmlns:a="http://schemas.openxmlformats.org/drawingml/2006/main" noGrp="1"/>
          </p:cNvSpPr>
          <p:nvPr/>
        </p:nvSpPr>
        <p:spPr>
          <a:xfrm xmlns:a="http://schemas.openxmlformats.org/drawingml/2006/main">
            <a:off x="571500" y="1581150"/>
            <a:ext cx="2286000" cy="819150"/>
          </a:xfrm>
          <a:prstGeom xmlns:a="http://schemas.openxmlformats.org/drawingml/2006/main" prst="roundRect">
            <a:avLst>
              <a:gd name="adj" fmla="val 11628"/>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ACQUIRED</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New epoch</a:t>
            </a:r>
          </a:p>
        </p:txBody>
      </p:sp>
      <p:sp>
        <p:nvSpPr>
          <p:cNvPr id="7" name="OBSERVED&#10;Collect samples">
            <a:extLst xmlns:a="http://schemas.openxmlformats.org/drawingml/2006/main">
              <a:ext uri="{FF2B5EF4-FFF2-40B4-BE49-F238E27FC236}">
                <a16:creationId xmlns:a16="http://schemas.microsoft.com/office/drawing/2014/main" id="{AC2ECF43-5905-4EF7-BA17-994CB21EA52E}"/>
              </a:ext>
            </a:extLst>
          </p:cNvPr>
          <p:cNvSpPr>
            <a:spLocks xmlns:a="http://schemas.openxmlformats.org/drawingml/2006/main" noGrp="1"/>
          </p:cNvSpPr>
          <p:nvPr/>
        </p:nvSpPr>
        <p:spPr>
          <a:xfrm xmlns:a="http://schemas.openxmlformats.org/drawingml/2006/main">
            <a:off x="3381375" y="1581150"/>
            <a:ext cx="2333625" cy="819150"/>
          </a:xfrm>
          <a:prstGeom xmlns:a="http://schemas.openxmlformats.org/drawingml/2006/main" prst="roundRect">
            <a:avLst>
              <a:gd name="adj" fmla="val 1162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OBSERVED</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Collect samples</a:t>
            </a:r>
          </a:p>
        </p:txBody>
      </p:sp>
      <p:sp>
        <p:nvSpPr>
          <p:cNvPr id="8" name="MISSING&#10;Retain briefly">
            <a:extLst xmlns:a="http://schemas.openxmlformats.org/drawingml/2006/main">
              <a:ext uri="{FF2B5EF4-FFF2-40B4-BE49-F238E27FC236}">
                <a16:creationId xmlns:a16="http://schemas.microsoft.com/office/drawing/2014/main" id="{FBF2BA03-6336-437B-8AF6-EFB78EA298A9}"/>
              </a:ext>
            </a:extLst>
          </p:cNvPr>
          <p:cNvSpPr>
            <a:spLocks xmlns:a="http://schemas.openxmlformats.org/drawingml/2006/main" noGrp="1"/>
          </p:cNvSpPr>
          <p:nvPr/>
        </p:nvSpPr>
        <p:spPr>
          <a:xfrm xmlns:a="http://schemas.openxmlformats.org/drawingml/2006/main">
            <a:off x="6238875" y="1581150"/>
            <a:ext cx="2333625" cy="819150"/>
          </a:xfrm>
          <a:prstGeom xmlns:a="http://schemas.openxmlformats.org/drawingml/2006/main" prst="roundRect">
            <a:avLst>
              <a:gd name="adj" fmla="val 11628"/>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MISSING</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Retain briefly</a:t>
            </a:r>
          </a:p>
        </p:txBody>
      </p:sp>
      <p:sp>
        <p:nvSpPr>
          <p:cNvPr id="9" name="LOST&#10;Remove history">
            <a:extLst xmlns:a="http://schemas.openxmlformats.org/drawingml/2006/main">
              <a:ext uri="{FF2B5EF4-FFF2-40B4-BE49-F238E27FC236}">
                <a16:creationId xmlns:a16="http://schemas.microsoft.com/office/drawing/2014/main" id="{EBECDF3C-AEF5-432F-8A10-CD65946BFE40}"/>
              </a:ext>
            </a:extLst>
          </p:cNvPr>
          <p:cNvSpPr>
            <a:spLocks xmlns:a="http://schemas.openxmlformats.org/drawingml/2006/main" noGrp="1"/>
          </p:cNvSpPr>
          <p:nvPr/>
        </p:nvSpPr>
        <p:spPr>
          <a:xfrm xmlns:a="http://schemas.openxmlformats.org/drawingml/2006/main">
            <a:off x="9096375" y="1581150"/>
            <a:ext cx="2476500" cy="819150"/>
          </a:xfrm>
          <a:prstGeom xmlns:a="http://schemas.openxmlformats.org/drawingml/2006/main" prst="roundRect">
            <a:avLst>
              <a:gd name="adj" fmla="val 11628"/>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LOST</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Remove history</a:t>
            </a:r>
          </a:p>
        </p:txBody>
      </p:sp>
      <p:cxnSp>
        <p:nvCxnSpPr>
          <p:cNvPr id="24" name=""/>
          <p:cNvCxnSpPr>
            <a:stCxn xmlns:a="http://schemas.openxmlformats.org/drawingml/2006/main" id="6" idx="3"/>
            <a:endCxn xmlns:a="http://schemas.openxmlformats.org/drawingml/2006/main" id="7" idx="1"/>
          </p:cNvCxnSpPr>
          <p:nvPr/>
        </p:nvCxnSpPr>
        <p:spPr>
          <a:xfrm xmlns:a="http://schemas.openxmlformats.org/drawingml/2006/main">
            <a:off x="2857500" y="19907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25" name=""/>
          <p:cNvCxnSpPr>
            <a:stCxn xmlns:a="http://schemas.openxmlformats.org/drawingml/2006/main" id="7" idx="3"/>
            <a:endCxn xmlns:a="http://schemas.openxmlformats.org/drawingml/2006/main" id="8" idx="1"/>
          </p:cNvCxnSpPr>
          <p:nvPr/>
        </p:nvCxnSpPr>
        <p:spPr>
          <a:xfrm xmlns:a="http://schemas.openxmlformats.org/drawingml/2006/main">
            <a:off x="5715000" y="19907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26" name=""/>
          <p:cNvCxnSpPr>
            <a:stCxn xmlns:a="http://schemas.openxmlformats.org/drawingml/2006/main" id="8" idx="3"/>
            <a:endCxn xmlns:a="http://schemas.openxmlformats.org/drawingml/2006/main" id="9" idx="1"/>
          </p:cNvCxnSpPr>
          <p:nvPr/>
        </p:nvCxnSpPr>
        <p:spPr>
          <a:xfrm xmlns:a="http://schemas.openxmlformats.org/drawingml/2006/main">
            <a:off x="8572500" y="1990725"/>
            <a:ext cx="523875" cy="0"/>
          </a:xfrm>
          <a:prstGeom xmlns:a="http://schemas.openxmlformats.org/drawingml/2006/main" prst="straightConnector1">
            <a:avLst/>
          </a:prstGeom>
          <a:ln xmlns:a="http://schemas.openxmlformats.org/drawingml/2006/main" w="19050">
            <a:solidFill>
              <a:srgbClr val="22577A"/>
            </a:solidFill>
            <a:tailEnd type="arrow" w="med" len="med"/>
          </a:ln>
        </p:spPr>
      </p:cxnSp>
      <p:graphicFrame>
        <p:nvGraphicFramePr>
          <p:cNvPr id="27" name=""/>
          <p:cNvGraphicFramePr/>
          <p:nvPr/>
        </p:nvGraphicFramePr>
        <p:xfrm>
          <a:off xmlns:a="http://schemas.openxmlformats.org/drawingml/2006/main" x="571500" y="2876550"/>
          <a:ext xmlns:a="http://schemas.openxmlformats.org/drawingml/2006/main" cx="11001375" cy="2762250"/>
        </p:xfrm>
        <a:graphic xmlns:a="http://schemas.openxmlformats.org/drawingml/2006/main">
          <a:graphicData uri="http://schemas.openxmlformats.org/drawingml/2006/table">
            <a:tbl>
              <a:tblPr/>
              <a:tblGrid>
                <a:gridCol w="5191125"/>
                <a:gridCol w="5810250"/>
              </a:tblGrid>
              <a:tr h="460375">
                <a:tc>
                  <a:txBody>
                    <a:bodyPr/>
                    <a:lstStyle/>
                    <a:p>
                      <a:r>
                        <a:rPr sz="1725" b="1">
                          <a:solidFill>
                            <a:srgbClr val="FFFFFF"/>
                          </a:solidFill>
                          <a:latin typeface="Noto Sans"/>
                          <a:ea typeface="Noto Sans"/>
                          <a:cs typeface="Noto Sans"/>
                        </a:rPr>
                        <a:t>Final tracking setting</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Value</a:t>
                      </a:r>
                    </a:p>
                  </a:txBody>
                  <a:tcPr marL="95250" marR="95250" marT="57150" marB="57150">
                    <a:solidFill>
                      <a:srgbClr val="22577A"/>
                    </a:solidFill>
                  </a:tcPr>
                </a:tc>
              </a:tr>
              <a:tr h="460375">
                <a:tc>
                  <a:txBody>
                    <a:bodyPr/>
                    <a:lstStyle/>
                    <a:p>
                      <a:r>
                        <a:rPr sz="1800" b="0">
                          <a:solidFill>
                            <a:srgbClr val="26333C"/>
                          </a:solidFill>
                          <a:latin typeface="Noto Sans"/>
                          <a:ea typeface="Noto Sans"/>
                          <a:cs typeface="Noto Sans"/>
                        </a:rPr>
                        <a:t>History window</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3.0s</a:t>
                      </a:r>
                    </a:p>
                  </a:txBody>
                  <a:tcPr marL="95250" marR="95250" marT="57150" marB="57150">
                    <a:solidFill>
                      <a:srgbClr val="DDECF2"/>
                    </a:solidFill>
                  </a:tcPr>
                </a:tc>
              </a:tr>
              <a:tr h="460375">
                <a:tc>
                  <a:txBody>
                    <a:bodyPr/>
                    <a:lstStyle/>
                    <a:p>
                      <a:r>
                        <a:rPr sz="1800" b="0">
                          <a:solidFill>
                            <a:srgbClr val="26333C"/>
                          </a:solidFill>
                          <a:latin typeface="Noto Sans"/>
                          <a:ea typeface="Noto Sans"/>
                          <a:cs typeface="Noto Sans"/>
                        </a:rPr>
                        <a:t>Missing grace</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0.75s</a:t>
                      </a:r>
                    </a:p>
                  </a:txBody>
                  <a:tcPr marL="95250" marR="95250" marT="57150" marB="57150">
                    <a:solidFill>
                      <a:srgbClr val="F3F0E7"/>
                    </a:solidFill>
                  </a:tcPr>
                </a:tc>
              </a:tr>
              <a:tr h="460375">
                <a:tc>
                  <a:txBody>
                    <a:bodyPr/>
                    <a:lstStyle/>
                    <a:p>
                      <a:r>
                        <a:rPr sz="1800" b="0">
                          <a:solidFill>
                            <a:srgbClr val="26333C"/>
                          </a:solidFill>
                          <a:latin typeface="Noto Sans"/>
                          <a:ea typeface="Noto Sans"/>
                          <a:cs typeface="Noto Sans"/>
                        </a:rPr>
                        <a:t>Capacity</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64 samples per track, 32 tracks</a:t>
                      </a:r>
                    </a:p>
                  </a:txBody>
                  <a:tcPr marL="95250" marR="95250" marT="57150" marB="57150">
                    <a:solidFill>
                      <a:srgbClr val="DDECF2"/>
                    </a:solidFill>
                  </a:tcPr>
                </a:tc>
              </a:tr>
              <a:tr h="460375">
                <a:tc>
                  <a:txBody>
                    <a:bodyPr/>
                    <a:lstStyle/>
                    <a:p>
                      <a:r>
                        <a:rPr sz="1800" b="0">
                          <a:solidFill>
                            <a:srgbClr val="26333C"/>
                          </a:solidFill>
                          <a:latin typeface="Noto Sans"/>
                          <a:ea typeface="Noto Sans"/>
                          <a:cs typeface="Noto Sans"/>
                        </a:rPr>
                        <a:t>Nose continuity distance</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At most 0.45m</a:t>
                      </a:r>
                    </a:p>
                  </a:txBody>
                  <a:tcPr marL="95250" marR="95250" marT="57150" marB="57150">
                    <a:solidFill>
                      <a:srgbClr val="F3F0E7"/>
                    </a:solidFill>
                  </a:tcPr>
                </a:tc>
              </a:tr>
              <a:tr h="460375">
                <a:tc>
                  <a:txBody>
                    <a:bodyPr/>
                    <a:lstStyle/>
                    <a:p>
                      <a:r>
                        <a:rPr sz="1800" b="0">
                          <a:solidFill>
                            <a:srgbClr val="26333C"/>
                          </a:solidFill>
                          <a:latin typeface="Noto Sans"/>
                          <a:ea typeface="Noto Sans"/>
                          <a:cs typeface="Noto Sans"/>
                        </a:rPr>
                        <a:t>Nose continuity time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At most 0.25s, adjacent single-person frames</a:t>
                      </a:r>
                    </a:p>
                  </a:txBody>
                  <a:tcPr marL="95250" marR="95250" marT="57150" marB="57150">
                    <a:solidFill>
                      <a:srgbClr val="DDECF2"/>
                    </a:solidFill>
                  </a:tcPr>
                </a:tc>
              </a:tr>
            </a:tbl>
          </a:graphicData>
        </a:graphic>
      </p:graphicFrame>
      <p:sp>
        <p:nvSpPr>
          <p:cNvPr id="14" name="">
            <a:extLst xmlns:a="http://schemas.openxmlformats.org/drawingml/2006/main">
              <a:ext uri="{FF2B5EF4-FFF2-40B4-BE49-F238E27FC236}">
                <a16:creationId xmlns:a16="http://schemas.microsoft.com/office/drawing/2014/main" id="{C16A93C3-29F8-4844-9CAE-E108DC382173}"/>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Same UID within grace preserves its epoch. Geometric continuity is a heuristic, not verified identity.</a:t>
            </a:r>
          </a:p>
        </p:txBody>
      </p:sp>
    </p:spTree>
    <p:extLst>
      <p:ext uri="{BB962C8B-B14F-4D97-AF65-F5344CB8AC3E}">
        <p14:creationId xmlns:p14="http://schemas.microsoft.com/office/powerpoint/2010/main" val="540844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6052CE-4BD2-47CD-A988-21CC6B0B3235}"/>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B4F181-CE27-40A2-9A2E-9543D3DD5AFB}"/>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BE8FF1-1A1B-441E-832E-7F0AF8B63C8E}"/>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Current Gaze: Score to Classification</a:t>
            </a:r>
          </a:p>
        </p:txBody>
      </p:sp>
      <p:sp>
        <p:nvSpPr>
          <p:cNvPr id="4" name="">
            <a:extLst xmlns:a="http://schemas.openxmlformats.org/drawingml/2006/main">
              <a:ext uri="{FF2B5EF4-FFF2-40B4-BE49-F238E27FC236}">
                <a16:creationId xmlns:a16="http://schemas.microsoft.com/office/drawing/2014/main" id="{10C04EC7-14B7-4A38-81E2-FD40C52E0EEE}"/>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07</a:t>
            </a:r>
          </a:p>
        </p:txBody>
      </p:sp>
      <p:sp>
        <p:nvSpPr>
          <p:cNvPr id="5" name="">
            <a:extLst xmlns:a="http://schemas.openxmlformats.org/drawingml/2006/main">
              <a:ext uri="{FF2B5EF4-FFF2-40B4-BE49-F238E27FC236}">
                <a16:creationId xmlns:a16="http://schemas.microsoft.com/office/drawing/2014/main" id="{C327741C-CDB9-40D5-B30D-183244EB17C3}"/>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14</a:t>
            </a:r>
          </a:p>
        </p:txBody>
      </p:sp>
      <p:graphicFrame>
        <p:nvGraphicFramePr>
          <p:cNvPr id="17" name=""/>
          <p:cNvGraphicFramePr/>
          <p:nvPr/>
        </p:nvGraphicFramePr>
        <p:xfrm>
          <a:off xmlns:a="http://schemas.openxmlformats.org/drawingml/2006/main" x="571500" y="1543050"/>
          <a:ext xmlns:a="http://schemas.openxmlformats.org/drawingml/2006/main" cx="11001375" cy="1619250"/>
        </p:xfrm>
        <a:graphic xmlns:a="http://schemas.openxmlformats.org/drawingml/2006/main">
          <a:graphicData uri="http://schemas.openxmlformats.org/drawingml/2006/table">
            <a:tbl>
              <a:tblPr/>
              <a:tblGrid>
                <a:gridCol w="5476875"/>
                <a:gridCol w="2762250"/>
                <a:gridCol w="2762250"/>
              </a:tblGrid>
              <a:tr h="539750">
                <a:tc>
                  <a:txBody>
                    <a:bodyPr/>
                    <a:lstStyle/>
                    <a:p>
                      <a:r>
                        <a:rPr sz="1725" b="1">
                          <a:solidFill>
                            <a:srgbClr val="FFFFFF"/>
                          </a:solidFill>
                          <a:latin typeface="Noto Sans"/>
                          <a:ea typeface="Noto Sans"/>
                          <a:cs typeface="Noto Sans"/>
                        </a:rPr>
                        <a:t>Measured distance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Looking entry</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Looking exit</a:t>
                      </a:r>
                    </a:p>
                  </a:txBody>
                  <a:tcPr marL="95250" marR="95250" marT="57150" marB="57150">
                    <a:solidFill>
                      <a:srgbClr val="22577A"/>
                    </a:solidFill>
                  </a:tcPr>
                </a:tc>
              </a:tr>
              <a:tr h="539750">
                <a:tc>
                  <a:txBody>
                    <a:bodyPr/>
                    <a:lstStyle/>
                    <a:p>
                      <a:r>
                        <a:rPr sz="2175" b="0">
                          <a:solidFill>
                            <a:srgbClr val="26333C"/>
                          </a:solidFill>
                          <a:latin typeface="Noto Sans"/>
                          <a:ea typeface="Noto Sans"/>
                          <a:cs typeface="Noto Sans"/>
                        </a:rPr>
                        <a:t>At or below 2.75m</a:t>
                      </a:r>
                    </a:p>
                  </a:txBody>
                  <a:tcPr marL="95250" marR="95250" marT="57150" marB="57150">
                    <a:solidFill>
                      <a:srgbClr val="DDECF2"/>
                    </a:solidFill>
                  </a:tcPr>
                </a:tc>
                <a:tc>
                  <a:txBody>
                    <a:bodyPr/>
                    <a:lstStyle/>
                    <a:p>
                      <a:r>
                        <a:rPr sz="2175" b="0">
                          <a:solidFill>
                            <a:srgbClr val="26333C"/>
                          </a:solidFill>
                          <a:latin typeface="Noto Sans"/>
                          <a:ea typeface="Noto Sans"/>
                          <a:cs typeface="Noto Sans"/>
                        </a:rPr>
                        <a:t>0.93</a:t>
                      </a:r>
                    </a:p>
                  </a:txBody>
                  <a:tcPr marL="95250" marR="95250" marT="57150" marB="57150">
                    <a:solidFill>
                      <a:srgbClr val="DDECF2"/>
                    </a:solidFill>
                  </a:tcPr>
                </a:tc>
                <a:tc>
                  <a:txBody>
                    <a:bodyPr/>
                    <a:lstStyle/>
                    <a:p>
                      <a:r>
                        <a:rPr sz="2175" b="0">
                          <a:solidFill>
                            <a:srgbClr val="26333C"/>
                          </a:solidFill>
                          <a:latin typeface="Noto Sans"/>
                          <a:ea typeface="Noto Sans"/>
                          <a:cs typeface="Noto Sans"/>
                        </a:rPr>
                        <a:t>0.90</a:t>
                      </a:r>
                    </a:p>
                  </a:txBody>
                  <a:tcPr marL="95250" marR="95250" marT="57150" marB="57150">
                    <a:solidFill>
                      <a:srgbClr val="DDECF2"/>
                    </a:solidFill>
                  </a:tcPr>
                </a:tc>
              </a:tr>
              <a:tr h="539750">
                <a:tc>
                  <a:txBody>
                    <a:bodyPr/>
                    <a:lstStyle/>
                    <a:p>
                      <a:r>
                        <a:rPr sz="2175" b="0">
                          <a:solidFill>
                            <a:srgbClr val="26333C"/>
                          </a:solidFill>
                          <a:latin typeface="Noto Sans"/>
                          <a:ea typeface="Noto Sans"/>
                          <a:cs typeface="Noto Sans"/>
                        </a:rPr>
                        <a:t>Beyond 2.75m</a:t>
                      </a:r>
                    </a:p>
                  </a:txBody>
                  <a:tcPr marL="95250" marR="95250" marT="57150" marB="57150">
                    <a:solidFill>
                      <a:srgbClr val="F3F0E7"/>
                    </a:solidFill>
                  </a:tcPr>
                </a:tc>
                <a:tc>
                  <a:txBody>
                    <a:bodyPr/>
                    <a:lstStyle/>
                    <a:p>
                      <a:r>
                        <a:rPr sz="2175" b="0">
                          <a:solidFill>
                            <a:srgbClr val="26333C"/>
                          </a:solidFill>
                          <a:latin typeface="Noto Sans"/>
                          <a:ea typeface="Noto Sans"/>
                          <a:cs typeface="Noto Sans"/>
                        </a:rPr>
                        <a:t>0.97</a:t>
                      </a:r>
                    </a:p>
                  </a:txBody>
                  <a:tcPr marL="95250" marR="95250" marT="57150" marB="57150">
                    <a:solidFill>
                      <a:srgbClr val="F3F0E7"/>
                    </a:solidFill>
                  </a:tcPr>
                </a:tc>
                <a:tc>
                  <a:txBody>
                    <a:bodyPr/>
                    <a:lstStyle/>
                    <a:p>
                      <a:r>
                        <a:rPr sz="2175" b="0">
                          <a:solidFill>
                            <a:srgbClr val="26333C"/>
                          </a:solidFill>
                          <a:latin typeface="Noto Sans"/>
                          <a:ea typeface="Noto Sans"/>
                          <a:cs typeface="Noto Sans"/>
                        </a:rPr>
                        <a:t>0.95</a:t>
                      </a:r>
                    </a:p>
                  </a:txBody>
                  <a:tcPr marL="95250" marR="95250" marT="57150" marB="57150">
                    <a:solidFill>
                      <a:srgbClr val="F3F0E7"/>
                    </a:solidFill>
                  </a:tcPr>
                </a:tc>
              </a:tr>
            </a:tbl>
          </a:graphicData>
        </a:graphic>
      </p:graphicFrame>
      <p:sp>
        <p:nvSpPr>
          <p:cNvPr id="7" name="Score at or above entry&#10;LOOKING">
            <a:extLst xmlns:a="http://schemas.openxmlformats.org/drawingml/2006/main">
              <a:ext uri="{FF2B5EF4-FFF2-40B4-BE49-F238E27FC236}">
                <a16:creationId xmlns:a16="http://schemas.microsoft.com/office/drawing/2014/main" id="{B31E643C-3077-409C-BE33-C256CB58EEBA}"/>
              </a:ext>
            </a:extLst>
          </p:cNvPr>
          <p:cNvSpPr>
            <a:spLocks xmlns:a="http://schemas.openxmlformats.org/drawingml/2006/main" noGrp="1"/>
          </p:cNvSpPr>
          <p:nvPr/>
        </p:nvSpPr>
        <p:spPr>
          <a:xfrm xmlns:a="http://schemas.openxmlformats.org/drawingml/2006/main">
            <a:off x="571500" y="3638550"/>
            <a:ext cx="3333750" cy="1181100"/>
          </a:xfrm>
          <a:prstGeom xmlns:a="http://schemas.openxmlformats.org/drawingml/2006/main" prst="roundRect">
            <a:avLst>
              <a:gd name="adj" fmla="val 806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Score at or above entry</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LOOKING</a:t>
            </a:r>
          </a:p>
        </p:txBody>
      </p:sp>
      <p:sp>
        <p:nvSpPr>
          <p:cNvPr id="8" name="Score in hysteresis band&#10;Keep previous classification">
            <a:extLst xmlns:a="http://schemas.openxmlformats.org/drawingml/2006/main">
              <a:ext uri="{FF2B5EF4-FFF2-40B4-BE49-F238E27FC236}">
                <a16:creationId xmlns:a16="http://schemas.microsoft.com/office/drawing/2014/main" id="{3E09A289-81AA-4A56-9B4F-04F608A44A2C}"/>
              </a:ext>
            </a:extLst>
          </p:cNvPr>
          <p:cNvSpPr>
            <a:spLocks xmlns:a="http://schemas.openxmlformats.org/drawingml/2006/main" noGrp="1"/>
          </p:cNvSpPr>
          <p:nvPr/>
        </p:nvSpPr>
        <p:spPr>
          <a:xfrm xmlns:a="http://schemas.openxmlformats.org/drawingml/2006/main">
            <a:off x="4381500" y="3638550"/>
            <a:ext cx="3333750" cy="1181100"/>
          </a:xfrm>
          <a:prstGeom xmlns:a="http://schemas.openxmlformats.org/drawingml/2006/main" prst="roundRect">
            <a:avLst>
              <a:gd name="adj" fmla="val 806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Score in hysteresis band</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Keep previous classification</a:t>
            </a:r>
          </a:p>
        </p:txBody>
      </p:sp>
      <p:sp>
        <p:nvSpPr>
          <p:cNvPr id="9" name="Score at or below exit&#10;NOT LOOKING">
            <a:extLst xmlns:a="http://schemas.openxmlformats.org/drawingml/2006/main">
              <a:ext uri="{FF2B5EF4-FFF2-40B4-BE49-F238E27FC236}">
                <a16:creationId xmlns:a16="http://schemas.microsoft.com/office/drawing/2014/main" id="{16E5E4C4-2FE8-4466-9F7B-7F083EEDBEE0}"/>
              </a:ext>
            </a:extLst>
          </p:cNvPr>
          <p:cNvSpPr>
            <a:spLocks xmlns:a="http://schemas.openxmlformats.org/drawingml/2006/main" noGrp="1"/>
          </p:cNvSpPr>
          <p:nvPr/>
        </p:nvSpPr>
        <p:spPr>
          <a:xfrm xmlns:a="http://schemas.openxmlformats.org/drawingml/2006/main">
            <a:off x="8239125" y="3638550"/>
            <a:ext cx="3333750" cy="1181100"/>
          </a:xfrm>
          <a:prstGeom xmlns:a="http://schemas.openxmlformats.org/drawingml/2006/main" prst="roundRect">
            <a:avLst>
              <a:gd name="adj" fmla="val 806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Score at or below exit</a:t>
            </a:r>
          </a:p>
          <a:p xmlns:a="http://schemas.openxmlformats.org/drawingml/2006/main">
            <a:pPr algn="ctr">
              <a:defRPr sz="1875" b="1">
                <a:solidFill>
                  <a:srgbClr val="22577A"/>
                </a:solidFill>
                <a:latin typeface="Noto Sans"/>
                <a:ea typeface="Noto Sans"/>
                <a:cs typeface="Noto Sans"/>
              </a:defRPr>
            </a:pPr>
            <a:r>
              <a:rPr sz="1875" b="1">
                <a:solidFill>
                  <a:srgbClr val="22577A"/>
                </a:solidFill>
                <a:latin typeface="Noto Sans"/>
                <a:ea typeface="Noto Sans"/>
                <a:cs typeface="Noto Sans"/>
              </a:rPr>
              <a:t>NOT LOOKING</a:t>
            </a:r>
          </a:p>
        </p:txBody>
      </p:sp>
      <p:sp>
        <p:nvSpPr>
          <p:cNvPr id="10" name="">
            <a:extLst xmlns:a="http://schemas.openxmlformats.org/drawingml/2006/main">
              <a:ext uri="{FF2B5EF4-FFF2-40B4-BE49-F238E27FC236}">
                <a16:creationId xmlns:a16="http://schemas.microsoft.com/office/drawing/2014/main" id="{9360455B-5553-4558-B825-163EC43FF837}"/>
              </a:ext>
            </a:extLst>
          </p:cNvPr>
          <p:cNvSpPr>
            <a:spLocks xmlns:a="http://schemas.openxmlformats.org/drawingml/2006/main" noGrp="1"/>
          </p:cNvSpPr>
          <p:nvPr/>
        </p:nvSpPr>
        <p:spPr>
          <a:xfrm xmlns:a="http://schemas.openxmlformats.org/drawingml/2006/main">
            <a:off x="619125"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2577A"/>
                </a:solidFill>
                <a:latin typeface="Rubik"/>
                <a:ea typeface="Rubik"/>
                <a:cs typeface="Rubik"/>
              </a:defRPr>
            </a:pPr>
            <a:r>
              <a:rPr sz="2175" b="1">
                <a:solidFill>
                  <a:srgbClr val="22577A"/>
                </a:solidFill>
                <a:latin typeface="Rubik"/>
                <a:ea typeface="Rubik"/>
                <a:cs typeface="Rubik"/>
              </a:rPr>
              <a:t>Null or a source gap resets memory to UNKNOWN</a:t>
            </a:r>
          </a:p>
        </p:txBody>
      </p:sp>
      <p:sp>
        <p:nvSpPr>
          <p:cNvPr id="11" name="">
            <a:extLst xmlns:a="http://schemas.openxmlformats.org/drawingml/2006/main">
              <a:ext uri="{FF2B5EF4-FFF2-40B4-BE49-F238E27FC236}">
                <a16:creationId xmlns:a16="http://schemas.microsoft.com/office/drawing/2014/main" id="{BB7E001D-EF5B-4DAC-B6BB-164D147A623C}"/>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Gaze overlap is a measured score. It does not express a probability of interest or willingness.</a:t>
            </a:r>
          </a:p>
        </p:txBody>
      </p:sp>
    </p:spTree>
    <p:extLst>
      <p:ext uri="{BB962C8B-B14F-4D97-AF65-F5344CB8AC3E}">
        <p14:creationId xmlns:p14="http://schemas.microsoft.com/office/powerpoint/2010/main" val="15586530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CD3CFA-0B98-4ABC-BDE5-D8AA85FCC972}"/>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6B85B3-4ADA-4124-A6AC-672E4A9EB6B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DE33CD-276B-4E69-B014-923DCDB76583}"/>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Temporal Looking: Coverage and Categories</a:t>
            </a:r>
          </a:p>
        </p:txBody>
      </p:sp>
      <p:sp>
        <p:nvSpPr>
          <p:cNvPr id="4" name="">
            <a:extLst xmlns:a="http://schemas.openxmlformats.org/drawingml/2006/main">
              <a:ext uri="{FF2B5EF4-FFF2-40B4-BE49-F238E27FC236}">
                <a16:creationId xmlns:a16="http://schemas.microsoft.com/office/drawing/2014/main" id="{65912861-C41E-4F98-9847-A940DFA5DD2D}"/>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08</a:t>
            </a:r>
          </a:p>
        </p:txBody>
      </p:sp>
      <p:sp>
        <p:nvSpPr>
          <p:cNvPr id="5" name="">
            <a:extLst xmlns:a="http://schemas.openxmlformats.org/drawingml/2006/main">
              <a:ext uri="{FF2B5EF4-FFF2-40B4-BE49-F238E27FC236}">
                <a16:creationId xmlns:a16="http://schemas.microsoft.com/office/drawing/2014/main" id="{99667AB3-25DC-42EA-973A-36C4F49076CE}"/>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15</a:t>
            </a:r>
          </a:p>
        </p:txBody>
      </p:sp>
      <p:sp>
        <p:nvSpPr>
          <p:cNvPr id="6" name="">
            <a:extLst xmlns:a="http://schemas.openxmlformats.org/drawingml/2006/main">
              <a:ext uri="{FF2B5EF4-FFF2-40B4-BE49-F238E27FC236}">
                <a16:creationId xmlns:a16="http://schemas.microsoft.com/office/drawing/2014/main" id="{C6B61ECE-E285-45EB-A9B1-F0FC29F06D3E}"/>
              </a:ext>
            </a:extLst>
          </p:cNvPr>
          <p:cNvSpPr>
            <a:spLocks xmlns:a="http://schemas.openxmlformats.org/drawingml/2006/main" noGrp="1"/>
          </p:cNvSpPr>
          <p:nvPr/>
        </p:nvSpPr>
        <p:spPr>
          <a:xfrm xmlns:a="http://schemas.openxmlformats.org/drawingml/2006/main">
            <a:off x="571500" y="1466850"/>
            <a:ext cx="1100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577A"/>
                </a:solidFill>
                <a:latin typeface="Rubik"/>
                <a:ea typeface="Rubik"/>
                <a:cs typeface="Rubik"/>
              </a:defRPr>
            </a:pPr>
            <a:r>
              <a:rPr sz="2250" b="1">
                <a:solidFill>
                  <a:srgbClr val="22577A"/>
                </a:solidFill>
                <a:latin typeface="Rubik"/>
                <a:ea typeface="Rubik"/>
                <a:cs typeface="Rubik"/>
              </a:rPr>
              <a:t>Looking fraction = measured looking time / covered gaze time</a:t>
            </a:r>
          </a:p>
        </p:txBody>
      </p:sp>
      <p:graphicFrame>
        <p:nvGraphicFramePr>
          <p:cNvPr id="19" name=""/>
          <p:cNvGraphicFramePr/>
          <p:nvPr/>
        </p:nvGraphicFramePr>
        <p:xfrm>
          <a:off xmlns:a="http://schemas.openxmlformats.org/drawingml/2006/main" x="571500" y="2247900"/>
          <a:ext xmlns:a="http://schemas.openxmlformats.org/drawingml/2006/main" cx="6667500" cy="3362325"/>
        </p:xfrm>
        <a:graphic xmlns:a="http://schemas.openxmlformats.org/drawingml/2006/main">
          <a:graphicData uri="http://schemas.openxmlformats.org/drawingml/2006/table">
            <a:tbl>
              <a:tblPr/>
              <a:tblGrid>
                <a:gridCol w="4095750"/>
                <a:gridCol w="2571750"/>
              </a:tblGrid>
              <a:tr h="480332">
                <a:tc>
                  <a:txBody>
                    <a:bodyPr/>
                    <a:lstStyle/>
                    <a:p>
                      <a:r>
                        <a:rPr sz="1725" b="1">
                          <a:solidFill>
                            <a:srgbClr val="FFFFFF"/>
                          </a:solidFill>
                          <a:latin typeface="Noto Sans"/>
                          <a:ea typeface="Noto Sans"/>
                          <a:cs typeface="Noto Sans"/>
                        </a:rPr>
                        <a:t>Evidence gate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Final value</a:t>
                      </a:r>
                    </a:p>
                  </a:txBody>
                  <a:tcPr marL="95250" marR="95250" marT="57150" marB="57150">
                    <a:solidFill>
                      <a:srgbClr val="22577A"/>
                    </a:solidFill>
                  </a:tcPr>
                </a:tc>
              </a:tr>
              <a:tr h="480332">
                <a:tc>
                  <a:txBody>
                    <a:bodyPr/>
                    <a:lstStyle/>
                    <a:p>
                      <a:r>
                        <a:rPr sz="1650" b="0">
                          <a:solidFill>
                            <a:srgbClr val="26333C"/>
                          </a:solidFill>
                          <a:latin typeface="Noto Sans"/>
                          <a:ea typeface="Noto Sans"/>
                          <a:cs typeface="Noto Sans"/>
                        </a:rPr>
                        <a:t>Recent window / minimum span</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3.0s / 1.0s</a:t>
                      </a:r>
                    </a:p>
                  </a:txBody>
                  <a:tcPr marL="95250" marR="95250" marT="57150" marB="57150">
                    <a:solidFill>
                      <a:srgbClr val="DDECF2"/>
                    </a:solidFill>
                  </a:tcPr>
                </a:tc>
              </a:tr>
              <a:tr h="480332">
                <a:tc>
                  <a:txBody>
                    <a:bodyPr/>
                    <a:lstStyle/>
                    <a:p>
                      <a:r>
                        <a:rPr sz="1650" b="0">
                          <a:solidFill>
                            <a:srgbClr val="26333C"/>
                          </a:solidFill>
                          <a:latin typeface="Noto Sans"/>
                          <a:ea typeface="Noto Sans"/>
                          <a:cs typeface="Noto Sans"/>
                        </a:rPr>
                        <a:t>Known samples / coverage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5+ samples / 0.6s+</a:t>
                      </a:r>
                    </a:p>
                  </a:txBody>
                  <a:tcPr marL="95250" marR="95250" marT="57150" marB="57150">
                    <a:solidFill>
                      <a:srgbClr val="F3F0E7"/>
                    </a:solidFill>
                  </a:tcPr>
                </a:tc>
              </a:tr>
              <a:tr h="480332">
                <a:tc>
                  <a:txBody>
                    <a:bodyPr/>
                    <a:lstStyle/>
                    <a:p>
                      <a:r>
                        <a:rPr sz="1650" b="0">
                          <a:solidFill>
                            <a:srgbClr val="26333C"/>
                          </a:solidFill>
                          <a:latin typeface="Noto Sans"/>
                          <a:ea typeface="Noto Sans"/>
                          <a:cs typeface="Noto Sans"/>
                        </a:rPr>
                        <a:t>Coverage fraction</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At least 50%</a:t>
                      </a:r>
                    </a:p>
                  </a:txBody>
                  <a:tcPr marL="95250" marR="95250" marT="57150" marB="57150">
                    <a:solidFill>
                      <a:srgbClr val="DDECF2"/>
                    </a:solidFill>
                  </a:tcPr>
                </a:tc>
              </a:tr>
              <a:tr h="480332">
                <a:tc>
                  <a:txBody>
                    <a:bodyPr/>
                    <a:lstStyle/>
                    <a:p>
                      <a:r>
                        <a:rPr sz="1650" b="0">
                          <a:solidFill>
                            <a:srgbClr val="26333C"/>
                          </a:solidFill>
                          <a:latin typeface="Noto Sans"/>
                          <a:ea typeface="Noto Sans"/>
                          <a:cs typeface="Noto Sans"/>
                        </a:rPr>
                        <a:t>SUSTAINED entry / retention</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80% / 65% + looking</a:t>
                      </a:r>
                    </a:p>
                  </a:txBody>
                  <a:tcPr marL="95250" marR="95250" marT="57150" marB="57150">
                    <a:solidFill>
                      <a:srgbClr val="F3F0E7"/>
                    </a:solidFill>
                  </a:tcPr>
                </a:tc>
              </a:tr>
              <a:tr h="480332">
                <a:tc>
                  <a:txBody>
                    <a:bodyPr/>
                    <a:lstStyle/>
                    <a:p>
                      <a:r>
                        <a:rPr sz="1650" b="0">
                          <a:solidFill>
                            <a:srgbClr val="26333C"/>
                          </a:solidFill>
                          <a:latin typeface="Noto Sans"/>
                          <a:ea typeface="Noto Sans"/>
                          <a:cs typeface="Noto Sans"/>
                        </a:rPr>
                        <a:t>NONE entry / retention</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20% / 35%</a:t>
                      </a:r>
                    </a:p>
                  </a:txBody>
                  <a:tcPr marL="95250" marR="95250" marT="57150" marB="57150">
                    <a:solidFill>
                      <a:srgbClr val="DDECF2"/>
                    </a:solidFill>
                  </a:tcPr>
                </a:tc>
              </a:tr>
              <a:tr h="480332">
                <a:tc>
                  <a:txBody>
                    <a:bodyPr/>
                    <a:lstStyle/>
                    <a:p>
                      <a:r>
                        <a:rPr sz="1650" b="0">
                          <a:solidFill>
                            <a:srgbClr val="26333C"/>
                          </a:solidFill>
                          <a:latin typeface="Noto Sans"/>
                          <a:ea typeface="Noto Sans"/>
                          <a:cs typeface="Noto Sans"/>
                        </a:rPr>
                        <a:t>Dwell / trailing-run minimum</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0s / 0s</a:t>
                      </a:r>
                    </a:p>
                  </a:txBody>
                  <a:tcPr marL="95250" marR="95250" marT="57150" marB="57150">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874B0DEE-A890-4E3D-801E-9DF05B1341D5}"/>
              </a:ext>
            </a:extLst>
          </p:cNvPr>
          <p:cNvSpPr>
            <a:spLocks xmlns:a="http://schemas.openxmlformats.org/drawingml/2006/main" noGrp="1"/>
          </p:cNvSpPr>
          <p:nvPr/>
        </p:nvSpPr>
        <p:spPr>
          <a:xfrm xmlns:a="http://schemas.openxmlformats.org/drawingml/2006/main">
            <a:off x="7686675" y="2276475"/>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2577A"/>
                </a:solidFill>
                <a:latin typeface="Rubik"/>
                <a:ea typeface="Rubik"/>
                <a:cs typeface="Rubik"/>
              </a:defRPr>
            </a:pPr>
            <a:r>
              <a:rPr sz="2100" b="1">
                <a:solidFill>
                  <a:srgbClr val="22577A"/>
                </a:solidFill>
                <a:latin typeface="Rubik"/>
                <a:ea typeface="Rubik"/>
                <a:cs typeface="Rubik"/>
              </a:rPr>
              <a:t>S7 first observation</a:t>
            </a:r>
          </a:p>
        </p:txBody>
      </p:sp>
      <p:sp>
        <p:nvSpPr>
          <p:cNvPr id="9" name="">
            <a:extLst xmlns:a="http://schemas.openxmlformats.org/drawingml/2006/main">
              <a:ext uri="{FF2B5EF4-FFF2-40B4-BE49-F238E27FC236}">
                <a16:creationId xmlns:a16="http://schemas.microsoft.com/office/drawing/2014/main" id="{D95FF97E-A0FF-4C5F-A78A-44D97B0A9587}"/>
              </a:ext>
            </a:extLst>
          </p:cNvPr>
          <p:cNvSpPr>
            <a:spLocks xmlns:a="http://schemas.openxmlformats.org/drawingml/2006/main" noGrp="1"/>
          </p:cNvSpPr>
          <p:nvPr/>
        </p:nvSpPr>
        <p:spPr>
          <a:xfrm xmlns:a="http://schemas.openxmlformats.org/drawingml/2006/main">
            <a:off x="7667625" y="2876550"/>
            <a:ext cx="3857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800" b="1">
                <a:solidFill>
                  <a:srgbClr val="22577A"/>
                </a:solidFill>
                <a:latin typeface="Rubik"/>
                <a:ea typeface="Rubik"/>
                <a:cs typeface="Rubik"/>
              </a:defRPr>
            </a:pPr>
            <a:r>
              <a:rPr sz="4800" b="1">
                <a:solidFill>
                  <a:srgbClr val="22577A"/>
                </a:solidFill>
                <a:latin typeface="Rubik"/>
                <a:ea typeface="Rubik"/>
                <a:cs typeface="Rubik"/>
              </a:rPr>
              <a:t>69.3%</a:t>
            </a:r>
          </a:p>
        </p:txBody>
      </p:sp>
      <p:sp>
        <p:nvSpPr>
          <p:cNvPr id="10" name="">
            <a:extLst xmlns:a="http://schemas.openxmlformats.org/drawingml/2006/main">
              <a:ext uri="{FF2B5EF4-FFF2-40B4-BE49-F238E27FC236}">
                <a16:creationId xmlns:a16="http://schemas.microsoft.com/office/drawing/2014/main" id="{6C756B2E-ECDF-4236-A0D1-B7E450C08333}"/>
              </a:ext>
            </a:extLst>
          </p:cNvPr>
          <p:cNvSpPr>
            <a:spLocks xmlns:a="http://schemas.openxmlformats.org/drawingml/2006/main" noGrp="1"/>
          </p:cNvSpPr>
          <p:nvPr/>
        </p:nvSpPr>
        <p:spPr>
          <a:xfrm xmlns:a="http://schemas.openxmlformats.org/drawingml/2006/main">
            <a:off x="7667625" y="37528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26333C"/>
                </a:solidFill>
                <a:latin typeface="Noto Sans"/>
                <a:ea typeface="Noto Sans"/>
                <a:cs typeface="Noto Sans"/>
              </a:defRPr>
            </a:pPr>
            <a:r>
              <a:rPr sz="1725" b="0">
                <a:solidFill>
                  <a:srgbClr val="26333C"/>
                </a:solidFill>
                <a:latin typeface="Noto Sans"/>
                <a:ea typeface="Noto Sans"/>
                <a:cs typeface="Noto Sans"/>
              </a:rPr>
              <a:t>Measured looking fraction</a:t>
            </a:r>
          </a:p>
        </p:txBody>
      </p:sp>
      <p:sp>
        <p:nvSpPr>
          <p:cNvPr id="11" name="">
            <a:extLst xmlns:a="http://schemas.openxmlformats.org/drawingml/2006/main">
              <a:ext uri="{FF2B5EF4-FFF2-40B4-BE49-F238E27FC236}">
                <a16:creationId xmlns:a16="http://schemas.microsoft.com/office/drawing/2014/main" id="{C40DD478-41F8-4203-A5CA-6022FFD92C8E}"/>
              </a:ext>
            </a:extLst>
          </p:cNvPr>
          <p:cNvSpPr>
            <a:spLocks xmlns:a="http://schemas.openxmlformats.org/drawingml/2006/main" noGrp="1"/>
          </p:cNvSpPr>
          <p:nvPr/>
        </p:nvSpPr>
        <p:spPr>
          <a:xfrm xmlns:a="http://schemas.openxmlformats.org/drawingml/2006/main">
            <a:off x="7667625" y="4324350"/>
            <a:ext cx="3857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6333C"/>
                </a:solidFill>
                <a:latin typeface="Noto Sans"/>
                <a:ea typeface="Noto Sans"/>
                <a:cs typeface="Noto Sans"/>
              </a:defRPr>
            </a:pPr>
            <a:r>
              <a:rPr sz="1800" b="0">
                <a:solidFill>
                  <a:srgbClr val="26333C"/>
                </a:solidFill>
                <a:latin typeface="Noto Sans"/>
                <a:ea typeface="Noto Sans"/>
                <a:cs typeface="Noto Sans"/>
              </a:rPr>
              <a:t>Current gaze: not looking</a:t>
            </a:r>
          </a:p>
          <a:p xmlns:a="http://schemas.openxmlformats.org/drawingml/2006/main">
            <a:pPr algn="l">
              <a:defRPr sz="1800" b="0">
                <a:solidFill>
                  <a:srgbClr val="26333C"/>
                </a:solidFill>
                <a:latin typeface="Noto Sans"/>
                <a:ea typeface="Noto Sans"/>
                <a:cs typeface="Noto Sans"/>
              </a:defRPr>
            </a:pPr>
            <a:r>
              <a:rPr sz="1800" b="0">
                <a:solidFill>
                  <a:srgbClr val="26333C"/>
                </a:solidFill>
                <a:latin typeface="Noto Sans"/>
                <a:ea typeface="Noto Sans"/>
                <a:cs typeface="Noto Sans"/>
              </a:rPr>
              <a:t>Category: INTERMITTENT</a:t>
            </a:r>
          </a:p>
          <a:p xmlns:a="http://schemas.openxmlformats.org/drawingml/2006/main">
            <a:pPr algn="l">
              <a:defRPr sz="1800" b="0">
                <a:solidFill>
                  <a:srgbClr val="26333C"/>
                </a:solidFill>
                <a:latin typeface="Noto Sans"/>
                <a:ea typeface="Noto Sans"/>
                <a:cs typeface="Noto Sans"/>
              </a:defRPr>
            </a:pPr>
            <a:r>
              <a:rPr sz="1800" b="0">
                <a:solidFill>
                  <a:srgbClr val="26333C"/>
                </a:solidFill>
                <a:latin typeface="Noto Sans"/>
                <a:ea typeface="Noto Sans"/>
                <a:cs typeface="Noto Sans"/>
              </a:rPr>
              <a:t>Trailing looking run: 0s</a:t>
            </a:r>
          </a:p>
        </p:txBody>
      </p:sp>
      <p:sp>
        <p:nvSpPr>
          <p:cNvPr id="12" name="">
            <a:extLst xmlns:a="http://schemas.openxmlformats.org/drawingml/2006/main">
              <a:ext uri="{FF2B5EF4-FFF2-40B4-BE49-F238E27FC236}">
                <a16:creationId xmlns:a16="http://schemas.microsoft.com/office/drawing/2014/main" id="{02F8B4AF-09FE-41A0-AC46-9DA6113F83E7}"/>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High recent looking fraction can coexist with a current non-looking sample. Missing time stays uncovered.</a:t>
            </a:r>
          </a:p>
        </p:txBody>
      </p:sp>
    </p:spTree>
    <p:extLst>
      <p:ext uri="{BB962C8B-B14F-4D97-AF65-F5344CB8AC3E}">
        <p14:creationId xmlns:p14="http://schemas.microsoft.com/office/powerpoint/2010/main" val="6001853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128369-0D28-4338-8DC1-C76429F790F5}"/>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ACAE32-477E-421B-88BA-7D4C37BA14DA}"/>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FAE3C8-2598-4718-BD05-AD3F9D7970E0}"/>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Distance Change Uses a Robust Fitted Slope</a:t>
            </a:r>
          </a:p>
        </p:txBody>
      </p:sp>
      <p:sp>
        <p:nvSpPr>
          <p:cNvPr id="4" name="">
            <a:extLst xmlns:a="http://schemas.openxmlformats.org/drawingml/2006/main">
              <a:ext uri="{FF2B5EF4-FFF2-40B4-BE49-F238E27FC236}">
                <a16:creationId xmlns:a16="http://schemas.microsoft.com/office/drawing/2014/main" id="{4DE45DA6-0896-4A00-8DC9-B750905ADDF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09</a:t>
            </a:r>
          </a:p>
        </p:txBody>
      </p:sp>
      <p:sp>
        <p:nvSpPr>
          <p:cNvPr id="5" name="">
            <a:extLst xmlns:a="http://schemas.openxmlformats.org/drawingml/2006/main">
              <a:ext uri="{FF2B5EF4-FFF2-40B4-BE49-F238E27FC236}">
                <a16:creationId xmlns:a16="http://schemas.microsoft.com/office/drawing/2014/main" id="{D2E76575-D0A3-4583-A0F1-974F1B8BD68F}"/>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16</a:t>
            </a:r>
          </a:p>
        </p:txBody>
      </p:sp>
      <p:graphicFrame>
        <p:nvGraphicFramePr>
          <p:cNvPr id="16" name="Chart"/>
          <p:cNvGraphicFramePr/>
          <p:nvPr/>
        </p:nvGraphicFramePr>
        <p:xfrm>
          <a:off xmlns:a="http://schemas.openxmlformats.org/drawingml/2006/main" x="571500" y="1524000"/>
          <a:ext xmlns:a="http://schemas.openxmlformats.org/drawingml/2006/main" cx="7239000" cy="4048125"/>
        </p:xfrm>
        <a:graphic xmlns:a="http://schemas.openxmlformats.org/drawingml/2006/main">
          <a:graphicData uri="http://schemas.openxmlformats.org/drawingml/2006/chart">
            <c:chart xmlns:r="http://schemas.openxmlformats.org/officeDocument/2006/relationships" xmlns:c="http://schemas.openxmlformats.org/drawingml/2006/chart" r:id="Rbdc0490b1c1d4caa"/>
          </a:graphicData>
        </a:graphic>
      </p:graphicFrame>
      <p:sp>
        <p:nvSpPr>
          <p:cNvPr id="7" name="">
            <a:extLst xmlns:a="http://schemas.openxmlformats.org/drawingml/2006/main">
              <a:ext uri="{FF2B5EF4-FFF2-40B4-BE49-F238E27FC236}">
                <a16:creationId xmlns:a16="http://schemas.microsoft.com/office/drawing/2014/main" id="{A7F0EE3B-67A7-4171-98E7-0EA975654684}"/>
              </a:ext>
            </a:extLst>
          </p:cNvPr>
          <p:cNvSpPr>
            <a:spLocks xmlns:a="http://schemas.openxmlformats.org/drawingml/2006/main" noGrp="1"/>
          </p:cNvSpPr>
          <p:nvPr/>
        </p:nvSpPr>
        <p:spPr>
          <a:xfrm xmlns:a="http://schemas.openxmlformats.org/drawingml/2006/main">
            <a:off x="8096250" y="1647825"/>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577A"/>
                </a:solidFill>
                <a:latin typeface="Rubik"/>
                <a:ea typeface="Rubik"/>
                <a:cs typeface="Rubik"/>
              </a:defRPr>
            </a:pPr>
            <a:r>
              <a:rPr sz="2025" b="1">
                <a:solidFill>
                  <a:srgbClr val="22577A"/>
                </a:solidFill>
                <a:latin typeface="Rubik"/>
                <a:ea typeface="Rubik"/>
                <a:cs typeface="Rubik"/>
              </a:rPr>
              <a:t>m = median of pairwise slopes</a:t>
            </a:r>
          </a:p>
        </p:txBody>
      </p:sp>
      <p:sp>
        <p:nvSpPr>
          <p:cNvPr id="8" name="">
            <a:extLst xmlns:a="http://schemas.openxmlformats.org/drawingml/2006/main">
              <a:ext uri="{FF2B5EF4-FFF2-40B4-BE49-F238E27FC236}">
                <a16:creationId xmlns:a16="http://schemas.microsoft.com/office/drawing/2014/main" id="{4F206C95-B43C-434F-963C-05E6A3A1283B}"/>
              </a:ext>
            </a:extLst>
          </p:cNvPr>
          <p:cNvSpPr>
            <a:spLocks xmlns:a="http://schemas.openxmlformats.org/drawingml/2006/main" noGrp="1"/>
          </p:cNvSpPr>
          <p:nvPr/>
        </p:nvSpPr>
        <p:spPr>
          <a:xfrm xmlns:a="http://schemas.openxmlformats.org/drawingml/2006/main">
            <a:off x="8096250" y="267652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577A"/>
                </a:solidFill>
                <a:latin typeface="Rubik"/>
                <a:ea typeface="Rubik"/>
                <a:cs typeface="Rubik"/>
              </a:defRPr>
            </a:pPr>
            <a:r>
              <a:rPr sz="2025" b="1">
                <a:solidFill>
                  <a:srgbClr val="22577A"/>
                </a:solidFill>
                <a:latin typeface="Rubik"/>
                <a:ea typeface="Rubik"/>
                <a:cs typeface="Rubik"/>
              </a:rPr>
              <a:t>b = median(d - m t)</a:t>
            </a:r>
          </a:p>
        </p:txBody>
      </p:sp>
      <p:graphicFrame>
        <p:nvGraphicFramePr>
          <p:cNvPr id="19" name=""/>
          <p:cNvGraphicFramePr/>
          <p:nvPr/>
        </p:nvGraphicFramePr>
        <p:xfrm>
          <a:off xmlns:a="http://schemas.openxmlformats.org/drawingml/2006/main" x="8096250" y="3448050"/>
          <a:ext xmlns:a="http://schemas.openxmlformats.org/drawingml/2006/main" cx="3476625" cy="2038350"/>
        </p:xfrm>
        <a:graphic xmlns:a="http://schemas.openxmlformats.org/drawingml/2006/main">
          <a:graphicData uri="http://schemas.openxmlformats.org/drawingml/2006/table">
            <a:tbl>
              <a:tblPr/>
              <a:tblGrid>
                <a:gridCol w="1762125"/>
                <a:gridCol w="1714500"/>
              </a:tblGrid>
              <a:tr h="407670">
                <a:tc>
                  <a:txBody>
                    <a:bodyPr/>
                    <a:lstStyle/>
                    <a:p>
                      <a:r>
                        <a:rPr sz="1650" b="1">
                          <a:solidFill>
                            <a:srgbClr val="FFFFFF"/>
                          </a:solidFill>
                          <a:latin typeface="Noto Sans"/>
                          <a:ea typeface="Noto Sans"/>
                          <a:cs typeface="Noto Sans"/>
                        </a:rPr>
                        <a:t>S4 fit</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Value</a:t>
                      </a:r>
                    </a:p>
                  </a:txBody>
                  <a:tcPr marL="95250" marR="95250" marT="57150" marB="57150">
                    <a:solidFill>
                      <a:srgbClr val="22577A"/>
                    </a:solidFill>
                  </a:tcPr>
                </a:tc>
              </a:tr>
              <a:tr h="407670">
                <a:tc>
                  <a:txBody>
                    <a:bodyPr/>
                    <a:lstStyle/>
                    <a:p>
                      <a:r>
                        <a:rPr sz="1575" b="0">
                          <a:solidFill>
                            <a:srgbClr val="26333C"/>
                          </a:solidFill>
                          <a:latin typeface="Noto Sans"/>
                          <a:ea typeface="Noto Sans"/>
                          <a:cs typeface="Noto Sans"/>
                        </a:rPr>
                        <a:t>Slope</a:t>
                      </a:r>
                    </a:p>
                  </a:txBody>
                  <a:tcPr marL="95250" marR="95250" marT="57150" marB="57150">
                    <a:solidFill>
                      <a:srgbClr val="DDECF2"/>
                    </a:solidFill>
                  </a:tcPr>
                </a:tc>
                <a:tc>
                  <a:txBody>
                    <a:bodyPr/>
                    <a:lstStyle/>
                    <a:p>
                      <a:r>
                        <a:rPr sz="1575" b="0">
                          <a:solidFill>
                            <a:srgbClr val="26333C"/>
                          </a:solidFill>
                          <a:latin typeface="Noto Sans"/>
                          <a:ea typeface="Noto Sans"/>
                          <a:cs typeface="Noto Sans"/>
                        </a:rPr>
                        <a:t>-0.313m/s</a:t>
                      </a:r>
                    </a:p>
                  </a:txBody>
                  <a:tcPr marL="95250" marR="95250" marT="57150" marB="57150">
                    <a:solidFill>
                      <a:srgbClr val="DDECF2"/>
                    </a:solidFill>
                  </a:tcPr>
                </a:tc>
              </a:tr>
              <a:tr h="407670">
                <a:tc>
                  <a:txBody>
                    <a:bodyPr/>
                    <a:lstStyle/>
                    <a:p>
                      <a:r>
                        <a:rPr sz="1575" b="0">
                          <a:solidFill>
                            <a:srgbClr val="26333C"/>
                          </a:solidFill>
                          <a:latin typeface="Noto Sans"/>
                          <a:ea typeface="Noto Sans"/>
                          <a:cs typeface="Noto Sans"/>
                        </a:rPr>
                        <a:t>RMS residual</a:t>
                      </a:r>
                    </a:p>
                  </a:txBody>
                  <a:tcPr marL="95250" marR="95250" marT="57150" marB="57150">
                    <a:solidFill>
                      <a:srgbClr val="F3F0E7"/>
                    </a:solidFill>
                  </a:tcPr>
                </a:tc>
                <a:tc>
                  <a:txBody>
                    <a:bodyPr/>
                    <a:lstStyle/>
                    <a:p>
                      <a:r>
                        <a:rPr sz="1575" b="0">
                          <a:solidFill>
                            <a:srgbClr val="26333C"/>
                          </a:solidFill>
                          <a:latin typeface="Noto Sans"/>
                          <a:ea typeface="Noto Sans"/>
                          <a:cs typeface="Noto Sans"/>
                        </a:rPr>
                        <a:t>0.093m</a:t>
                      </a:r>
                    </a:p>
                  </a:txBody>
                  <a:tcPr marL="95250" marR="95250" marT="57150" marB="57150">
                    <a:solidFill>
                      <a:srgbClr val="F3F0E7"/>
                    </a:solidFill>
                  </a:tcPr>
                </a:tc>
              </a:tr>
              <a:tr h="407670">
                <a:tc>
                  <a:txBody>
                    <a:bodyPr/>
                    <a:lstStyle/>
                    <a:p>
                      <a:r>
                        <a:rPr sz="1575" b="0">
                          <a:solidFill>
                            <a:srgbClr val="26333C"/>
                          </a:solidFill>
                          <a:latin typeface="Noto Sans"/>
                          <a:ea typeface="Noto Sans"/>
                          <a:cs typeface="Noto Sans"/>
                        </a:rPr>
                        <a:t>Samples / span</a:t>
                      </a:r>
                    </a:p>
                  </a:txBody>
                  <a:tcPr marL="95250" marR="95250" marT="57150" marB="57150">
                    <a:solidFill>
                      <a:srgbClr val="DDECF2"/>
                    </a:solidFill>
                  </a:tcPr>
                </a:tc>
                <a:tc>
                  <a:txBody>
                    <a:bodyPr/>
                    <a:lstStyle/>
                    <a:p>
                      <a:r>
                        <a:rPr sz="1575" b="0">
                          <a:solidFill>
                            <a:srgbClr val="26333C"/>
                          </a:solidFill>
                          <a:latin typeface="Noto Sans"/>
                          <a:ea typeface="Noto Sans"/>
                          <a:cs typeface="Noto Sans"/>
                        </a:rPr>
                        <a:t>12 / 1.09s</a:t>
                      </a:r>
                    </a:p>
                  </a:txBody>
                  <a:tcPr marL="95250" marR="95250" marT="57150" marB="57150">
                    <a:solidFill>
                      <a:srgbClr val="DDECF2"/>
                    </a:solidFill>
                  </a:tcPr>
                </a:tc>
              </a:tr>
              <a:tr h="407670">
                <a:tc>
                  <a:txBody>
                    <a:bodyPr/>
                    <a:lstStyle/>
                    <a:p>
                      <a:r>
                        <a:rPr sz="1575" b="0">
                          <a:solidFill>
                            <a:srgbClr val="26333C"/>
                          </a:solidFill>
                          <a:latin typeface="Noto Sans"/>
                          <a:ea typeface="Noto Sans"/>
                          <a:cs typeface="Noto Sans"/>
                        </a:rPr>
                        <a:t>Classification</a:t>
                      </a:r>
                    </a:p>
                  </a:txBody>
                  <a:tcPr marL="95250" marR="95250" marT="57150" marB="57150">
                    <a:solidFill>
                      <a:srgbClr val="F3F0E7"/>
                    </a:solidFill>
                  </a:tcPr>
                </a:tc>
                <a:tc>
                  <a:txBody>
                    <a:bodyPr/>
                    <a:lstStyle/>
                    <a:p>
                      <a:r>
                        <a:rPr sz="1575" b="0">
                          <a:solidFill>
                            <a:srgbClr val="26333C"/>
                          </a:solidFill>
                          <a:latin typeface="Noto Sans"/>
                          <a:ea typeface="Noto Sans"/>
                          <a:cs typeface="Noto Sans"/>
                        </a:rPr>
                        <a:t>DECREASING</a:t>
                      </a:r>
                    </a:p>
                  </a:txBody>
                  <a:tcPr marL="95250" marR="95250" marT="57150" marB="57150">
                    <a:solidFill>
                      <a:srgbClr val="F3F0E7"/>
                    </a:solidFill>
                  </a:tcPr>
                </a:tc>
              </a:tr>
            </a:tbl>
          </a:graphicData>
        </a:graphic>
      </p:graphicFrame>
      <p:sp>
        <p:nvSpPr>
          <p:cNvPr id="10" name="">
            <a:extLst xmlns:a="http://schemas.openxmlformats.org/drawingml/2006/main">
              <a:ext uri="{FF2B5EF4-FFF2-40B4-BE49-F238E27FC236}">
                <a16:creationId xmlns:a16="http://schemas.microsoft.com/office/drawing/2014/main" id="{0BCF0AF2-8A3D-47FF-8082-C85726462205}"/>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Actual S4 first-decision samples. Negative slope describes decreasing separation, not verified human motion.</a:t>
            </a:r>
          </a:p>
        </p:txBody>
      </p:sp>
    </p:spTree>
    <p:extLst>
      <p:ext uri="{BB962C8B-B14F-4D97-AF65-F5344CB8AC3E}">
        <p14:creationId xmlns:p14="http://schemas.microsoft.com/office/powerpoint/2010/main" val="15169537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E363A6-2427-43C2-B4C5-436A80017E61}"/>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3980CD-E57D-4428-9E6B-3C2C3CF5C43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030194-DDED-4595-810B-A76670B60B34}"/>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Distance Fit Quality and Trend Labels</a:t>
            </a:r>
          </a:p>
        </p:txBody>
      </p:sp>
      <p:sp>
        <p:nvSpPr>
          <p:cNvPr id="4" name="">
            <a:extLst xmlns:a="http://schemas.openxmlformats.org/drawingml/2006/main">
              <a:ext uri="{FF2B5EF4-FFF2-40B4-BE49-F238E27FC236}">
                <a16:creationId xmlns:a16="http://schemas.microsoft.com/office/drawing/2014/main" id="{4661D0F3-E8C7-4FCC-B2AE-CDCAD4E5B97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10</a:t>
            </a:r>
          </a:p>
        </p:txBody>
      </p:sp>
      <p:sp>
        <p:nvSpPr>
          <p:cNvPr id="5" name="">
            <a:extLst xmlns:a="http://schemas.openxmlformats.org/drawingml/2006/main">
              <a:ext uri="{FF2B5EF4-FFF2-40B4-BE49-F238E27FC236}">
                <a16:creationId xmlns:a16="http://schemas.microsoft.com/office/drawing/2014/main" id="{B4D778BC-D6B2-4CB3-88F1-8F1BADE7646C}"/>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17</a:t>
            </a:r>
          </a:p>
        </p:txBody>
      </p:sp>
      <p:graphicFrame>
        <p:nvGraphicFramePr>
          <p:cNvPr id="15" name=""/>
          <p:cNvGraphicFramePr/>
          <p:nvPr/>
        </p:nvGraphicFramePr>
        <p:xfrm>
          <a:off xmlns:a="http://schemas.openxmlformats.org/drawingml/2006/main" x="571500" y="1485900"/>
          <a:ext xmlns:a="http://schemas.openxmlformats.org/drawingml/2006/main" cx="6381750" cy="3333750"/>
        </p:xfrm>
        <a:graphic xmlns:a="http://schemas.openxmlformats.org/drawingml/2006/main">
          <a:graphicData uri="http://schemas.openxmlformats.org/drawingml/2006/table">
            <a:tbl>
              <a:tblPr/>
              <a:tblGrid>
                <a:gridCol w="3714750"/>
                <a:gridCol w="2667000"/>
              </a:tblGrid>
              <a:tr h="476250">
                <a:tc>
                  <a:txBody>
                    <a:bodyPr/>
                    <a:lstStyle/>
                    <a:p>
                      <a:r>
                        <a:rPr sz="1725" b="1">
                          <a:solidFill>
                            <a:srgbClr val="FFFFFF"/>
                          </a:solidFill>
                          <a:latin typeface="Noto Sans"/>
                          <a:ea typeface="Noto Sans"/>
                          <a:cs typeface="Noto Sans"/>
                        </a:rPr>
                        <a:t>Fit-quality condition</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Final value</a:t>
                      </a:r>
                    </a:p>
                  </a:txBody>
                  <a:tcPr marL="95250" marR="95250" marT="57150" marB="57150">
                    <a:solidFill>
                      <a:srgbClr val="22577A"/>
                    </a:solidFill>
                  </a:tcPr>
                </a:tc>
              </a:tr>
              <a:tr h="476250">
                <a:tc>
                  <a:txBody>
                    <a:bodyPr/>
                    <a:lstStyle/>
                    <a:p>
                      <a:r>
                        <a:rPr sz="1650" b="0">
                          <a:solidFill>
                            <a:srgbClr val="26333C"/>
                          </a:solidFill>
                          <a:latin typeface="Noto Sans"/>
                          <a:ea typeface="Noto Sans"/>
                          <a:cs typeface="Noto Sans"/>
                        </a:rPr>
                        <a:t>Minimum sample count</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5</a:t>
                      </a:r>
                    </a:p>
                  </a:txBody>
                  <a:tcPr marL="95250" marR="95250" marT="57150" marB="57150">
                    <a:solidFill>
                      <a:srgbClr val="DDECF2"/>
                    </a:solidFill>
                  </a:tcPr>
                </a:tc>
              </a:tr>
              <a:tr h="476250">
                <a:tc>
                  <a:txBody>
                    <a:bodyPr/>
                    <a:lstStyle/>
                    <a:p>
                      <a:r>
                        <a:rPr sz="1650" b="0">
                          <a:solidFill>
                            <a:srgbClr val="26333C"/>
                          </a:solidFill>
                          <a:latin typeface="Noto Sans"/>
                          <a:ea typeface="Noto Sans"/>
                          <a:cs typeface="Noto Sans"/>
                        </a:rPr>
                        <a:t>Minimum segment span</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1.0s</a:t>
                      </a:r>
                    </a:p>
                  </a:txBody>
                  <a:tcPr marL="95250" marR="95250" marT="57150" marB="57150">
                    <a:solidFill>
                      <a:srgbClr val="F3F0E7"/>
                    </a:solidFill>
                  </a:tcPr>
                </a:tc>
              </a:tr>
              <a:tr h="476250">
                <a:tc>
                  <a:txBody>
                    <a:bodyPr/>
                    <a:lstStyle/>
                    <a:p>
                      <a:r>
                        <a:rPr sz="1650" b="0">
                          <a:solidFill>
                            <a:srgbClr val="26333C"/>
                          </a:solidFill>
                          <a:latin typeface="Noto Sans"/>
                          <a:ea typeface="Noto Sans"/>
                          <a:cs typeface="Noto Sans"/>
                        </a:rPr>
                        <a:t>Maximum fit samples</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32, evenly sampled when needed</a:t>
                      </a:r>
                    </a:p>
                  </a:txBody>
                  <a:tcPr marL="95250" marR="95250" marT="57150" marB="57150">
                    <a:solidFill>
                      <a:srgbClr val="DDECF2"/>
                    </a:solidFill>
                  </a:tcPr>
                </a:tc>
              </a:tr>
              <a:tr h="476250">
                <a:tc>
                  <a:txBody>
                    <a:bodyPr/>
                    <a:lstStyle/>
                    <a:p>
                      <a:r>
                        <a:rPr sz="1650" b="0">
                          <a:solidFill>
                            <a:srgbClr val="26333C"/>
                          </a:solidFill>
                          <a:latin typeface="Noto Sans"/>
                          <a:ea typeface="Noto Sans"/>
                          <a:cs typeface="Noto Sans"/>
                        </a:rPr>
                        <a:t>Maximum source gap</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0.25s</a:t>
                      </a:r>
                    </a:p>
                  </a:txBody>
                  <a:tcPr marL="95250" marR="95250" marT="57150" marB="57150">
                    <a:solidFill>
                      <a:srgbClr val="F3F0E7"/>
                    </a:solidFill>
                  </a:tcPr>
                </a:tc>
              </a:tr>
              <a:tr h="476250">
                <a:tc>
                  <a:txBody>
                    <a:bodyPr/>
                    <a:lstStyle/>
                    <a:p>
                      <a:r>
                        <a:rPr sz="1650" b="0">
                          <a:solidFill>
                            <a:srgbClr val="26333C"/>
                          </a:solidFill>
                          <a:latin typeface="Noto Sans"/>
                          <a:ea typeface="Noto Sans"/>
                          <a:cs typeface="Noto Sans"/>
                        </a:rPr>
                        <a:t>Jump allowance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3.0m/s times elapsed time + 0.05m</a:t>
                      </a:r>
                    </a:p>
                  </a:txBody>
                  <a:tcPr marL="95250" marR="95250" marT="57150" marB="57150">
                    <a:solidFill>
                      <a:srgbClr val="DDECF2"/>
                    </a:solidFill>
                  </a:tcPr>
                </a:tc>
              </a:tr>
              <a:tr h="476250">
                <a:tc>
                  <a:txBody>
                    <a:bodyPr/>
                    <a:lstStyle/>
                    <a:p>
                      <a:r>
                        <a:rPr sz="1650" b="0">
                          <a:solidFill>
                            <a:srgbClr val="26333C"/>
                          </a:solidFill>
                          <a:latin typeface="Noto Sans"/>
                          <a:ea typeface="Noto Sans"/>
                          <a:cs typeface="Noto Sans"/>
                        </a:rPr>
                        <a:t>Maximum RMS residual</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0.10m</a:t>
                      </a:r>
                    </a:p>
                  </a:txBody>
                  <a:tcPr marL="95250" marR="95250" marT="57150" marB="57150">
                    <a:solidFill>
                      <a:srgbClr val="F3F0E7"/>
                    </a:solidFill>
                  </a:tcPr>
                </a:tc>
              </a:tr>
            </a:tbl>
          </a:graphicData>
        </a:graphic>
      </p:graphicFrame>
      <p:graphicFrame>
        <p:nvGraphicFramePr>
          <p:cNvPr id="16" name=""/>
          <p:cNvGraphicFramePr/>
          <p:nvPr/>
        </p:nvGraphicFramePr>
        <p:xfrm>
          <a:off xmlns:a="http://schemas.openxmlformats.org/drawingml/2006/main" x="7477125" y="1485900"/>
          <a:ext xmlns:a="http://schemas.openxmlformats.org/drawingml/2006/main" cx="4095750" cy="3333750"/>
        </p:xfrm>
        <a:graphic xmlns:a="http://schemas.openxmlformats.org/drawingml/2006/main">
          <a:graphicData uri="http://schemas.openxmlformats.org/drawingml/2006/table">
            <a:tbl>
              <a:tblPr/>
              <a:tblGrid>
                <a:gridCol w="2238375"/>
                <a:gridCol w="1857375"/>
              </a:tblGrid>
              <a:tr h="666750">
                <a:tc>
                  <a:txBody>
                    <a:bodyPr/>
                    <a:lstStyle/>
                    <a:p>
                      <a:r>
                        <a:rPr sz="1725" b="1">
                          <a:solidFill>
                            <a:srgbClr val="FFFFFF"/>
                          </a:solidFill>
                          <a:latin typeface="Noto Sans"/>
                          <a:ea typeface="Noto Sans"/>
                          <a:cs typeface="Noto Sans"/>
                        </a:rPr>
                        <a:t>Valid fitted slope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Trend</a:t>
                      </a:r>
                    </a:p>
                  </a:txBody>
                  <a:tcPr marL="95250" marR="95250" marT="57150" marB="57150">
                    <a:solidFill>
                      <a:srgbClr val="22577A"/>
                    </a:solidFill>
                  </a:tcPr>
                </a:tc>
              </a:tr>
              <a:tr h="666750">
                <a:tc>
                  <a:txBody>
                    <a:bodyPr/>
                    <a:lstStyle/>
                    <a:p>
                      <a:r>
                        <a:rPr sz="1650" b="0">
                          <a:solidFill>
                            <a:srgbClr val="26333C"/>
                          </a:solidFill>
                          <a:latin typeface="Noto Sans"/>
                          <a:ea typeface="Noto Sans"/>
                          <a:cs typeface="Noto Sans"/>
                        </a:rPr>
                        <a:t>m &lt; -0.10m/s</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DECREASING</a:t>
                      </a:r>
                    </a:p>
                  </a:txBody>
                  <a:tcPr marL="95250" marR="95250" marT="57150" marB="57150">
                    <a:solidFill>
                      <a:srgbClr val="DDECF2"/>
                    </a:solidFill>
                  </a:tcPr>
                </a:tc>
              </a:tr>
              <a:tr h="666750">
                <a:tc>
                  <a:txBody>
                    <a:bodyPr/>
                    <a:lstStyle/>
                    <a:p>
                      <a:r>
                        <a:rPr sz="1650" b="0">
                          <a:solidFill>
                            <a:srgbClr val="26333C"/>
                          </a:solidFill>
                          <a:latin typeface="Noto Sans"/>
                          <a:ea typeface="Noto Sans"/>
                          <a:cs typeface="Noto Sans"/>
                        </a:rPr>
                        <a:t>-0.10 to +0.10m/s</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STABLE</a:t>
                      </a:r>
                    </a:p>
                  </a:txBody>
                  <a:tcPr marL="95250" marR="95250" marT="57150" marB="57150">
                    <a:solidFill>
                      <a:srgbClr val="F3F0E7"/>
                    </a:solidFill>
                  </a:tcPr>
                </a:tc>
              </a:tr>
              <a:tr h="666750">
                <a:tc>
                  <a:txBody>
                    <a:bodyPr/>
                    <a:lstStyle/>
                    <a:p>
                      <a:r>
                        <a:rPr sz="1650" b="0">
                          <a:solidFill>
                            <a:srgbClr val="26333C"/>
                          </a:solidFill>
                          <a:latin typeface="Noto Sans"/>
                          <a:ea typeface="Noto Sans"/>
                          <a:cs typeface="Noto Sans"/>
                        </a:rPr>
                        <a:t>m &gt; +0.10m/s</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INCREASING</a:t>
                      </a:r>
                    </a:p>
                  </a:txBody>
                  <a:tcPr marL="95250" marR="95250" marT="57150" marB="57150">
                    <a:solidFill>
                      <a:srgbClr val="DDECF2"/>
                    </a:solidFill>
                  </a:tcPr>
                </a:tc>
              </a:tr>
              <a:tr h="666750">
                <a:tc>
                  <a:txBody>
                    <a:bodyPr/>
                    <a:lstStyle/>
                    <a:p>
                      <a:r>
                        <a:rPr sz="1650" b="0">
                          <a:solidFill>
                            <a:srgbClr val="26333C"/>
                          </a:solidFill>
                          <a:latin typeface="Noto Sans"/>
                          <a:ea typeface="Noto Sans"/>
                          <a:cs typeface="Noto Sans"/>
                        </a:rPr>
                        <a:t>Invalid evidence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UNKNOWN</a:t>
                      </a:r>
                    </a:p>
                  </a:txBody>
                  <a:tcPr marL="95250" marR="95250" marT="57150" marB="57150">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2AAD4E36-8B51-44B5-8E93-891238230C25}"/>
              </a:ext>
            </a:extLst>
          </p:cNvPr>
          <p:cNvSpPr>
            <a:spLocks xmlns:a="http://schemas.openxmlformats.org/drawingml/2006/main" noGrp="1"/>
          </p:cNvSpPr>
          <p:nvPr/>
        </p:nvSpPr>
        <p:spPr>
          <a:xfrm xmlns:a="http://schemas.openxmlformats.org/drawingml/2006/main">
            <a:off x="619125" y="52578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Null, gap or jump starts a new fitting segment</a:t>
            </a:r>
          </a:p>
        </p:txBody>
      </p:sp>
      <p:sp>
        <p:nvSpPr>
          <p:cNvPr id="9" name="">
            <a:extLst xmlns:a="http://schemas.openxmlformats.org/drawingml/2006/main">
              <a:ext uri="{FF2B5EF4-FFF2-40B4-BE49-F238E27FC236}">
                <a16:creationId xmlns:a16="http://schemas.microsoft.com/office/drawing/2014/main" id="{FED8EA5E-3E2F-49FE-B2DC-FB9707BE2974}"/>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The model receives the category and validity. Full diagnostics retain slope, span, residual and jump counts.</a:t>
            </a:r>
          </a:p>
        </p:txBody>
      </p:sp>
    </p:spTree>
    <p:extLst>
      <p:ext uri="{BB962C8B-B14F-4D97-AF65-F5344CB8AC3E}">
        <p14:creationId xmlns:p14="http://schemas.microsoft.com/office/powerpoint/2010/main" val="15835849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A61396-D76D-46EB-92A6-20D770C6C6D0}"/>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2AF579-FA7E-488C-9983-7E0C4C9016AD}"/>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1C4EBC-228D-4B27-8184-B96C97A263FD}"/>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Proximity Bands and Forward-Corridor Position</a:t>
            </a:r>
          </a:p>
        </p:txBody>
      </p:sp>
      <p:sp>
        <p:nvSpPr>
          <p:cNvPr id="4" name="">
            <a:extLst xmlns:a="http://schemas.openxmlformats.org/drawingml/2006/main">
              <a:ext uri="{FF2B5EF4-FFF2-40B4-BE49-F238E27FC236}">
                <a16:creationId xmlns:a16="http://schemas.microsoft.com/office/drawing/2014/main" id="{9735DDBD-BBC8-4DAD-BEB2-A6D73F4DCDCC}"/>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11</a:t>
            </a:r>
          </a:p>
        </p:txBody>
      </p:sp>
      <p:sp>
        <p:nvSpPr>
          <p:cNvPr id="5" name="">
            <a:extLst xmlns:a="http://schemas.openxmlformats.org/drawingml/2006/main">
              <a:ext uri="{FF2B5EF4-FFF2-40B4-BE49-F238E27FC236}">
                <a16:creationId xmlns:a16="http://schemas.microsoft.com/office/drawing/2014/main" id="{D1884E06-7B45-4300-9EA6-36FF573DBB0C}"/>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18</a:t>
            </a:r>
          </a:p>
        </p:txBody>
      </p:sp>
      <p:graphicFrame>
        <p:nvGraphicFramePr>
          <p:cNvPr id="15" name=""/>
          <p:cNvGraphicFramePr/>
          <p:nvPr/>
        </p:nvGraphicFramePr>
        <p:xfrm>
          <a:off xmlns:a="http://schemas.openxmlformats.org/drawingml/2006/main" x="571500" y="1533525"/>
          <a:ext xmlns:a="http://schemas.openxmlformats.org/drawingml/2006/main" cx="5476875" cy="2524125"/>
        </p:xfrm>
        <a:graphic xmlns:a="http://schemas.openxmlformats.org/drawingml/2006/main">
          <a:graphicData uri="http://schemas.openxmlformats.org/drawingml/2006/table">
            <a:tbl>
              <a:tblPr/>
              <a:tblGrid>
                <a:gridCol w="3190875"/>
                <a:gridCol w="2286000"/>
              </a:tblGrid>
              <a:tr h="504825">
                <a:tc>
                  <a:txBody>
                    <a:bodyPr/>
                    <a:lstStyle/>
                    <a:p>
                      <a:r>
                        <a:rPr sz="1725" b="1">
                          <a:solidFill>
                            <a:srgbClr val="FFFFFF"/>
                          </a:solidFill>
                          <a:latin typeface="Noto Sans"/>
                          <a:ea typeface="Noto Sans"/>
                          <a:cs typeface="Noto Sans"/>
                        </a:rPr>
                        <a:t>Distance band</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Category</a:t>
                      </a:r>
                    </a:p>
                  </a:txBody>
                  <a:tcPr marL="95250" marR="95250" marT="57150" marB="57150">
                    <a:solidFill>
                      <a:srgbClr val="22577A"/>
                    </a:solidFill>
                  </a:tcPr>
                </a:tc>
              </a:tr>
              <a:tr h="504825">
                <a:tc>
                  <a:txBody>
                    <a:bodyPr/>
                    <a:lstStyle/>
                    <a:p>
                      <a:r>
                        <a:rPr sz="1613" b="0">
                          <a:solidFill>
                            <a:srgbClr val="26333C"/>
                          </a:solidFill>
                          <a:latin typeface="Noto Sans"/>
                          <a:ea typeface="Noto Sans"/>
                          <a:cs typeface="Noto Sans"/>
                        </a:rPr>
                        <a:t>At most 0.6m</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TOO_CLOSE</a:t>
                      </a:r>
                    </a:p>
                  </a:txBody>
                  <a:tcPr marL="95250" marR="95250" marT="57150" marB="57150">
                    <a:solidFill>
                      <a:srgbClr val="DDECF2"/>
                    </a:solidFill>
                  </a:tcPr>
                </a:tc>
              </a:tr>
              <a:tr h="504825">
                <a:tc>
                  <a:txBody>
                    <a:bodyPr/>
                    <a:lstStyle/>
                    <a:p>
                      <a:r>
                        <a:rPr sz="1613" b="0">
                          <a:solidFill>
                            <a:srgbClr val="26333C"/>
                          </a:solidFill>
                          <a:latin typeface="Noto Sans"/>
                          <a:ea typeface="Noto Sans"/>
                          <a:cs typeface="Noto Sans"/>
                        </a:rPr>
                        <a:t>Above 0.6m through 2.0m</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INTERACTION_RANGE</a:t>
                      </a:r>
                    </a:p>
                  </a:txBody>
                  <a:tcPr marL="95250" marR="95250" marT="57150" marB="57150">
                    <a:solidFill>
                      <a:srgbClr val="F3F0E7"/>
                    </a:solidFill>
                  </a:tcPr>
                </a:tc>
              </a:tr>
              <a:tr h="504825">
                <a:tc>
                  <a:txBody>
                    <a:bodyPr/>
                    <a:lstStyle/>
                    <a:p>
                      <a:r>
                        <a:rPr sz="1613" b="0">
                          <a:solidFill>
                            <a:srgbClr val="26333C"/>
                          </a:solidFill>
                          <a:latin typeface="Noto Sans"/>
                          <a:ea typeface="Noto Sans"/>
                          <a:cs typeface="Noto Sans"/>
                        </a:rPr>
                        <a:t>Above 2.0m through 6.0m</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APPROACHABLE</a:t>
                      </a:r>
                    </a:p>
                  </a:txBody>
                  <a:tcPr marL="95250" marR="95250" marT="57150" marB="57150">
                    <a:solidFill>
                      <a:srgbClr val="DDECF2"/>
                    </a:solidFill>
                  </a:tcPr>
                </a:tc>
              </a:tr>
              <a:tr h="504825">
                <a:tc>
                  <a:txBody>
                    <a:bodyPr/>
                    <a:lstStyle/>
                    <a:p>
                      <a:r>
                        <a:rPr sz="1613" b="0">
                          <a:solidFill>
                            <a:srgbClr val="26333C"/>
                          </a:solidFill>
                          <a:latin typeface="Noto Sans"/>
                          <a:ea typeface="Noto Sans"/>
                          <a:cs typeface="Noto Sans"/>
                        </a:rPr>
                        <a:t>Beyond 6.0m</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FAR</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D97F0A2F-0E40-478B-8364-726AEE4A1253}"/>
              </a:ext>
            </a:extLst>
          </p:cNvPr>
          <p:cNvSpPr>
            <a:spLocks xmlns:a="http://schemas.openxmlformats.org/drawingml/2006/main" noGrp="1"/>
          </p:cNvSpPr>
          <p:nvPr/>
        </p:nvSpPr>
        <p:spPr>
          <a:xfrm xmlns:a="http://schemas.openxmlformats.org/drawingml/2006/main">
            <a:off x="619125" y="4457700"/>
            <a:ext cx="5381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2577A"/>
                </a:solidFill>
                <a:latin typeface="Noto Sans"/>
                <a:ea typeface="Noto Sans"/>
                <a:cs typeface="Noto Sans"/>
              </a:defRPr>
            </a:pPr>
            <a:r>
              <a:rPr sz="1875" b="1">
                <a:solidFill>
                  <a:srgbClr val="22577A"/>
                </a:solidFill>
                <a:latin typeface="Noto Sans"/>
                <a:ea typeface="Noto Sans"/>
                <a:cs typeface="Noto Sans"/>
              </a:rPr>
              <a:t>Corridor half width 0.40m</a:t>
            </a:r>
          </a:p>
          <a:p xmlns:a="http://schemas.openxmlformats.org/drawingml/2006/main">
            <a:pPr algn="l">
              <a:defRPr sz="1875" b="1">
                <a:solidFill>
                  <a:srgbClr val="22577A"/>
                </a:solidFill>
                <a:latin typeface="Noto Sans"/>
                <a:ea typeface="Noto Sans"/>
                <a:cs typeface="Noto Sans"/>
              </a:defRPr>
            </a:pPr>
            <a:r>
              <a:rPr sz="1875" b="1">
                <a:solidFill>
                  <a:srgbClr val="22577A"/>
                </a:solidFill>
                <a:latin typeface="Noto Sans"/>
                <a:ea typeface="Noto Sans"/>
                <a:cs typeface="Noto Sans"/>
              </a:rPr>
              <a:t>Hysteresis 0.05m</a:t>
            </a:r>
          </a:p>
          <a:p xmlns:a="http://schemas.openxmlformats.org/drawingml/2006/main">
            <a:pPr algn="l">
              <a:defRPr sz="1875" b="1">
                <a:solidFill>
                  <a:srgbClr val="22577A"/>
                </a:solidFill>
                <a:latin typeface="Noto Sans"/>
                <a:ea typeface="Noto Sans"/>
                <a:cs typeface="Noto Sans"/>
              </a:defRPr>
            </a:pPr>
            <a:r>
              <a:rPr sz="1875" b="1">
                <a:solidFill>
                  <a:srgbClr val="22577A"/>
                </a:solidFill>
                <a:latin typeface="Noto Sans"/>
                <a:ea typeface="Noto Sans"/>
                <a:cs typeface="Noto Sans"/>
              </a:rPr>
              <a:t>Fixed head, offsets and yaw = 0</a:t>
            </a:r>
          </a:p>
        </p:txBody>
      </p:sp>
      <p:graphicFrame>
        <p:nvGraphicFramePr>
          <p:cNvPr id="17" name="Chart"/>
          <p:cNvGraphicFramePr/>
          <p:nvPr/>
        </p:nvGraphicFramePr>
        <p:xfrm>
          <a:off xmlns:a="http://schemas.openxmlformats.org/drawingml/2006/main" x="6524625" y="1457325"/>
          <a:ext xmlns:a="http://schemas.openxmlformats.org/drawingml/2006/main" cx="5048250" cy="4219575"/>
        </p:xfrm>
        <a:graphic xmlns:a="http://schemas.openxmlformats.org/drawingml/2006/main">
          <a:graphicData uri="http://schemas.openxmlformats.org/drawingml/2006/chart">
            <c:chart xmlns:r="http://schemas.openxmlformats.org/officeDocument/2006/relationships" xmlns:c="http://schemas.openxmlformats.org/drawingml/2006/chart" r:id="R567eabe507ea4835"/>
          </a:graphicData>
        </a:graphic>
      </p:graphicFrame>
      <p:sp>
        <p:nvSpPr>
          <p:cNvPr id="9" name="">
            <a:extLst xmlns:a="http://schemas.openxmlformats.org/drawingml/2006/main">
              <a:ext uri="{FF2B5EF4-FFF2-40B4-BE49-F238E27FC236}">
                <a16:creationId xmlns:a16="http://schemas.microsoft.com/office/drawing/2014/main" id="{33FF6A6C-BA43-425C-AC4E-D27C65726BF8}"/>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Nose position estimates current corridor occupancy. It does not establish collision, future clearance or intent.</a:t>
            </a:r>
          </a:p>
        </p:txBody>
      </p:sp>
    </p:spTree>
    <p:extLst>
      <p:ext uri="{BB962C8B-B14F-4D97-AF65-F5344CB8AC3E}">
        <p14:creationId xmlns:p14="http://schemas.microsoft.com/office/powerpoint/2010/main" val="9706261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A5C2F1-3A53-43AF-BEE5-1ACCFAA2B0BB}"/>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85C5CA-4836-4F75-8173-5E2A701E07F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510FDA-6412-480C-BEFF-4CA6CD042BC7}"/>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Supported Rule Precedence</a:t>
            </a:r>
          </a:p>
        </p:txBody>
      </p:sp>
      <p:sp>
        <p:nvSpPr>
          <p:cNvPr id="4" name="">
            <a:extLst xmlns:a="http://schemas.openxmlformats.org/drawingml/2006/main">
              <a:ext uri="{FF2B5EF4-FFF2-40B4-BE49-F238E27FC236}">
                <a16:creationId xmlns:a16="http://schemas.microsoft.com/office/drawing/2014/main" id="{EFDDFD87-50C6-40D2-9EDF-E706A24DBFDB}"/>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12</a:t>
            </a:r>
          </a:p>
        </p:txBody>
      </p:sp>
      <p:sp>
        <p:nvSpPr>
          <p:cNvPr id="5" name="">
            <a:extLst xmlns:a="http://schemas.openxmlformats.org/drawingml/2006/main">
              <a:ext uri="{FF2B5EF4-FFF2-40B4-BE49-F238E27FC236}">
                <a16:creationId xmlns:a16="http://schemas.microsoft.com/office/drawing/2014/main" id="{CE081FB4-3526-41E5-939D-3C0986461E3E}"/>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19</a:t>
            </a:r>
          </a:p>
        </p:txBody>
      </p:sp>
      <p:graphicFrame>
        <p:nvGraphicFramePr>
          <p:cNvPr id="13" name=""/>
          <p:cNvGraphicFramePr/>
          <p:nvPr/>
        </p:nvGraphicFramePr>
        <p:xfrm>
          <a:off xmlns:a="http://schemas.openxmlformats.org/drawingml/2006/main" x="571500" y="1485900"/>
          <a:ext xmlns:a="http://schemas.openxmlformats.org/drawingml/2006/main" cx="11001375" cy="4181475"/>
        </p:xfrm>
        <a:graphic xmlns:a="http://schemas.openxmlformats.org/drawingml/2006/main">
          <a:graphicData uri="http://schemas.openxmlformats.org/drawingml/2006/table">
            <a:tbl>
              <a:tblPr/>
              <a:tblGrid>
                <a:gridCol w="904875"/>
                <a:gridCol w="8286750"/>
                <a:gridCol w="1809750"/>
              </a:tblGrid>
              <a:tr h="464608">
                <a:tc>
                  <a:txBody>
                    <a:bodyPr/>
                    <a:lstStyle/>
                    <a:p>
                      <a:r>
                        <a:rPr sz="1725" b="1">
                          <a:solidFill>
                            <a:srgbClr val="FFFFFF"/>
                          </a:solidFill>
                          <a:latin typeface="Noto Sans"/>
                          <a:ea typeface="Noto Sans"/>
                          <a:cs typeface="Noto Sans"/>
                        </a:rPr>
                        <a:t>Priority</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Eligible evidence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Action</a:t>
                      </a:r>
                    </a:p>
                  </a:txBody>
                  <a:tcPr marL="95250" marR="95250" marT="57150" marB="57150">
                    <a:solidFill>
                      <a:srgbClr val="22577A"/>
                    </a:solidFill>
                  </a:tcPr>
                </a:tc>
              </a:tr>
              <a:tr h="464608">
                <a:tc>
                  <a:txBody>
                    <a:bodyPr/>
                    <a:lstStyle/>
                    <a:p>
                      <a:r>
                        <a:rPr sz="1613" b="0">
                          <a:solidFill>
                            <a:srgbClr val="26333C"/>
                          </a:solidFill>
                          <a:latin typeface="Noto Sans"/>
                          <a:ea typeface="Noto Sans"/>
                          <a:cs typeface="Noto Sans"/>
                        </a:rPr>
                        <a:t>1</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Configured continuous empty interval complete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CONTINUE</a:t>
                      </a:r>
                    </a:p>
                  </a:txBody>
                  <a:tcPr marL="95250" marR="95250" marT="57150" marB="57150">
                    <a:solidFill>
                      <a:srgbClr val="DDECF2"/>
                    </a:solidFill>
                  </a:tcPr>
                </a:tc>
              </a:tr>
              <a:tr h="464608">
                <a:tc>
                  <a:txBody>
                    <a:bodyPr/>
                    <a:lstStyle/>
                    <a:p>
                      <a:r>
                        <a:rPr sz="1613" b="0">
                          <a:solidFill>
                            <a:srgbClr val="26333C"/>
                          </a:solidFill>
                          <a:latin typeface="Noto Sans"/>
                          <a:ea typeface="Noto Sans"/>
                          <a:cs typeface="Noto Sans"/>
                        </a:rPr>
                        <a:t>2</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IN_WAY, valid closing, low gaze, face, within 3.5m</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YIELD</a:t>
                      </a:r>
                    </a:p>
                  </a:txBody>
                  <a:tcPr marL="95250" marR="95250" marT="57150" marB="57150">
                    <a:solidFill>
                      <a:srgbClr val="F3F0E7"/>
                    </a:solidFill>
                  </a:tcPr>
                </a:tc>
              </a:tr>
              <a:tr h="464608">
                <a:tc>
                  <a:txBody>
                    <a:bodyPr/>
                    <a:lstStyle/>
                    <a:p>
                      <a:r>
                        <a:rPr sz="1613" b="0">
                          <a:solidFill>
                            <a:srgbClr val="26333C"/>
                          </a:solidFill>
                          <a:latin typeface="Noto Sans"/>
                          <a:ea typeface="Noto Sans"/>
                          <a:cs typeface="Noto Sans"/>
                        </a:rPr>
                        <a:t>3</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Same closing and low-gaze evidence, TO_SIDE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CONTINUE</a:t>
                      </a:r>
                    </a:p>
                  </a:txBody>
                  <a:tcPr marL="95250" marR="95250" marT="57150" marB="57150">
                    <a:solidFill>
                      <a:srgbClr val="DDECF2"/>
                    </a:solidFill>
                  </a:tcPr>
                </a:tc>
              </a:tr>
              <a:tr h="464608">
                <a:tc>
                  <a:txBody>
                    <a:bodyPr/>
                    <a:lstStyle/>
                    <a:p>
                      <a:r>
                        <a:rPr sz="1613" b="0">
                          <a:solidFill>
                            <a:srgbClr val="26333C"/>
                          </a:solidFill>
                          <a:latin typeface="Noto Sans"/>
                          <a:ea typeface="Noto Sans"/>
                          <a:cs typeface="Noto Sans"/>
                        </a:rPr>
                        <a:t>4</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Held SUSTAINED category, latest gaze not looking</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CONTINUE</a:t>
                      </a:r>
                    </a:p>
                  </a:txBody>
                  <a:tcPr marL="95250" marR="95250" marT="57150" marB="57150">
                    <a:solidFill>
                      <a:srgbClr val="F3F0E7"/>
                    </a:solidFill>
                  </a:tcPr>
                </a:tc>
              </a:tr>
              <a:tr h="464608">
                <a:tc>
                  <a:txBody>
                    <a:bodyPr/>
                    <a:lstStyle/>
                    <a:p>
                      <a:r>
                        <a:rPr sz="1613" b="0">
                          <a:solidFill>
                            <a:srgbClr val="26333C"/>
                          </a:solidFill>
                          <a:latin typeface="Noto Sans"/>
                          <a:ea typeface="Noto Sans"/>
                          <a:cs typeface="Noto Sans"/>
                        </a:rPr>
                        <a:t>5</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Attentive and already within conversation range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ENGAGE</a:t>
                      </a:r>
                    </a:p>
                  </a:txBody>
                  <a:tcPr marL="95250" marR="95250" marT="57150" marB="57150">
                    <a:solidFill>
                      <a:srgbClr val="DDECF2"/>
                    </a:solidFill>
                  </a:tcPr>
                </a:tc>
              </a:tr>
              <a:tr h="464608">
                <a:tc>
                  <a:txBody>
                    <a:bodyPr/>
                    <a:lstStyle/>
                    <a:p>
                      <a:r>
                        <a:rPr sz="1613" b="0">
                          <a:solidFill>
                            <a:srgbClr val="26333C"/>
                          </a:solidFill>
                          <a:latin typeface="Noto Sans"/>
                          <a:ea typeface="Noto Sans"/>
                          <a:cs typeface="Noto Sans"/>
                        </a:rPr>
                        <a:t>6</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Reliable increasing separation outside conversation range</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CONTINUE</a:t>
                      </a:r>
                    </a:p>
                  </a:txBody>
                  <a:tcPr marL="95250" marR="95250" marT="57150" marB="57150">
                    <a:solidFill>
                      <a:srgbClr val="F3F0E7"/>
                    </a:solidFill>
                  </a:tcPr>
                </a:tc>
              </a:tr>
              <a:tr h="464608">
                <a:tc>
                  <a:txBody>
                    <a:bodyPr/>
                    <a:lstStyle/>
                    <a:p>
                      <a:r>
                        <a:rPr sz="1613" b="0">
                          <a:solidFill>
                            <a:srgbClr val="26333C"/>
                          </a:solidFill>
                          <a:latin typeface="Noto Sans"/>
                          <a:ea typeface="Noto Sans"/>
                          <a:cs typeface="Noto Sans"/>
                        </a:rPr>
                        <a:t>7</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Attentive within approach distance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APPROACH</a:t>
                      </a:r>
                    </a:p>
                  </a:txBody>
                  <a:tcPr marL="95250" marR="95250" marT="57150" marB="57150">
                    <a:solidFill>
                      <a:srgbClr val="DDECF2"/>
                    </a:solidFill>
                  </a:tcPr>
                </a:tc>
              </a:tr>
              <a:tr h="464608">
                <a:tc>
                  <a:txBody>
                    <a:bodyPr/>
                    <a:lstStyle/>
                    <a:p>
                      <a:r>
                        <a:rPr sz="1613" b="0">
                          <a:solidFill>
                            <a:srgbClr val="26333C"/>
                          </a:solidFill>
                          <a:latin typeface="Noto Sans"/>
                          <a:ea typeface="Noto Sans"/>
                          <a:cs typeface="Noto Sans"/>
                        </a:rPr>
                        <a:t>8</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Other eligible evidence</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CONTINUE</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AE6AF4F3-B76E-460B-B343-66A999A83C8C}"/>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Readiness precedes this table. No policy output is supplied for an unready observation.</a:t>
            </a:r>
          </a:p>
        </p:txBody>
      </p:sp>
    </p:spTree>
    <p:extLst>
      <p:ext uri="{BB962C8B-B14F-4D97-AF65-F5344CB8AC3E}">
        <p14:creationId xmlns:p14="http://schemas.microsoft.com/office/powerpoint/2010/main" val="197141840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258438-904F-4DEE-921F-F460737174B7}"/>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3BA062-74F7-4719-A1C8-31C82797602C}"/>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F176F5-76AF-494E-AA62-A59AA8D37BFC}"/>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Rule Refinements and Final Parameter Choices</a:t>
            </a:r>
          </a:p>
        </p:txBody>
      </p:sp>
      <p:sp>
        <p:nvSpPr>
          <p:cNvPr id="4" name="">
            <a:extLst xmlns:a="http://schemas.openxmlformats.org/drawingml/2006/main">
              <a:ext uri="{FF2B5EF4-FFF2-40B4-BE49-F238E27FC236}">
                <a16:creationId xmlns:a16="http://schemas.microsoft.com/office/drawing/2014/main" id="{03DD9770-F2A8-4743-8968-7B50EFEE6E98}"/>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13</a:t>
            </a:r>
          </a:p>
        </p:txBody>
      </p:sp>
      <p:sp>
        <p:nvSpPr>
          <p:cNvPr id="5" name="">
            <a:extLst xmlns:a="http://schemas.openxmlformats.org/drawingml/2006/main">
              <a:ext uri="{FF2B5EF4-FFF2-40B4-BE49-F238E27FC236}">
                <a16:creationId xmlns:a16="http://schemas.microsoft.com/office/drawing/2014/main" id="{A1858685-FD14-4C37-B470-F0731625B7A5}"/>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20</a:t>
            </a:r>
          </a:p>
        </p:txBody>
      </p:sp>
      <p:graphicFrame>
        <p:nvGraphicFramePr>
          <p:cNvPr id="13" name=""/>
          <p:cNvGraphicFramePr/>
          <p:nvPr/>
        </p:nvGraphicFramePr>
        <p:xfrm>
          <a:off xmlns:a="http://schemas.openxmlformats.org/drawingml/2006/main" x="571500" y="1457325"/>
          <a:ext xmlns:a="http://schemas.openxmlformats.org/drawingml/2006/main" cx="11001375" cy="4248150"/>
        </p:xfrm>
        <a:graphic xmlns:a="http://schemas.openxmlformats.org/drawingml/2006/main">
          <a:graphicData uri="http://schemas.openxmlformats.org/drawingml/2006/table">
            <a:tbl>
              <a:tblPr/>
              <a:tblGrid>
                <a:gridCol w="3714750"/>
                <a:gridCol w="2714625"/>
                <a:gridCol w="4572000"/>
              </a:tblGrid>
              <a:tr h="472017">
                <a:tc>
                  <a:txBody>
                    <a:bodyPr/>
                    <a:lstStyle/>
                    <a:p>
                      <a:r>
                        <a:rPr sz="1725" b="1">
                          <a:solidFill>
                            <a:srgbClr val="FFFFFF"/>
                          </a:solidFill>
                          <a:latin typeface="Noto Sans"/>
                          <a:ea typeface="Noto Sans"/>
                          <a:cs typeface="Noto Sans"/>
                        </a:rPr>
                        <a:t>Setting</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Final value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Design purpose</a:t>
                      </a:r>
                    </a:p>
                  </a:txBody>
                  <a:tcPr marL="95250" marR="95250" marT="57150" marB="57150">
                    <a:solidFill>
                      <a:srgbClr val="22577A"/>
                    </a:solidFill>
                  </a:tcPr>
                </a:tc>
              </a:tr>
              <a:tr h="472017">
                <a:tc>
                  <a:txBody>
                    <a:bodyPr/>
                    <a:lstStyle/>
                    <a:p>
                      <a:r>
                        <a:rPr sz="1613" b="0">
                          <a:solidFill>
                            <a:srgbClr val="26333C"/>
                          </a:solidFill>
                          <a:latin typeface="Noto Sans"/>
                          <a:ea typeface="Noto Sans"/>
                          <a:cs typeface="Noto Sans"/>
                        </a:rPr>
                        <a:t>Conversation / social range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2m / 6m</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Separate approach from speaking nearby</a:t>
                      </a:r>
                    </a:p>
                  </a:txBody>
                  <a:tcPr marL="95250" marR="95250" marT="57150" marB="57150">
                    <a:solidFill>
                      <a:srgbClr val="DDECF2"/>
                    </a:solidFill>
                  </a:tcPr>
                </a:tc>
              </a:tr>
              <a:tr h="472017">
                <a:tc>
                  <a:txBody>
                    <a:bodyPr/>
                    <a:lstStyle/>
                    <a:p>
                      <a:r>
                        <a:rPr sz="1613" b="0">
                          <a:solidFill>
                            <a:srgbClr val="26333C"/>
                          </a:solidFill>
                          <a:latin typeface="Noto Sans"/>
                          <a:ea typeface="Noto Sans"/>
                          <a:cs typeface="Noto Sans"/>
                        </a:rPr>
                        <a:t>Near gaze entry / exit</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0.93 / 0.90</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Classify compressed SDK scores</a:t>
                      </a:r>
                    </a:p>
                  </a:txBody>
                  <a:tcPr marL="95250" marR="95250" marT="57150" marB="57150">
                    <a:solidFill>
                      <a:srgbClr val="F3F0E7"/>
                    </a:solidFill>
                  </a:tcPr>
                </a:tc>
              </a:tr>
              <a:tr h="472017">
                <a:tc>
                  <a:txBody>
                    <a:bodyPr/>
                    <a:lstStyle/>
                    <a:p>
                      <a:r>
                        <a:rPr sz="1613" b="0">
                          <a:solidFill>
                            <a:srgbClr val="26333C"/>
                          </a:solidFill>
                          <a:latin typeface="Noto Sans"/>
                          <a:ea typeface="Noto Sans"/>
                          <a:cs typeface="Noto Sans"/>
                        </a:rPr>
                        <a:t>Far gaze entry / exit</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0.97 / 0.95</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Stronger evidence beyond 2.75m</a:t>
                      </a:r>
                    </a:p>
                  </a:txBody>
                  <a:tcPr marL="95250" marR="95250" marT="57150" marB="57150">
                    <a:solidFill>
                      <a:srgbClr val="DDECF2"/>
                    </a:solidFill>
                  </a:tcPr>
                </a:tc>
              </a:tr>
              <a:tr h="472017">
                <a:tc>
                  <a:txBody>
                    <a:bodyPr/>
                    <a:lstStyle/>
                    <a:p>
                      <a:r>
                        <a:rPr sz="1613" b="0">
                          <a:solidFill>
                            <a:srgbClr val="26333C"/>
                          </a:solidFill>
                          <a:latin typeface="Noto Sans"/>
                          <a:ea typeface="Noto Sans"/>
                          <a:cs typeface="Noto Sans"/>
                        </a:rPr>
                        <a:t>History / minimum span</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3s / 1s</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Accumulate evidence in short encounters</a:t>
                      </a:r>
                    </a:p>
                  </a:txBody>
                  <a:tcPr marL="95250" marR="95250" marT="57150" marB="57150">
                    <a:solidFill>
                      <a:srgbClr val="F3F0E7"/>
                    </a:solidFill>
                  </a:tcPr>
                </a:tc>
              </a:tr>
              <a:tr h="472017">
                <a:tc>
                  <a:txBody>
                    <a:bodyPr/>
                    <a:lstStyle/>
                    <a:p>
                      <a:r>
                        <a:rPr sz="1613" b="0">
                          <a:solidFill>
                            <a:srgbClr val="26333C"/>
                          </a:solidFill>
                          <a:latin typeface="Noto Sans"/>
                          <a:ea typeface="Noto Sans"/>
                          <a:cs typeface="Noto Sans"/>
                        </a:rPr>
                        <a:t>Minimum gaze coverage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0.6s and 50%</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Preserve missing-data boundaries</a:t>
                      </a:r>
                    </a:p>
                  </a:txBody>
                  <a:tcPr marL="95250" marR="95250" marT="57150" marB="57150">
                    <a:solidFill>
                      <a:srgbClr val="DDECF2"/>
                    </a:solidFill>
                  </a:tcPr>
                </a:tc>
              </a:tr>
              <a:tr h="472017">
                <a:tc>
                  <a:txBody>
                    <a:bodyPr/>
                    <a:lstStyle/>
                    <a:p>
                      <a:r>
                        <a:rPr sz="1613" b="0">
                          <a:solidFill>
                            <a:srgbClr val="26333C"/>
                          </a:solidFill>
                          <a:latin typeface="Noto Sans"/>
                          <a:ea typeface="Noto Sans"/>
                          <a:cs typeface="Noto Sans"/>
                        </a:rPr>
                        <a:t>Extra dwell / trailing run</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0s / 0s</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Avoid extra delay after sufficient evidence</a:t>
                      </a:r>
                    </a:p>
                  </a:txBody>
                  <a:tcPr marL="95250" marR="95250" marT="57150" marB="57150">
                    <a:solidFill>
                      <a:srgbClr val="F3F0E7"/>
                    </a:solidFill>
                  </a:tcPr>
                </a:tc>
              </a:tr>
              <a:tr h="472017">
                <a:tc>
                  <a:txBody>
                    <a:bodyPr/>
                    <a:lstStyle/>
                    <a:p>
                      <a:r>
                        <a:rPr sz="1613" b="0">
                          <a:solidFill>
                            <a:srgbClr val="26333C"/>
                          </a:solidFill>
                          <a:latin typeface="Noto Sans"/>
                          <a:ea typeface="Noto Sans"/>
                          <a:cs typeface="Noto Sans"/>
                        </a:rPr>
                        <a:t>Closing YIELD range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At most 3.5m</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Capture initial in-corridor closing evidence</a:t>
                      </a:r>
                    </a:p>
                  </a:txBody>
                  <a:tcPr marL="95250" marR="95250" marT="57150" marB="57150">
                    <a:solidFill>
                      <a:srgbClr val="DDECF2"/>
                    </a:solidFill>
                  </a:tcPr>
                </a:tc>
              </a:tr>
              <a:tr h="472017">
                <a:tc>
                  <a:txBody>
                    <a:bodyPr/>
                    <a:lstStyle/>
                    <a:p>
                      <a:r>
                        <a:rPr sz="1613" b="0">
                          <a:solidFill>
                            <a:srgbClr val="26333C"/>
                          </a:solidFill>
                          <a:latin typeface="Noto Sans"/>
                          <a:ea typeface="Noto Sans"/>
                          <a:cs typeface="Noto Sans"/>
                        </a:rPr>
                        <a:t>Recurring-looking trigger</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Disabled</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Incidental looks do not trigger interaction</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5CFB8449-08B0-450D-9CF9-895BAD75DB31}"/>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The preset fits these nine tuning recordings. Thresholds do not establish human interest or universal social rules.</a:t>
            </a:r>
          </a:p>
        </p:txBody>
      </p:sp>
    </p:spTree>
    <p:extLst>
      <p:ext uri="{BB962C8B-B14F-4D97-AF65-F5344CB8AC3E}">
        <p14:creationId xmlns:p14="http://schemas.microsoft.com/office/powerpoint/2010/main" val="1661313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8EA35FE-FBA6-4136-89FF-BF3564619757}"/>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F1776D-8F81-4428-A067-FC479AEBBE3A}"/>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D9BCEF-9C79-436D-B470-8E7B10F03F33}"/>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Person Locking: Logical Target Lifecycle</a:t>
            </a:r>
          </a:p>
        </p:txBody>
      </p:sp>
      <p:sp>
        <p:nvSpPr>
          <p:cNvPr id="4" name="">
            <a:extLst xmlns:a="http://schemas.openxmlformats.org/drawingml/2006/main">
              <a:ext uri="{FF2B5EF4-FFF2-40B4-BE49-F238E27FC236}">
                <a16:creationId xmlns:a16="http://schemas.microsoft.com/office/drawing/2014/main" id="{19C68CDA-AA09-4F81-A131-64766278F654}"/>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14</a:t>
            </a:r>
          </a:p>
        </p:txBody>
      </p:sp>
      <p:sp>
        <p:nvSpPr>
          <p:cNvPr id="5" name="">
            <a:extLst xmlns:a="http://schemas.openxmlformats.org/drawingml/2006/main">
              <a:ext uri="{FF2B5EF4-FFF2-40B4-BE49-F238E27FC236}">
                <a16:creationId xmlns:a16="http://schemas.microsoft.com/office/drawing/2014/main" id="{DC3B71BD-3F82-4ABE-86BF-6DAA0708FAA4}"/>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21</a:t>
            </a:r>
          </a:p>
        </p:txBody>
      </p:sp>
      <p:sp>
        <p:nvSpPr>
          <p:cNvPr id="6" name="UNLOCKED">
            <a:extLst xmlns:a="http://schemas.openxmlformats.org/drawingml/2006/main">
              <a:ext uri="{FF2B5EF4-FFF2-40B4-BE49-F238E27FC236}">
                <a16:creationId xmlns:a16="http://schemas.microsoft.com/office/drawing/2014/main" id="{1EEB93C1-94E1-44FE-B4CA-AC260280B2C4}"/>
              </a:ext>
            </a:extLst>
          </p:cNvPr>
          <p:cNvSpPr>
            <a:spLocks xmlns:a="http://schemas.openxmlformats.org/drawingml/2006/main" noGrp="1"/>
          </p:cNvSpPr>
          <p:nvPr/>
        </p:nvSpPr>
        <p:spPr>
          <a:xfrm xmlns:a="http://schemas.openxmlformats.org/drawingml/2006/main">
            <a:off x="571500" y="1619250"/>
            <a:ext cx="2333625" cy="685800"/>
          </a:xfrm>
          <a:prstGeom xmlns:a="http://schemas.openxmlformats.org/drawingml/2006/main" prst="roundRect">
            <a:avLst>
              <a:gd name="adj" fmla="val 1388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UNLOCKED</a:t>
            </a:r>
          </a:p>
        </p:txBody>
      </p:sp>
      <p:sp>
        <p:nvSpPr>
          <p:cNvPr id="7" name="LOCKED">
            <a:extLst xmlns:a="http://schemas.openxmlformats.org/drawingml/2006/main">
              <a:ext uri="{FF2B5EF4-FFF2-40B4-BE49-F238E27FC236}">
                <a16:creationId xmlns:a16="http://schemas.microsoft.com/office/drawing/2014/main" id="{3DCAC05D-F071-429C-9C8F-27F022AF151C}"/>
              </a:ext>
            </a:extLst>
          </p:cNvPr>
          <p:cNvSpPr>
            <a:spLocks xmlns:a="http://schemas.openxmlformats.org/drawingml/2006/main" noGrp="1"/>
          </p:cNvSpPr>
          <p:nvPr/>
        </p:nvSpPr>
        <p:spPr>
          <a:xfrm xmlns:a="http://schemas.openxmlformats.org/drawingml/2006/main">
            <a:off x="3905250" y="1619250"/>
            <a:ext cx="2333625" cy="685800"/>
          </a:xfrm>
          <a:prstGeom xmlns:a="http://schemas.openxmlformats.org/drawingml/2006/main" prst="roundRect">
            <a:avLst>
              <a:gd name="adj" fmla="val 13889"/>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LOCKED</a:t>
            </a:r>
          </a:p>
        </p:txBody>
      </p:sp>
      <p:sp>
        <p:nvSpPr>
          <p:cNvPr id="8" name="MISSING">
            <a:extLst xmlns:a="http://schemas.openxmlformats.org/drawingml/2006/main">
              <a:ext uri="{FF2B5EF4-FFF2-40B4-BE49-F238E27FC236}">
                <a16:creationId xmlns:a16="http://schemas.microsoft.com/office/drawing/2014/main" id="{8B63C043-8471-4A0B-814E-9DD04C659B4E}"/>
              </a:ext>
            </a:extLst>
          </p:cNvPr>
          <p:cNvSpPr>
            <a:spLocks xmlns:a="http://schemas.openxmlformats.org/drawingml/2006/main" noGrp="1"/>
          </p:cNvSpPr>
          <p:nvPr/>
        </p:nvSpPr>
        <p:spPr>
          <a:xfrm xmlns:a="http://schemas.openxmlformats.org/drawingml/2006/main">
            <a:off x="8286750" y="1619250"/>
            <a:ext cx="2857500" cy="685800"/>
          </a:xfrm>
          <a:prstGeom xmlns:a="http://schemas.openxmlformats.org/drawingml/2006/main" prst="roundRect">
            <a:avLst>
              <a:gd name="adj" fmla="val 1388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22577A"/>
                </a:solidFill>
                <a:latin typeface="Noto Sans"/>
                <a:ea typeface="Noto Sans"/>
                <a:cs typeface="Noto Sans"/>
              </a:defRPr>
            </a:pPr>
            <a:r>
              <a:rPr sz="1950" b="1">
                <a:solidFill>
                  <a:srgbClr val="22577A"/>
                </a:solidFill>
                <a:latin typeface="Noto Sans"/>
                <a:ea typeface="Noto Sans"/>
                <a:cs typeface="Noto Sans"/>
              </a:rPr>
              <a:t>MISSING</a:t>
            </a:r>
          </a:p>
        </p:txBody>
      </p: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a:off x="2905125" y="1962150"/>
            <a:ext cx="1000125"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a:off x="6238875" y="1962150"/>
            <a:ext cx="2047875"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1" name="">
            <a:extLst xmlns:a="http://schemas.openxmlformats.org/drawingml/2006/main">
              <a:ext uri="{FF2B5EF4-FFF2-40B4-BE49-F238E27FC236}">
                <a16:creationId xmlns:a16="http://schemas.microsoft.com/office/drawing/2014/main" id="{1F112E68-0A80-452A-9903-8F70552F0793}"/>
              </a:ext>
            </a:extLst>
          </p:cNvPr>
          <p:cNvSpPr>
            <a:spLocks xmlns:a="http://schemas.openxmlformats.org/drawingml/2006/main" noGrp="1"/>
          </p:cNvSpPr>
          <p:nvPr/>
        </p:nvSpPr>
        <p:spPr>
          <a:xfrm xmlns:a="http://schemas.openxmlformats.org/drawingml/2006/main">
            <a:off x="2952750" y="12954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Sole visible track</a:t>
            </a:r>
          </a:p>
        </p:txBody>
      </p:sp>
      <p:sp>
        <p:nvSpPr>
          <p:cNvPr id="12" name="">
            <a:extLst xmlns:a="http://schemas.openxmlformats.org/drawingml/2006/main">
              <a:ext uri="{FF2B5EF4-FFF2-40B4-BE49-F238E27FC236}">
                <a16:creationId xmlns:a16="http://schemas.microsoft.com/office/drawing/2014/main" id="{55442EB6-DEB8-4670-B17D-58823880F9F9}"/>
              </a:ext>
            </a:extLst>
          </p:cNvPr>
          <p:cNvSpPr>
            <a:spLocks xmlns:a="http://schemas.openxmlformats.org/drawingml/2006/main" noGrp="1"/>
          </p:cNvSpPr>
          <p:nvPr/>
        </p:nvSpPr>
        <p:spPr>
          <a:xfrm xmlns:a="http://schemas.openxmlformats.org/drawingml/2006/main">
            <a:off x="6667500" y="12954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Target absent</a:t>
            </a:r>
          </a:p>
        </p:txBody>
      </p:sp>
      <p:sp>
        <p:nvSpPr>
          <p:cNvPr id="13" name="TENTATIVE_RETURN&#10;One new UID">
            <a:extLst xmlns:a="http://schemas.openxmlformats.org/drawingml/2006/main">
              <a:ext uri="{FF2B5EF4-FFF2-40B4-BE49-F238E27FC236}">
                <a16:creationId xmlns:a16="http://schemas.microsoft.com/office/drawing/2014/main" id="{78AA5125-3196-4012-9F8B-A6609080C3B4}"/>
              </a:ext>
            </a:extLst>
          </p:cNvPr>
          <p:cNvSpPr>
            <a:spLocks xmlns:a="http://schemas.openxmlformats.org/drawingml/2006/main" noGrp="1"/>
          </p:cNvSpPr>
          <p:nvPr/>
        </p:nvSpPr>
        <p:spPr>
          <a:xfrm xmlns:a="http://schemas.openxmlformats.org/drawingml/2006/main">
            <a:off x="8286750" y="3257550"/>
            <a:ext cx="2857500" cy="857250"/>
          </a:xfrm>
          <a:prstGeom xmlns:a="http://schemas.openxmlformats.org/drawingml/2006/main" prst="roundRect">
            <a:avLst>
              <a:gd name="adj" fmla="val 11111"/>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TENTATIVE_RETURN</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One new UID</a:t>
            </a:r>
          </a:p>
        </p:txBody>
      </p:sp>
      <p:cxnSp>
        <p:nvCxnSpPr>
          <p:cNvPr id="36" name=""/>
          <p:cNvCxnSpPr>
            <a:stCxn xmlns:a="http://schemas.openxmlformats.org/drawingml/2006/main" id="8" idx="2"/>
            <a:endCxn xmlns:a="http://schemas.openxmlformats.org/drawingml/2006/main" id="13" idx="0"/>
          </p:cNvCxnSpPr>
          <p:nvPr/>
        </p:nvCxnSpPr>
        <p:spPr>
          <a:xfrm xmlns:a="http://schemas.openxmlformats.org/drawingml/2006/main">
            <a:off x="9715500" y="2305050"/>
            <a:ext cx="0" cy="95250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5" name="AMBIGUOUS&#10;Several candidates">
            <a:extLst xmlns:a="http://schemas.openxmlformats.org/drawingml/2006/main">
              <a:ext uri="{FF2B5EF4-FFF2-40B4-BE49-F238E27FC236}">
                <a16:creationId xmlns:a16="http://schemas.microsoft.com/office/drawing/2014/main" id="{191E45CC-0B74-46AF-AF2D-B72E77C7CDDA}"/>
              </a:ext>
            </a:extLst>
          </p:cNvPr>
          <p:cNvSpPr>
            <a:spLocks xmlns:a="http://schemas.openxmlformats.org/drawingml/2006/main" noGrp="1"/>
          </p:cNvSpPr>
          <p:nvPr/>
        </p:nvSpPr>
        <p:spPr>
          <a:xfrm xmlns:a="http://schemas.openxmlformats.org/drawingml/2006/main">
            <a:off x="3905250" y="3257550"/>
            <a:ext cx="2714625" cy="857250"/>
          </a:xfrm>
          <a:prstGeom xmlns:a="http://schemas.openxmlformats.org/drawingml/2006/main" prst="roundRect">
            <a:avLst>
              <a:gd name="adj" fmla="val 11111"/>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AMBIGUOUS</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Several candidates</a:t>
            </a:r>
          </a:p>
        </p:txBody>
      </p:sp>
      <p:cxnSp>
        <p:nvCxnSpPr>
          <p:cNvPr id="38" name=""/>
          <p:cNvCxnSpPr>
            <a:stCxn xmlns:a="http://schemas.openxmlformats.org/drawingml/2006/main" id="8" idx="2"/>
            <a:endCxn xmlns:a="http://schemas.openxmlformats.org/drawingml/2006/main" id="15" idx="0"/>
          </p:cNvCxnSpPr>
          <p:nvPr/>
        </p:nvCxnSpPr>
        <p:spPr>
          <a:xfrm xmlns:a="http://schemas.openxmlformats.org/drawingml/2006/main" flipH="1">
            <a:off x="5262563" y="2305050"/>
            <a:ext cx="4452938" cy="952500"/>
          </a:xfrm>
          <a:prstGeom xmlns:a="http://schemas.openxmlformats.org/drawingml/2006/main" prst="bentConnector4">
            <a:avLst>
              <a:gd name="adj1" fmla="val 0"/>
              <a:gd name="adj2" fmla="val 50000"/>
            </a:avLst>
          </a:prstGeom>
          <a:ln xmlns:a="http://schemas.openxmlformats.org/drawingml/2006/main" w="19050">
            <a:solidFill>
              <a:srgbClr val="22577A"/>
            </a:solidFill>
            <a:tailEnd type="arrow" w="med" len="med"/>
          </a:ln>
        </p:spPr>
      </p:cxnSp>
      <p:sp>
        <p:nvSpPr>
          <p:cNvPr id="17" name="COOLDOWN&#10;Release and wait">
            <a:extLst xmlns:a="http://schemas.openxmlformats.org/drawingml/2006/main">
              <a:ext uri="{FF2B5EF4-FFF2-40B4-BE49-F238E27FC236}">
                <a16:creationId xmlns:a16="http://schemas.microsoft.com/office/drawing/2014/main" id="{1F49A033-B3E8-4CAB-B9E5-6A66F17B4CA2}"/>
              </a:ext>
            </a:extLst>
          </p:cNvPr>
          <p:cNvSpPr>
            <a:spLocks xmlns:a="http://schemas.openxmlformats.org/drawingml/2006/main" noGrp="1"/>
          </p:cNvSpPr>
          <p:nvPr/>
        </p:nvSpPr>
        <p:spPr>
          <a:xfrm xmlns:a="http://schemas.openxmlformats.org/drawingml/2006/main">
            <a:off x="571500" y="3257550"/>
            <a:ext cx="2333625" cy="857250"/>
          </a:xfrm>
          <a:prstGeom xmlns:a="http://schemas.openxmlformats.org/drawingml/2006/main" prst="roundRect">
            <a:avLst>
              <a:gd name="adj" fmla="val 11111"/>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COOLDOWN</a:t>
            </a:r>
          </a:p>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Release and wait</a:t>
            </a:r>
          </a:p>
        </p:txBody>
      </p:sp>
      <p:cxnSp>
        <p:nvCxnSpPr>
          <p:cNvPr id="40" name=""/>
          <p:cNvCxnSpPr>
            <a:stCxn xmlns:a="http://schemas.openxmlformats.org/drawingml/2006/main" id="7" idx="2"/>
            <a:endCxn xmlns:a="http://schemas.openxmlformats.org/drawingml/2006/main" id="17" idx="0"/>
          </p:cNvCxnSpPr>
          <p:nvPr/>
        </p:nvCxnSpPr>
        <p:spPr>
          <a:xfrm xmlns:a="http://schemas.openxmlformats.org/drawingml/2006/main" flipH="1">
            <a:off x="1738313" y="2305050"/>
            <a:ext cx="3333750" cy="952500"/>
          </a:xfrm>
          <a:prstGeom xmlns:a="http://schemas.openxmlformats.org/drawingml/2006/main" prst="bentConnector4">
            <a:avLst>
              <a:gd name="adj1" fmla="val 0"/>
              <a:gd name="adj2" fmla="val 50000"/>
            </a:avLst>
          </a:prstGeom>
          <a:ln xmlns:a="http://schemas.openxmlformats.org/drawingml/2006/main" w="19050">
            <a:solidFill>
              <a:srgbClr val="22577A"/>
            </a:solidFill>
            <a:tailEnd type="arrow" w="med" len="med"/>
          </a:ln>
        </p:spPr>
      </p:cxnSp>
      <p:cxnSp>
        <p:nvCxnSpPr>
          <p:cNvPr id="41" name=""/>
          <p:cNvCxnSpPr>
            <a:stCxn xmlns:a="http://schemas.openxmlformats.org/drawingml/2006/main" id="13" idx="1"/>
            <a:endCxn xmlns:a="http://schemas.openxmlformats.org/drawingml/2006/main" id="7" idx="2"/>
          </p:cNvCxnSpPr>
          <p:nvPr/>
        </p:nvCxnSpPr>
        <p:spPr>
          <a:xfrm xmlns:a="http://schemas.openxmlformats.org/drawingml/2006/main" flipH="1" flipV="1">
            <a:off x="5072063" y="2305050"/>
            <a:ext cx="3214688" cy="1381125"/>
          </a:xfrm>
          <a:prstGeom xmlns:a="http://schemas.openxmlformats.org/drawingml/2006/main" prst="bentConnector4">
            <a:avLst>
              <a:gd name="adj1" fmla="val 7111"/>
              <a:gd name="adj2" fmla="val 83448"/>
            </a:avLst>
          </a:prstGeom>
          <a:ln xmlns:a="http://schemas.openxmlformats.org/drawingml/2006/main" w="19050">
            <a:solidFill>
              <a:srgbClr val="22577A"/>
            </a:solidFill>
            <a:tailEnd type="arrow" w="med" len="med"/>
          </a:ln>
        </p:spPr>
      </p:cxnSp>
      <p:sp>
        <p:nvSpPr>
          <p:cNvPr id="20" name="">
            <a:extLst xmlns:a="http://schemas.openxmlformats.org/drawingml/2006/main">
              <a:ext uri="{FF2B5EF4-FFF2-40B4-BE49-F238E27FC236}">
                <a16:creationId xmlns:a16="http://schemas.microsoft.com/office/drawing/2014/main" id="{3D51F034-ADF9-4DB0-BD81-9F946772EB2B}"/>
              </a:ext>
            </a:extLst>
          </p:cNvPr>
          <p:cNvSpPr>
            <a:spLocks xmlns:a="http://schemas.openxmlformats.org/drawingml/2006/main" noGrp="1"/>
          </p:cNvSpPr>
          <p:nvPr/>
        </p:nvSpPr>
        <p:spPr>
          <a:xfrm xmlns:a="http://schemas.openxmlformats.org/drawingml/2006/main">
            <a:off x="619125" y="4819650"/>
            <a:ext cx="1090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Stable lock ID binds to a UID and track epoch</a:t>
            </a:r>
          </a:p>
        </p:txBody>
      </p:sp>
      <p:sp>
        <p:nvSpPr>
          <p:cNvPr id="21" name="">
            <a:extLst xmlns:a="http://schemas.openxmlformats.org/drawingml/2006/main">
              <a:ext uri="{FF2B5EF4-FFF2-40B4-BE49-F238E27FC236}">
                <a16:creationId xmlns:a16="http://schemas.microsoft.com/office/drawing/2014/main" id="{5130176F-A122-450A-9373-046CE99D0A6B}"/>
              </a:ext>
            </a:extLst>
          </p:cNvPr>
          <p:cNvSpPr>
            <a:spLocks xmlns:a="http://schemas.openxmlformats.org/drawingml/2006/main" noGrp="1"/>
          </p:cNvSpPr>
          <p:nvPr/>
        </p:nvSpPr>
        <p:spPr>
          <a:xfrm xmlns:a="http://schemas.openxmlformats.org/drawingml/2006/main">
            <a:off x="619125" y="5334000"/>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33C"/>
                </a:solidFill>
                <a:latin typeface="Noto Sans"/>
                <a:ea typeface="Noto Sans"/>
                <a:cs typeface="Noto Sans"/>
              </a:defRPr>
            </a:pPr>
            <a:r>
              <a:rPr sz="1875" b="0">
                <a:solidFill>
                  <a:srgbClr val="26333C"/>
                </a:solidFill>
                <a:latin typeface="Noto Sans"/>
                <a:ea typeface="Noto Sans"/>
                <a:cs typeface="Noto Sans"/>
              </a:rPr>
              <a:t>Missing, tentative or ambiguous states return HOLD with no effective action.</a:t>
            </a:r>
          </a:p>
        </p:txBody>
      </p:sp>
      <p:sp>
        <p:nvSpPr>
          <p:cNvPr id="22" name="">
            <a:extLst xmlns:a="http://schemas.openxmlformats.org/drawingml/2006/main">
              <a:ext uri="{FF2B5EF4-FFF2-40B4-BE49-F238E27FC236}">
                <a16:creationId xmlns:a16="http://schemas.microsoft.com/office/drawing/2014/main" id="{6A1467B5-8432-445E-A600-87E894EBF08A}"/>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Tracking grace is 0.75s. The separate logical target-lock hold is 2.0s.</a:t>
            </a:r>
          </a:p>
        </p:txBody>
      </p:sp>
    </p:spTree>
    <p:extLst>
      <p:ext uri="{BB962C8B-B14F-4D97-AF65-F5344CB8AC3E}">
        <p14:creationId xmlns:p14="http://schemas.microsoft.com/office/powerpoint/2010/main" val="16832965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7D0806-1CFE-45E8-8482-611A500798D5}"/>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D61AA9-1173-4602-805C-62D58EAA1DA4}"/>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37CE4A-8E7F-4601-96A9-6E662503B233}"/>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Guarded UID Handoff and Release Values</a:t>
            </a:r>
          </a:p>
        </p:txBody>
      </p:sp>
      <p:sp>
        <p:nvSpPr>
          <p:cNvPr id="4" name="">
            <a:extLst xmlns:a="http://schemas.openxmlformats.org/drawingml/2006/main">
              <a:ext uri="{FF2B5EF4-FFF2-40B4-BE49-F238E27FC236}">
                <a16:creationId xmlns:a16="http://schemas.microsoft.com/office/drawing/2014/main" id="{F9F1F922-8A99-4032-A1F3-FA6718E51B9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15</a:t>
            </a:r>
          </a:p>
        </p:txBody>
      </p:sp>
      <p:sp>
        <p:nvSpPr>
          <p:cNvPr id="5" name="">
            <a:extLst xmlns:a="http://schemas.openxmlformats.org/drawingml/2006/main">
              <a:ext uri="{FF2B5EF4-FFF2-40B4-BE49-F238E27FC236}">
                <a16:creationId xmlns:a16="http://schemas.microsoft.com/office/drawing/2014/main" id="{874F480C-F959-4663-A1F8-602EBFFAC9FD}"/>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22</a:t>
            </a:r>
          </a:p>
        </p:txBody>
      </p:sp>
      <p:graphicFrame>
        <p:nvGraphicFramePr>
          <p:cNvPr id="13" name=""/>
          <p:cNvGraphicFramePr/>
          <p:nvPr/>
        </p:nvGraphicFramePr>
        <p:xfrm>
          <a:off xmlns:a="http://schemas.openxmlformats.org/drawingml/2006/main" x="571500" y="1466850"/>
          <a:ext xmlns:a="http://schemas.openxmlformats.org/drawingml/2006/main" cx="11001375" cy="4229100"/>
        </p:xfrm>
        <a:graphic xmlns:a="http://schemas.openxmlformats.org/drawingml/2006/main">
          <a:graphicData uri="http://schemas.openxmlformats.org/drawingml/2006/table">
            <a:tbl>
              <a:tblPr/>
              <a:tblGrid>
                <a:gridCol w="5191125"/>
                <a:gridCol w="5810250"/>
              </a:tblGrid>
              <a:tr h="469900">
                <a:tc>
                  <a:txBody>
                    <a:bodyPr/>
                    <a:lstStyle/>
                    <a:p>
                      <a:r>
                        <a:rPr sz="1725" b="1">
                          <a:solidFill>
                            <a:srgbClr val="FFFFFF"/>
                          </a:solidFill>
                          <a:latin typeface="Noto Sans"/>
                          <a:ea typeface="Noto Sans"/>
                          <a:cs typeface="Noto Sans"/>
                        </a:rPr>
                        <a:t>Lock or handoff condition</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Final value</a:t>
                      </a:r>
                    </a:p>
                  </a:txBody>
                  <a:tcPr marL="95250" marR="95250" marT="57150" marB="57150">
                    <a:solidFill>
                      <a:srgbClr val="22577A"/>
                    </a:solidFill>
                  </a:tcPr>
                </a:tc>
              </a:tr>
              <a:tr h="469900">
                <a:tc>
                  <a:txBody>
                    <a:bodyPr/>
                    <a:lstStyle/>
                    <a:p>
                      <a:r>
                        <a:rPr sz="1725" b="0">
                          <a:solidFill>
                            <a:srgbClr val="26333C"/>
                          </a:solidFill>
                          <a:latin typeface="Noto Sans"/>
                          <a:ea typeface="Noto Sans"/>
                          <a:cs typeface="Noto Sans"/>
                        </a:rPr>
                        <a:t>Target missing hold</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2.0s</a:t>
                      </a:r>
                    </a:p>
                  </a:txBody>
                  <a:tcPr marL="95250" marR="95250" marT="57150" marB="57150">
                    <a:solidFill>
                      <a:srgbClr val="DDECF2"/>
                    </a:solidFill>
                  </a:tcPr>
                </a:tc>
              </a:tr>
              <a:tr h="469900">
                <a:tc>
                  <a:txBody>
                    <a:bodyPr/>
                    <a:lstStyle/>
                    <a:p>
                      <a:r>
                        <a:rPr sz="1725" b="0">
                          <a:solidFill>
                            <a:srgbClr val="26333C"/>
                          </a:solidFill>
                          <a:latin typeface="Noto Sans"/>
                          <a:ea typeface="Noto Sans"/>
                          <a:cs typeface="Noto Sans"/>
                        </a:rPr>
                        <a:t>Release cooldown</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1.0s</a:t>
                      </a:r>
                    </a:p>
                  </a:txBody>
                  <a:tcPr marL="95250" marR="95250" marT="57150" marB="57150">
                    <a:solidFill>
                      <a:srgbClr val="F3F0E7"/>
                    </a:solidFill>
                  </a:tcPr>
                </a:tc>
              </a:tr>
              <a:tr h="469900">
                <a:tc>
                  <a:txBody>
                    <a:bodyPr/>
                    <a:lstStyle/>
                    <a:p>
                      <a:r>
                        <a:rPr sz="1725" b="0">
                          <a:solidFill>
                            <a:srgbClr val="26333C"/>
                          </a:solidFill>
                          <a:latin typeface="Noto Sans"/>
                          <a:ea typeface="Noto Sans"/>
                          <a:cs typeface="Noto Sans"/>
                        </a:rPr>
                        <a:t>New UID return window</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0.8s</a:t>
                      </a:r>
                    </a:p>
                  </a:txBody>
                  <a:tcPr marL="95250" marR="95250" marT="57150" marB="57150">
                    <a:solidFill>
                      <a:srgbClr val="DDECF2"/>
                    </a:solidFill>
                  </a:tcPr>
                </a:tc>
              </a:tr>
              <a:tr h="469900">
                <a:tc>
                  <a:txBody>
                    <a:bodyPr/>
                    <a:lstStyle/>
                    <a:p>
                      <a:r>
                        <a:rPr sz="1725" b="0">
                          <a:solidFill>
                            <a:srgbClr val="26333C"/>
                          </a:solidFill>
                          <a:latin typeface="Noto Sans"/>
                          <a:ea typeface="Noto Sans"/>
                          <a:cs typeface="Noto Sans"/>
                        </a:rPr>
                        <a:t>Candidate evidence</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At least 3 frames over at least 0.15s</a:t>
                      </a:r>
                    </a:p>
                  </a:txBody>
                  <a:tcPr marL="95250" marR="95250" marT="57150" marB="57150">
                    <a:solidFill>
                      <a:srgbClr val="F3F0E7"/>
                    </a:solidFill>
                  </a:tcPr>
                </a:tc>
              </a:tr>
              <a:tr h="469900">
                <a:tc>
                  <a:txBody>
                    <a:bodyPr/>
                    <a:lstStyle/>
                    <a:p>
                      <a:r>
                        <a:rPr sz="1725" b="0">
                          <a:solidFill>
                            <a:srgbClr val="26333C"/>
                          </a:solidFill>
                          <a:latin typeface="Noto Sans"/>
                          <a:ea typeface="Noto Sans"/>
                          <a:cs typeface="Noto Sans"/>
                        </a:rPr>
                        <a:t>Candidate maximum frame gap</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0.35s</a:t>
                      </a:r>
                    </a:p>
                  </a:txBody>
                  <a:tcPr marL="95250" marR="95250" marT="57150" marB="57150">
                    <a:solidFill>
                      <a:srgbClr val="DDECF2"/>
                    </a:solidFill>
                  </a:tcPr>
                </a:tc>
              </a:tr>
              <a:tr h="469900">
                <a:tc>
                  <a:txBody>
                    <a:bodyPr/>
                    <a:lstStyle/>
                    <a:p>
                      <a:r>
                        <a:rPr sz="1725" b="0">
                          <a:solidFill>
                            <a:srgbClr val="26333C"/>
                          </a:solidFill>
                          <a:latin typeface="Noto Sans"/>
                          <a:ea typeface="Noto Sans"/>
                          <a:cs typeface="Noto Sans"/>
                        </a:rPr>
                        <a:t>Allowed distance change</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0.25m + 1.5m/s times elapsed time</a:t>
                      </a:r>
                    </a:p>
                  </a:txBody>
                  <a:tcPr marL="95250" marR="95250" marT="57150" marB="57150">
                    <a:solidFill>
                      <a:srgbClr val="F3F0E7"/>
                    </a:solidFill>
                  </a:tcPr>
                </a:tc>
              </a:tr>
              <a:tr h="469900">
                <a:tc>
                  <a:txBody>
                    <a:bodyPr/>
                    <a:lstStyle/>
                    <a:p>
                      <a:r>
                        <a:rPr sz="1725" b="0">
                          <a:solidFill>
                            <a:srgbClr val="26333C"/>
                          </a:solidFill>
                          <a:latin typeface="Noto Sans"/>
                          <a:ea typeface="Noto Sans"/>
                          <a:cs typeface="Noto Sans"/>
                        </a:rPr>
                        <a:t>Maximum handoffs per lock</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3</a:t>
                      </a:r>
                    </a:p>
                  </a:txBody>
                  <a:tcPr marL="95250" marR="95250" marT="57150" marB="57150">
                    <a:solidFill>
                      <a:srgbClr val="DDECF2"/>
                    </a:solidFill>
                  </a:tcPr>
                </a:tc>
              </a:tr>
              <a:tr h="469900">
                <a:tc>
                  <a:txBody>
                    <a:bodyPr/>
                    <a:lstStyle/>
                    <a:p>
                      <a:r>
                        <a:rPr sz="1725" b="0">
                          <a:solidFill>
                            <a:srgbClr val="26333C"/>
                          </a:solidFill>
                          <a:latin typeface="Noto Sans"/>
                          <a:ea typeface="Noto Sans"/>
                          <a:cs typeface="Noto Sans"/>
                        </a:rPr>
                        <a:t>Identity guard</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One exclusive candidate, both UIDs nonzero</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96A26A18-213A-4850-977D-FE7CD4AA545E}"/>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A new UID builds fresh gaze and distance history. Similar range alone cannot verify physical identity.</a:t>
            </a:r>
          </a:p>
        </p:txBody>
      </p:sp>
    </p:spTree>
    <p:extLst>
      <p:ext uri="{BB962C8B-B14F-4D97-AF65-F5344CB8AC3E}">
        <p14:creationId xmlns:p14="http://schemas.microsoft.com/office/powerpoint/2010/main" val="44351921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F9917EF-5932-44B6-A09F-CD22A86D1FCF}"/>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B31F29-F55D-44C0-AF5F-04285D657358}"/>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C8F4F3-55CB-4B30-9EB7-08AB479A5614}"/>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Policy Outputs, Locking and Execution</a:t>
            </a:r>
          </a:p>
        </p:txBody>
      </p:sp>
      <p:sp>
        <p:nvSpPr>
          <p:cNvPr id="4" name="">
            <a:extLst xmlns:a="http://schemas.openxmlformats.org/drawingml/2006/main">
              <a:ext uri="{FF2B5EF4-FFF2-40B4-BE49-F238E27FC236}">
                <a16:creationId xmlns:a16="http://schemas.microsoft.com/office/drawing/2014/main" id="{59A81019-D5E4-49C9-8C27-7554C6DE1132}"/>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16</a:t>
            </a:r>
          </a:p>
        </p:txBody>
      </p:sp>
      <p:sp>
        <p:nvSpPr>
          <p:cNvPr id="5" name="">
            <a:extLst xmlns:a="http://schemas.openxmlformats.org/drawingml/2006/main">
              <a:ext uri="{FF2B5EF4-FFF2-40B4-BE49-F238E27FC236}">
                <a16:creationId xmlns:a16="http://schemas.microsoft.com/office/drawing/2014/main" id="{6D504BED-E191-490A-9FE6-7F4D8AFB4CB3}"/>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23</a:t>
            </a:r>
          </a:p>
        </p:txBody>
      </p:sp>
      <p:sp>
        <p:nvSpPr>
          <p:cNvPr id="6" name="">
            <a:extLst xmlns:a="http://schemas.openxmlformats.org/drawingml/2006/main">
              <a:ext uri="{FF2B5EF4-FFF2-40B4-BE49-F238E27FC236}">
                <a16:creationId xmlns:a16="http://schemas.microsoft.com/office/drawing/2014/main" id="{277E0176-2334-46DF-B7F7-9E893B47FA9D}"/>
              </a:ext>
            </a:extLst>
          </p:cNvPr>
          <p:cNvSpPr>
            <a:spLocks xmlns:a="http://schemas.openxmlformats.org/drawingml/2006/main" noGrp="1"/>
          </p:cNvSpPr>
          <p:nvPr/>
        </p:nvSpPr>
        <p:spPr>
          <a:xfrm xmlns:a="http://schemas.openxmlformats.org/drawingml/2006/main">
            <a:off x="571500" y="1466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Continuous rule command flow</a:t>
            </a:r>
          </a:p>
        </p:txBody>
      </p:sp>
      <p:sp>
        <p:nvSpPr>
          <p:cNvPr id="7" name="Rule proposal">
            <a:extLst xmlns:a="http://schemas.openxmlformats.org/drawingml/2006/main">
              <a:ext uri="{FF2B5EF4-FFF2-40B4-BE49-F238E27FC236}">
                <a16:creationId xmlns:a16="http://schemas.microsoft.com/office/drawing/2014/main" id="{D4BD7C6C-392E-4CF6-805A-722E5C498E4B}"/>
              </a:ext>
            </a:extLst>
          </p:cNvPr>
          <p:cNvSpPr>
            <a:spLocks xmlns:a="http://schemas.openxmlformats.org/drawingml/2006/main" noGrp="1"/>
          </p:cNvSpPr>
          <p:nvPr/>
        </p:nvSpPr>
        <p:spPr>
          <a:xfrm xmlns:a="http://schemas.openxmlformats.org/drawingml/2006/main">
            <a:off x="571500" y="2124075"/>
            <a:ext cx="22383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Rule proposal</a:t>
            </a:r>
          </a:p>
        </p:txBody>
      </p:sp>
      <p:sp>
        <p:nvSpPr>
          <p:cNvPr id="8" name="Target lock">
            <a:extLst xmlns:a="http://schemas.openxmlformats.org/drawingml/2006/main">
              <a:ext uri="{FF2B5EF4-FFF2-40B4-BE49-F238E27FC236}">
                <a16:creationId xmlns:a16="http://schemas.microsoft.com/office/drawing/2014/main" id="{547EBB7E-9C31-4B31-BDCF-92B0BA6FA436}"/>
              </a:ext>
            </a:extLst>
          </p:cNvPr>
          <p:cNvSpPr>
            <a:spLocks xmlns:a="http://schemas.openxmlformats.org/drawingml/2006/main" noGrp="1"/>
          </p:cNvSpPr>
          <p:nvPr/>
        </p:nvSpPr>
        <p:spPr>
          <a:xfrm xmlns:a="http://schemas.openxmlformats.org/drawingml/2006/main">
            <a:off x="3381375" y="2124075"/>
            <a:ext cx="2238375"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Target lock</a:t>
            </a:r>
          </a:p>
        </p:txBody>
      </p:sp>
      <p:sp>
        <p:nvSpPr>
          <p:cNvPr id="9" name="Command planner">
            <a:extLst xmlns:a="http://schemas.openxmlformats.org/drawingml/2006/main">
              <a:ext uri="{FF2B5EF4-FFF2-40B4-BE49-F238E27FC236}">
                <a16:creationId xmlns:a16="http://schemas.microsoft.com/office/drawing/2014/main" id="{A39EAD59-B302-4009-AD9A-D92A288FF3BD}"/>
              </a:ext>
            </a:extLst>
          </p:cNvPr>
          <p:cNvSpPr>
            <a:spLocks xmlns:a="http://schemas.openxmlformats.org/drawingml/2006/main" noGrp="1"/>
          </p:cNvSpPr>
          <p:nvPr/>
        </p:nvSpPr>
        <p:spPr>
          <a:xfrm xmlns:a="http://schemas.openxmlformats.org/drawingml/2006/main">
            <a:off x="6191250" y="2124075"/>
            <a:ext cx="24288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Command planner</a:t>
            </a:r>
          </a:p>
        </p:txBody>
      </p:sp>
      <p:sp>
        <p:nvSpPr>
          <p:cNvPr id="10" name="Opt-in execution">
            <a:extLst xmlns:a="http://schemas.openxmlformats.org/drawingml/2006/main">
              <a:ext uri="{FF2B5EF4-FFF2-40B4-BE49-F238E27FC236}">
                <a16:creationId xmlns:a16="http://schemas.microsoft.com/office/drawing/2014/main" id="{2CDC789B-D47E-4C53-9F63-DDDC2F7EB157}"/>
              </a:ext>
            </a:extLst>
          </p:cNvPr>
          <p:cNvSpPr>
            <a:spLocks xmlns:a="http://schemas.openxmlformats.org/drawingml/2006/main" noGrp="1"/>
          </p:cNvSpPr>
          <p:nvPr/>
        </p:nvSpPr>
        <p:spPr>
          <a:xfrm xmlns:a="http://schemas.openxmlformats.org/drawingml/2006/main">
            <a:off x="9191625" y="2124075"/>
            <a:ext cx="2381250"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Opt-in execution</a:t>
            </a:r>
          </a:p>
        </p:txBody>
      </p: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2809875" y="2514600"/>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a:off x="5619750" y="2514600"/>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35" name=""/>
          <p:cNvCxnSpPr>
            <a:stCxn xmlns:a="http://schemas.openxmlformats.org/drawingml/2006/main" id="9" idx="3"/>
            <a:endCxn xmlns:a="http://schemas.openxmlformats.org/drawingml/2006/main" id="10" idx="1"/>
          </p:cNvCxnSpPr>
          <p:nvPr/>
        </p:nvCxnSpPr>
        <p:spPr>
          <a:xfrm xmlns:a="http://schemas.openxmlformats.org/drawingml/2006/main">
            <a:off x="8620125" y="2514600"/>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14" name="">
            <a:extLst xmlns:a="http://schemas.openxmlformats.org/drawingml/2006/main">
              <a:ext uri="{FF2B5EF4-FFF2-40B4-BE49-F238E27FC236}">
                <a16:creationId xmlns:a16="http://schemas.microsoft.com/office/drawing/2014/main" id="{375EBB2F-6537-447F-BFFF-6F0CA449E482}"/>
              </a:ext>
            </a:extLst>
          </p:cNvPr>
          <p:cNvSpPr>
            <a:spLocks xmlns:a="http://schemas.openxmlformats.org/drawingml/2006/main" noGrp="1"/>
          </p:cNvSpPr>
          <p:nvPr/>
        </p:nvSpPr>
        <p:spPr>
          <a:xfrm xmlns:a="http://schemas.openxmlformats.org/drawingml/2006/main">
            <a:off x="571500" y="34004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Selected-policy trial</a:t>
            </a:r>
          </a:p>
        </p:txBody>
      </p:sp>
      <p:sp>
        <p:nvSpPr>
          <p:cNvPr id="15" name="Rules or LLM">
            <a:extLst xmlns:a="http://schemas.openxmlformats.org/drawingml/2006/main">
              <a:ext uri="{FF2B5EF4-FFF2-40B4-BE49-F238E27FC236}">
                <a16:creationId xmlns:a16="http://schemas.microsoft.com/office/drawing/2014/main" id="{0A20C522-720F-4AFC-B2C8-4CFE7FA772B6}"/>
              </a:ext>
            </a:extLst>
          </p:cNvPr>
          <p:cNvSpPr>
            <a:spLocks xmlns:a="http://schemas.openxmlformats.org/drawingml/2006/main" noGrp="1"/>
          </p:cNvSpPr>
          <p:nvPr/>
        </p:nvSpPr>
        <p:spPr>
          <a:xfrm xmlns:a="http://schemas.openxmlformats.org/drawingml/2006/main">
            <a:off x="571500" y="4057650"/>
            <a:ext cx="22383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Rules or LLM</a:t>
            </a:r>
          </a:p>
        </p:txBody>
      </p:sp>
      <p:sp>
        <p:nvSpPr>
          <p:cNvPr id="16" name="Trial checks">
            <a:extLst xmlns:a="http://schemas.openxmlformats.org/drawingml/2006/main">
              <a:ext uri="{FF2B5EF4-FFF2-40B4-BE49-F238E27FC236}">
                <a16:creationId xmlns:a16="http://schemas.microsoft.com/office/drawing/2014/main" id="{9FD50216-8AB5-4D4E-A68E-FADC33475362}"/>
              </a:ext>
            </a:extLst>
          </p:cNvPr>
          <p:cNvSpPr>
            <a:spLocks xmlns:a="http://schemas.openxmlformats.org/drawingml/2006/main" noGrp="1"/>
          </p:cNvSpPr>
          <p:nvPr/>
        </p:nvSpPr>
        <p:spPr>
          <a:xfrm xmlns:a="http://schemas.openxmlformats.org/drawingml/2006/main">
            <a:off x="3381375" y="4057650"/>
            <a:ext cx="2238375"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1">
                <a:solidFill>
                  <a:srgbClr val="22577A"/>
                </a:solidFill>
                <a:latin typeface="Noto Sans"/>
                <a:ea typeface="Noto Sans"/>
                <a:cs typeface="Noto Sans"/>
              </a:defRPr>
            </a:pPr>
            <a:r>
              <a:rPr sz="1800" b="1">
                <a:solidFill>
                  <a:srgbClr val="22577A"/>
                </a:solidFill>
                <a:latin typeface="Noto Sans"/>
                <a:ea typeface="Noto Sans"/>
                <a:cs typeface="Noto Sans"/>
              </a:rPr>
              <a:t>Trial checks</a:t>
            </a:r>
          </a:p>
        </p:txBody>
      </p:sp>
      <p:sp>
        <p:nvSpPr>
          <p:cNvPr id="17" name="First accepted action">
            <a:extLst xmlns:a="http://schemas.openxmlformats.org/drawingml/2006/main">
              <a:ext uri="{FF2B5EF4-FFF2-40B4-BE49-F238E27FC236}">
                <a16:creationId xmlns:a16="http://schemas.microsoft.com/office/drawing/2014/main" id="{7D7DDFA3-55D4-4622-B974-E361F673B5AB}"/>
              </a:ext>
            </a:extLst>
          </p:cNvPr>
          <p:cNvSpPr>
            <a:spLocks xmlns:a="http://schemas.openxmlformats.org/drawingml/2006/main" noGrp="1"/>
          </p:cNvSpPr>
          <p:nvPr/>
        </p:nvSpPr>
        <p:spPr>
          <a:xfrm xmlns:a="http://schemas.openxmlformats.org/drawingml/2006/main">
            <a:off x="6191250" y="4057650"/>
            <a:ext cx="2428875" cy="781050"/>
          </a:xfrm>
          <a:prstGeom xmlns:a="http://schemas.openxmlformats.org/drawingml/2006/main" prst="roundRect">
            <a:avLst>
              <a:gd name="adj" fmla="val 12195"/>
            </a:avLst>
          </a:prstGeom>
          <a:solidFill xmlns:a="http://schemas.openxmlformats.org/drawingml/2006/main">
            <a:srgbClr val="DDECF2"/>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First accepted action</a:t>
            </a:r>
          </a:p>
        </p:txBody>
      </p:sp>
      <p:sp>
        <p:nvSpPr>
          <p:cNvPr id="18" name="Native action handler">
            <a:extLst xmlns:a="http://schemas.openxmlformats.org/drawingml/2006/main">
              <a:ext uri="{FF2B5EF4-FFF2-40B4-BE49-F238E27FC236}">
                <a16:creationId xmlns:a16="http://schemas.microsoft.com/office/drawing/2014/main" id="{D9FF1283-C49E-4D50-BF15-140A78D6300F}"/>
              </a:ext>
            </a:extLst>
          </p:cNvPr>
          <p:cNvSpPr>
            <a:spLocks xmlns:a="http://schemas.openxmlformats.org/drawingml/2006/main" noGrp="1"/>
          </p:cNvSpPr>
          <p:nvPr/>
        </p:nvSpPr>
        <p:spPr>
          <a:xfrm xmlns:a="http://schemas.openxmlformats.org/drawingml/2006/main">
            <a:off x="9191625" y="4057650"/>
            <a:ext cx="2381250" cy="781050"/>
          </a:xfrm>
          <a:prstGeom xmlns:a="http://schemas.openxmlformats.org/drawingml/2006/main" prst="roundRect">
            <a:avLst>
              <a:gd name="adj" fmla="val 12195"/>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725" b="1">
                <a:solidFill>
                  <a:srgbClr val="22577A"/>
                </a:solidFill>
                <a:latin typeface="Noto Sans"/>
                <a:ea typeface="Noto Sans"/>
                <a:cs typeface="Noto Sans"/>
              </a:defRPr>
            </a:pPr>
            <a:r>
              <a:rPr sz="1725" b="1">
                <a:solidFill>
                  <a:srgbClr val="22577A"/>
                </a:solidFill>
                <a:latin typeface="Noto Sans"/>
                <a:ea typeface="Noto Sans"/>
                <a:cs typeface="Noto Sans"/>
              </a:rPr>
              <a:t>Native action handler</a:t>
            </a:r>
          </a:p>
        </p:txBody>
      </p:sp>
      <p:cxnSp>
        <p:nvCxnSpPr>
          <p:cNvPr id="41" name=""/>
          <p:cNvCxnSpPr>
            <a:stCxn xmlns:a="http://schemas.openxmlformats.org/drawingml/2006/main" id="15" idx="3"/>
            <a:endCxn xmlns:a="http://schemas.openxmlformats.org/drawingml/2006/main" id="16" idx="1"/>
          </p:cNvCxnSpPr>
          <p:nvPr/>
        </p:nvCxnSpPr>
        <p:spPr>
          <a:xfrm xmlns:a="http://schemas.openxmlformats.org/drawingml/2006/main">
            <a:off x="2809875" y="4448175"/>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42" name=""/>
          <p:cNvCxnSpPr>
            <a:stCxn xmlns:a="http://schemas.openxmlformats.org/drawingml/2006/main" id="16" idx="3"/>
            <a:endCxn xmlns:a="http://schemas.openxmlformats.org/drawingml/2006/main" id="17" idx="1"/>
          </p:cNvCxnSpPr>
          <p:nvPr/>
        </p:nvCxnSpPr>
        <p:spPr>
          <a:xfrm xmlns:a="http://schemas.openxmlformats.org/drawingml/2006/main">
            <a:off x="5619750" y="4448175"/>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620125" y="4448175"/>
            <a:ext cx="571500" cy="0"/>
          </a:xfrm>
          <a:prstGeom xmlns:a="http://schemas.openxmlformats.org/drawingml/2006/main" prst="straightConnector1">
            <a:avLst/>
          </a:prstGeom>
          <a:ln xmlns:a="http://schemas.openxmlformats.org/drawingml/2006/main" w="19050">
            <a:solidFill>
              <a:srgbClr val="22577A"/>
            </a:solidFill>
            <a:tailEnd type="arrow" w="med" len="med"/>
          </a:ln>
        </p:spPr>
      </p:cxnSp>
      <p:sp>
        <p:nvSpPr>
          <p:cNvPr id="22" name="">
            <a:extLst xmlns:a="http://schemas.openxmlformats.org/drawingml/2006/main">
              <a:ext uri="{FF2B5EF4-FFF2-40B4-BE49-F238E27FC236}">
                <a16:creationId xmlns:a16="http://schemas.microsoft.com/office/drawing/2014/main" id="{BF3CE9C8-13E6-412C-9CA3-006EBB89A61B}"/>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The recorded evaluation ends at policy output. Acceptance is separate. Physical handlers require explicit execution.</a:t>
            </a:r>
          </a:p>
        </p:txBody>
      </p:sp>
    </p:spTree>
    <p:extLst>
      <p:ext uri="{BB962C8B-B14F-4D97-AF65-F5344CB8AC3E}">
        <p14:creationId xmlns:p14="http://schemas.microsoft.com/office/powerpoint/2010/main" val="2128161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8C2EAE-1E3B-4963-963B-3427F0573FDC}"/>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139DF9-2D59-429E-B21A-774254C7279F}"/>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2A17AB-A0E8-4B5F-8AD6-2199A39A7F4A}"/>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DecisionState v3: Included and Excluded Evidence</a:t>
            </a:r>
          </a:p>
        </p:txBody>
      </p:sp>
      <p:sp>
        <p:nvSpPr>
          <p:cNvPr id="4" name="">
            <a:extLst xmlns:a="http://schemas.openxmlformats.org/drawingml/2006/main">
              <a:ext uri="{FF2B5EF4-FFF2-40B4-BE49-F238E27FC236}">
                <a16:creationId xmlns:a16="http://schemas.microsoft.com/office/drawing/2014/main" id="{DF56C880-23D7-44EE-9046-6604608D2D3A}"/>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17</a:t>
            </a:r>
          </a:p>
        </p:txBody>
      </p:sp>
      <p:sp>
        <p:nvSpPr>
          <p:cNvPr id="5" name="">
            <a:extLst xmlns:a="http://schemas.openxmlformats.org/drawingml/2006/main">
              <a:ext uri="{FF2B5EF4-FFF2-40B4-BE49-F238E27FC236}">
                <a16:creationId xmlns:a16="http://schemas.microsoft.com/office/drawing/2014/main" id="{B53862C9-EAEF-4318-88A7-06E5CE24A198}"/>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24</a:t>
            </a:r>
          </a:p>
        </p:txBody>
      </p:sp>
      <p:graphicFrame>
        <p:nvGraphicFramePr>
          <p:cNvPr id="13" name=""/>
          <p:cNvGraphicFramePr/>
          <p:nvPr/>
        </p:nvGraphicFramePr>
        <p:xfrm>
          <a:off xmlns:a="http://schemas.openxmlformats.org/drawingml/2006/main" x="571500" y="1514475"/>
          <a:ext xmlns:a="http://schemas.openxmlformats.org/drawingml/2006/main" cx="11001375" cy="3810000"/>
        </p:xfrm>
        <a:graphic xmlns:a="http://schemas.openxmlformats.org/drawingml/2006/main">
          <a:graphicData uri="http://schemas.openxmlformats.org/drawingml/2006/table">
            <a:tbl>
              <a:tblPr/>
              <a:tblGrid>
                <a:gridCol w="5476875"/>
                <a:gridCol w="5524500"/>
              </a:tblGrid>
              <a:tr h="544286">
                <a:tc>
                  <a:txBody>
                    <a:bodyPr/>
                    <a:lstStyle/>
                    <a:p>
                      <a:r>
                        <a:rPr sz="1725" b="1">
                          <a:solidFill>
                            <a:srgbClr val="FFFFFF"/>
                          </a:solidFill>
                          <a:latin typeface="Noto Sans"/>
                          <a:ea typeface="Noto Sans"/>
                          <a:cs typeface="Noto Sans"/>
                        </a:rPr>
                        <a:t>Compact shared input</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Full diagnostics or separate context</a:t>
                      </a:r>
                    </a:p>
                  </a:txBody>
                  <a:tcPr marL="95250" marR="95250" marT="57150" marB="57150">
                    <a:solidFill>
                      <a:srgbClr val="22577A"/>
                    </a:solidFill>
                  </a:tcPr>
                </a:tc>
              </a:tr>
              <a:tr h="544286">
                <a:tc>
                  <a:txBody>
                    <a:bodyPr/>
                    <a:lstStyle/>
                    <a:p>
                      <a:r>
                        <a:rPr sz="1800" b="0">
                          <a:solidFill>
                            <a:srgbClr val="26333C"/>
                          </a:solidFill>
                          <a:latin typeface="Noto Sans"/>
                          <a:ea typeface="Noto Sans"/>
                          <a:cs typeface="Noto Sans"/>
                        </a:rPr>
                        <a:t>Readiness and empty-scene duration</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Session/state IDs and timestamps</a:t>
                      </a:r>
                    </a:p>
                  </a:txBody>
                  <a:tcPr marL="95250" marR="95250" marT="57150" marB="57150">
                    <a:solidFill>
                      <a:srgbClr val="DDECF2"/>
                    </a:solidFill>
                  </a:tcPr>
                </a:tc>
              </a:tr>
              <a:tr h="544286">
                <a:tc>
                  <a:txBody>
                    <a:bodyPr/>
                    <a:lstStyle/>
                    <a:p>
                      <a:r>
                        <a:rPr sz="1800" b="0">
                          <a:solidFill>
                            <a:srgbClr val="26333C"/>
                          </a:solidFill>
                          <a:latin typeface="Noto Sans"/>
                          <a:ea typeface="Noto Sans"/>
                          <a:cs typeface="Noto Sans"/>
                        </a:rPr>
                        <a:t>Robot motion category and description</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Raw velocities and configuration</a:t>
                      </a:r>
                    </a:p>
                  </a:txBody>
                  <a:tcPr marL="95250" marR="95250" marT="57150" marB="57150">
                    <a:solidFill>
                      <a:srgbClr val="F3F0E7"/>
                    </a:solidFill>
                  </a:tcPr>
                </a:tc>
              </a:tr>
              <a:tr h="544286">
                <a:tc>
                  <a:txBody>
                    <a:bodyPr/>
                    <a:lstStyle/>
                    <a:p>
                      <a:r>
                        <a:rPr sz="1800" b="0">
                          <a:solidFill>
                            <a:srgbClr val="26333C"/>
                          </a:solidFill>
                          <a:latin typeface="Noto Sans"/>
                          <a:ea typeface="Noto Sans"/>
                          <a:cs typeface="Noto Sans"/>
                        </a:rPr>
                        <a:t>Current observed people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Missing-track lifecycle and events</a:t>
                      </a:r>
                    </a:p>
                  </a:txBody>
                  <a:tcPr marL="95250" marR="95250" marT="57150" marB="57150">
                    <a:solidFill>
                      <a:srgbClr val="DDECF2"/>
                    </a:solidFill>
                  </a:tcPr>
                </a:tc>
              </a:tr>
              <a:tr h="544286">
                <a:tc>
                  <a:txBody>
                    <a:bodyPr/>
                    <a:lstStyle/>
                    <a:p>
                      <a:r>
                        <a:rPr sz="1800" b="0">
                          <a:solidFill>
                            <a:srgbClr val="26333C"/>
                          </a:solidFill>
                          <a:latin typeface="Noto Sans"/>
                          <a:ea typeface="Noto Sans"/>
                          <a:cs typeface="Noto Sans"/>
                        </a:rPr>
                        <a:t>Distance, gaze, trend and corridor categories</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Raw head/nose geometry and fit statistics</a:t>
                      </a:r>
                    </a:p>
                  </a:txBody>
                  <a:tcPr marL="95250" marR="95250" marT="57150" marB="57150">
                    <a:solidFill>
                      <a:srgbClr val="F3F0E7"/>
                    </a:solidFill>
                  </a:tcPr>
                </a:tc>
              </a:tr>
              <a:tr h="544286">
                <a:tc>
                  <a:txBody>
                    <a:bodyPr/>
                    <a:lstStyle/>
                    <a:p>
                      <a:r>
                        <a:rPr sz="1800" b="0">
                          <a:solidFill>
                            <a:srgbClr val="26333C"/>
                          </a:solidFill>
                          <a:latin typeface="Noto Sans"/>
                          <a:ea typeface="Noto Sans"/>
                          <a:cs typeface="Noto Sans"/>
                        </a:rPr>
                        <a:t>Face evidence and descriptive labels</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Detailed quality flags and provenance</a:t>
                      </a:r>
                    </a:p>
                  </a:txBody>
                  <a:tcPr marL="95250" marR="95250" marT="57150" marB="57150">
                    <a:solidFill>
                      <a:srgbClr val="DDECF2"/>
                    </a:solidFill>
                  </a:tcPr>
                </a:tc>
              </a:tr>
              <a:tr h="544286">
                <a:tc>
                  <a:txBody>
                    <a:bodyPr/>
                    <a:lstStyle/>
                    <a:p>
                      <a:r>
                        <a:rPr sz="1800" b="0">
                          <a:solidFill>
                            <a:srgbClr val="26333C"/>
                          </a:solidFill>
                          <a:latin typeface="Noto Sans"/>
                          <a:ea typeface="Noto Sans"/>
                          <a:cs typeface="Noto Sans"/>
                        </a:rPr>
                        <a:t>Ten exact evidence operands</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Cached rule settings outside observations</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E077DF8F-1A4F-4986-BB23-18B7FE26404D}"/>
              </a:ext>
            </a:extLst>
          </p:cNvPr>
          <p:cNvSpPr>
            <a:spLocks xmlns:a="http://schemas.openxmlformats.org/drawingml/2006/main" noGrp="1"/>
          </p:cNvSpPr>
          <p:nvPr/>
        </p:nvSpPr>
        <p:spPr>
          <a:xfrm xmlns:a="http://schemas.openxmlformats.org/drawingml/2006/main">
            <a:off x="619125" y="557212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2577A"/>
                </a:solidFill>
                <a:latin typeface="Rubik"/>
                <a:ea typeface="Rubik"/>
                <a:cs typeface="Rubik"/>
              </a:defRPr>
            </a:pPr>
            <a:r>
              <a:rPr sz="2400" b="1">
                <a:solidFill>
                  <a:srgbClr val="22577A"/>
                </a:solidFill>
                <a:latin typeface="Rubik"/>
                <a:ea typeface="Rubik"/>
                <a:cs typeface="Rubik"/>
              </a:rPr>
              <a:t>One canonical observation object for both policies</a:t>
            </a:r>
          </a:p>
        </p:txBody>
      </p:sp>
    </p:spTree>
    <p:extLst>
      <p:ext uri="{BB962C8B-B14F-4D97-AF65-F5344CB8AC3E}">
        <p14:creationId xmlns:p14="http://schemas.microsoft.com/office/powerpoint/2010/main" val="12991500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FA3858-A6D0-46B7-A42F-CB5B8C042575}"/>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AA7B14-F050-47C2-B0D7-F1AD003F611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3BE43F0-CCC7-4BFA-9CF7-7F287863C40F}"/>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Readable Labels and Their Measurement Meaning</a:t>
            </a:r>
          </a:p>
        </p:txBody>
      </p:sp>
      <p:sp>
        <p:nvSpPr>
          <p:cNvPr id="4" name="">
            <a:extLst xmlns:a="http://schemas.openxmlformats.org/drawingml/2006/main">
              <a:ext uri="{FF2B5EF4-FFF2-40B4-BE49-F238E27FC236}">
                <a16:creationId xmlns:a16="http://schemas.microsoft.com/office/drawing/2014/main" id="{2FC650D9-0D9C-45DC-8723-6B982F82BD0E}"/>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18</a:t>
            </a:r>
          </a:p>
        </p:txBody>
      </p:sp>
      <p:sp>
        <p:nvSpPr>
          <p:cNvPr id="5" name="">
            <a:extLst xmlns:a="http://schemas.openxmlformats.org/drawingml/2006/main">
              <a:ext uri="{FF2B5EF4-FFF2-40B4-BE49-F238E27FC236}">
                <a16:creationId xmlns:a16="http://schemas.microsoft.com/office/drawing/2014/main" id="{3BE9A565-CAFE-45FF-95E4-90A3A1157CCE}"/>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25</a:t>
            </a:r>
          </a:p>
        </p:txBody>
      </p:sp>
      <p:graphicFrame>
        <p:nvGraphicFramePr>
          <p:cNvPr id="13" name=""/>
          <p:cNvGraphicFramePr/>
          <p:nvPr/>
        </p:nvGraphicFramePr>
        <p:xfrm>
          <a:off xmlns:a="http://schemas.openxmlformats.org/drawingml/2006/main" x="571500" y="1504950"/>
          <a:ext xmlns:a="http://schemas.openxmlformats.org/drawingml/2006/main" cx="11001375" cy="3848100"/>
        </p:xfrm>
        <a:graphic xmlns:a="http://schemas.openxmlformats.org/drawingml/2006/main">
          <a:graphicData uri="http://schemas.openxmlformats.org/drawingml/2006/table">
            <a:tbl>
              <a:tblPr/>
              <a:tblGrid>
                <a:gridCol w="3476625"/>
                <a:gridCol w="7524750"/>
              </a:tblGrid>
              <a:tr h="549729">
                <a:tc>
                  <a:txBody>
                    <a:bodyPr/>
                    <a:lstStyle/>
                    <a:p>
                      <a:r>
                        <a:rPr sz="1725" b="1">
                          <a:solidFill>
                            <a:srgbClr val="FFFFFF"/>
                          </a:solidFill>
                          <a:latin typeface="Noto Sans"/>
                          <a:ea typeface="Noto Sans"/>
                          <a:cs typeface="Noto Sans"/>
                        </a:rPr>
                        <a:t>Label</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Meaning supplied to the LLM</a:t>
                      </a:r>
                    </a:p>
                  </a:txBody>
                  <a:tcPr marL="95250" marR="95250" marT="57150" marB="57150">
                    <a:solidFill>
                      <a:srgbClr val="22577A"/>
                    </a:solidFill>
                  </a:tcPr>
                </a:tc>
              </a:tr>
              <a:tr h="549729">
                <a:tc>
                  <a:txBody>
                    <a:bodyPr/>
                    <a:lstStyle/>
                    <a:p>
                      <a:r>
                        <a:rPr sz="1800" b="0">
                          <a:solidFill>
                            <a:srgbClr val="26333C"/>
                          </a:solidFill>
                          <a:latin typeface="Noto Sans"/>
                          <a:ea typeface="Noto Sans"/>
                          <a:cs typeface="Noto Sans"/>
                        </a:rPr>
                        <a:t>Current gaze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Latest sample classified looking, not looking or unavailable</a:t>
                      </a:r>
                    </a:p>
                  </a:txBody>
                  <a:tcPr marL="95250" marR="95250" marT="57150" marB="57150">
                    <a:solidFill>
                      <a:srgbClr val="DDECF2"/>
                    </a:solidFill>
                  </a:tcPr>
                </a:tc>
              </a:tr>
              <a:tr h="549729">
                <a:tc>
                  <a:txBody>
                    <a:bodyPr/>
                    <a:lstStyle/>
                    <a:p>
                      <a:r>
                        <a:rPr sz="1800" b="0">
                          <a:solidFill>
                            <a:srgbClr val="26333C"/>
                          </a:solidFill>
                          <a:latin typeface="Noto Sans"/>
                          <a:ea typeface="Noto Sans"/>
                          <a:cs typeface="Noto Sans"/>
                        </a:rPr>
                        <a:t>Attention over time</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Recent little/no, intermittent or high-fraction looking</a:t>
                      </a:r>
                    </a:p>
                  </a:txBody>
                  <a:tcPr marL="95250" marR="95250" marT="57150" marB="57150">
                    <a:solidFill>
                      <a:srgbClr val="F3F0E7"/>
                    </a:solidFill>
                  </a:tcPr>
                </a:tc>
              </a:tr>
              <a:tr h="549729">
                <a:tc>
                  <a:txBody>
                    <a:bodyPr/>
                    <a:lstStyle/>
                    <a:p>
                      <a:r>
                        <a:rPr sz="1800" b="0">
                          <a:solidFill>
                            <a:srgbClr val="26333C"/>
                          </a:solidFill>
                          <a:latin typeface="Noto Sans"/>
                          <a:ea typeface="Noto Sans"/>
                          <a:cs typeface="Noto Sans"/>
                        </a:rPr>
                        <a:t>Proximity</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Configured conversation/social-distance band</a:t>
                      </a:r>
                    </a:p>
                  </a:txBody>
                  <a:tcPr marL="95250" marR="95250" marT="57150" marB="57150">
                    <a:solidFill>
                      <a:srgbClr val="DDECF2"/>
                    </a:solidFill>
                  </a:tcPr>
                </a:tc>
              </a:tr>
              <a:tr h="549729">
                <a:tc>
                  <a:txBody>
                    <a:bodyPr/>
                    <a:lstStyle/>
                    <a:p>
                      <a:r>
                        <a:rPr sz="1800" b="0">
                          <a:solidFill>
                            <a:srgbClr val="26333C"/>
                          </a:solidFill>
                          <a:latin typeface="Noto Sans"/>
                          <a:ea typeface="Noto Sans"/>
                          <a:cs typeface="Noto Sans"/>
                        </a:rPr>
                        <a:t>Relative separation</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Robot-person distance getting closer, steady or farther</a:t>
                      </a:r>
                    </a:p>
                  </a:txBody>
                  <a:tcPr marL="95250" marR="95250" marT="57150" marB="57150">
                    <a:solidFill>
                      <a:srgbClr val="F3F0E7"/>
                    </a:solidFill>
                  </a:tcPr>
                </a:tc>
              </a:tr>
              <a:tr h="549729">
                <a:tc>
                  <a:txBody>
                    <a:bodyPr/>
                    <a:lstStyle/>
                    <a:p>
                      <a:r>
                        <a:rPr sz="1800" b="0">
                          <a:solidFill>
                            <a:srgbClr val="26333C"/>
                          </a:solidFill>
                          <a:latin typeface="Noto Sans"/>
                          <a:ea typeface="Noto Sans"/>
                          <a:cs typeface="Noto Sans"/>
                        </a:rPr>
                        <a:t>Corridor position</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Current estimate inside, beside or behind the forward corridor</a:t>
                      </a:r>
                    </a:p>
                  </a:txBody>
                  <a:tcPr marL="95250" marR="95250" marT="57150" marB="57150">
                    <a:solidFill>
                      <a:srgbClr val="DDECF2"/>
                    </a:solidFill>
                  </a:tcPr>
                </a:tc>
              </a:tr>
              <a:tr h="549729">
                <a:tc>
                  <a:txBody>
                    <a:bodyPr/>
                    <a:lstStyle/>
                    <a:p>
                      <a:r>
                        <a:rPr sz="1800" b="0">
                          <a:solidFill>
                            <a:srgbClr val="26333C"/>
                          </a:solidFill>
                          <a:latin typeface="Noto Sans"/>
                          <a:ea typeface="Noto Sans"/>
                          <a:cs typeface="Noto Sans"/>
                        </a:rPr>
                        <a:t>Face detection</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Face detected, absent or unavailable</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3D4E6079-D28A-47A1-BF33-23207E30F558}"/>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Either participant may change relative separation. Labels describe evidence without encoding an action or intention.</a:t>
            </a:r>
          </a:p>
        </p:txBody>
      </p:sp>
    </p:spTree>
    <p:extLst>
      <p:ext uri="{BB962C8B-B14F-4D97-AF65-F5344CB8AC3E}">
        <p14:creationId xmlns:p14="http://schemas.microsoft.com/office/powerpoint/2010/main" val="621453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B505D2-AE87-45EB-A259-CD2A76C23384}"/>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0FCA76-5EC0-414C-AB4C-5ADD4D21BDF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0E5A8B-BC1D-4943-8677-340697110963}"/>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LLM Instructions and Output Validation</a:t>
            </a:r>
          </a:p>
        </p:txBody>
      </p:sp>
      <p:sp>
        <p:nvSpPr>
          <p:cNvPr id="4" name="">
            <a:extLst xmlns:a="http://schemas.openxmlformats.org/drawingml/2006/main">
              <a:ext uri="{FF2B5EF4-FFF2-40B4-BE49-F238E27FC236}">
                <a16:creationId xmlns:a16="http://schemas.microsoft.com/office/drawing/2014/main" id="{778C3E4B-B2D3-4D0E-A6F4-8B95751AC2B0}"/>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19</a:t>
            </a:r>
          </a:p>
        </p:txBody>
      </p:sp>
      <p:sp>
        <p:nvSpPr>
          <p:cNvPr id="5" name="">
            <a:extLst xmlns:a="http://schemas.openxmlformats.org/drawingml/2006/main">
              <a:ext uri="{FF2B5EF4-FFF2-40B4-BE49-F238E27FC236}">
                <a16:creationId xmlns:a16="http://schemas.microsoft.com/office/drawing/2014/main" id="{290A9DC6-EAC0-4127-8B87-8D9670684DAF}"/>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26</a:t>
            </a:r>
          </a:p>
        </p:txBody>
      </p:sp>
      <p:graphicFrame>
        <p:nvGraphicFramePr>
          <p:cNvPr id="14" name=""/>
          <p:cNvGraphicFramePr/>
          <p:nvPr/>
        </p:nvGraphicFramePr>
        <p:xfrm>
          <a:off xmlns:a="http://schemas.openxmlformats.org/drawingml/2006/main" x="571500" y="1552575"/>
          <a:ext xmlns:a="http://schemas.openxmlformats.org/drawingml/2006/main" cx="11001375" cy="3181350"/>
        </p:xfrm>
        <a:graphic xmlns:a="http://schemas.openxmlformats.org/drawingml/2006/main">
          <a:graphicData uri="http://schemas.openxmlformats.org/drawingml/2006/table">
            <a:tbl>
              <a:tblPr/>
              <a:tblGrid>
                <a:gridCol w="5667375"/>
                <a:gridCol w="5334000"/>
              </a:tblGrid>
              <a:tr h="530225">
                <a:tc>
                  <a:txBody>
                    <a:bodyPr/>
                    <a:lstStyle/>
                    <a:p>
                      <a:r>
                        <a:rPr sz="1725" b="1">
                          <a:solidFill>
                            <a:srgbClr val="FFFFFF"/>
                          </a:solidFill>
                          <a:latin typeface="Noto Sans"/>
                          <a:ea typeface="Noto Sans"/>
                          <a:cs typeface="Noto Sans"/>
                        </a:rPr>
                        <a:t>Instruction guidance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Strict output checks</a:t>
                      </a:r>
                    </a:p>
                  </a:txBody>
                  <a:tcPr marL="95250" marR="95250" marT="57150" marB="57150">
                    <a:solidFill>
                      <a:srgbClr val="22577A"/>
                    </a:solidFill>
                  </a:tcPr>
                </a:tc>
              </a:tr>
              <a:tr h="530225">
                <a:tc>
                  <a:txBody>
                    <a:bodyPr/>
                    <a:lstStyle/>
                    <a:p>
                      <a:r>
                        <a:rPr sz="1725" b="0">
                          <a:solidFill>
                            <a:srgbClr val="26333C"/>
                          </a:solidFill>
                          <a:latin typeface="Noto Sans"/>
                          <a:ea typeface="Noto Sans"/>
                          <a:cs typeface="Noto Sans"/>
                        </a:rPr>
                        <a:t>Use only supplied observed evidence</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Exactly action and reason</a:t>
                      </a:r>
                    </a:p>
                  </a:txBody>
                  <a:tcPr marL="95250" marR="95250" marT="57150" marB="57150">
                    <a:solidFill>
                      <a:srgbClr val="DDECF2"/>
                    </a:solidFill>
                  </a:tcPr>
                </a:tc>
              </a:tr>
              <a:tr h="530225">
                <a:tc>
                  <a:txBody>
                    <a:bodyPr/>
                    <a:lstStyle/>
                    <a:p>
                      <a:r>
                        <a:rPr sz="1725" b="0">
                          <a:solidFill>
                            <a:srgbClr val="26333C"/>
                          </a:solidFill>
                          <a:latin typeface="Noto Sans"/>
                          <a:ea typeface="Noto Sans"/>
                          <a:cs typeface="Noto Sans"/>
                        </a:rPr>
                        <a:t>Respect UNKNOWN and validity</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CONTINUE / APPROACH / ENGAGE / YIELD</a:t>
                      </a:r>
                    </a:p>
                  </a:txBody>
                  <a:tcPr marL="95250" marR="95250" marT="57150" marB="57150">
                    <a:solidFill>
                      <a:srgbClr val="F3F0E7"/>
                    </a:solidFill>
                  </a:tcPr>
                </a:tc>
              </a:tr>
              <a:tr h="530225">
                <a:tc>
                  <a:txBody>
                    <a:bodyPr/>
                    <a:lstStyle/>
                    <a:p>
                      <a:r>
                        <a:rPr sz="1725" b="0">
                          <a:solidFill>
                            <a:srgbClr val="26333C"/>
                          </a:solidFill>
                          <a:latin typeface="Noto Sans"/>
                          <a:ea typeface="Noto Sans"/>
                          <a:cs typeface="Noto Sans"/>
                        </a:rPr>
                        <a:t>Separate history and current gaze</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Nonblank reason string</a:t>
                      </a:r>
                    </a:p>
                  </a:txBody>
                  <a:tcPr marL="95250" marR="95250" marT="57150" marB="57150">
                    <a:solidFill>
                      <a:srgbClr val="DDECF2"/>
                    </a:solidFill>
                  </a:tcPr>
                </a:tc>
              </a:tr>
              <a:tr h="530225">
                <a:tc>
                  <a:txBody>
                    <a:bodyPr/>
                    <a:lstStyle/>
                    <a:p>
                      <a:r>
                        <a:rPr sz="1725" b="0">
                          <a:solidFill>
                            <a:srgbClr val="26333C"/>
                          </a:solidFill>
                          <a:latin typeface="Noto Sans"/>
                          <a:ea typeface="Noto Sans"/>
                          <a:cs typeface="Noto Sans"/>
                        </a:rPr>
                        <a:t>Do not invent intent or permission</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No extra fields</a:t>
                      </a:r>
                    </a:p>
                  </a:txBody>
                  <a:tcPr marL="95250" marR="95250" marT="57150" marB="57150">
                    <a:solidFill>
                      <a:srgbClr val="F3F0E7"/>
                    </a:solidFill>
                  </a:tcPr>
                </a:tc>
              </a:tr>
              <a:tr h="530225">
                <a:tc>
                  <a:txBody>
                    <a:bodyPr/>
                    <a:lstStyle/>
                    <a:p>
                      <a:r>
                        <a:rPr sz="1725" b="0">
                          <a:solidFill>
                            <a:srgbClr val="26333C"/>
                          </a:solidFill>
                          <a:latin typeface="Noto Sans"/>
                          <a:ea typeface="Noto Sans"/>
                          <a:cs typeface="Noto Sans"/>
                        </a:rPr>
                        <a:t>One concise sentence, at most 25 words</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No semantic correctness or word-count check</a:t>
                      </a:r>
                    </a:p>
                  </a:txBody>
                  <a:tcPr marL="95250" marR="95250" marT="57150" marB="57150">
                    <a:solidFill>
                      <a:srgbClr val="DDECF2"/>
                    </a:solidFill>
                  </a:tcPr>
                </a:tc>
              </a:tr>
            </a:tbl>
          </a:graphicData>
        </a:graphic>
      </p:graphicFrame>
      <p:sp>
        <p:nvSpPr>
          <p:cNvPr id="7" name="{&quot;action&quot;: &quot;CONTINUE&quot;, &quot;reason&quot;: &quot;Observed evidence does not support interaction.&quot;}">
            <a:extLst xmlns:a="http://schemas.openxmlformats.org/drawingml/2006/main">
              <a:ext uri="{FF2B5EF4-FFF2-40B4-BE49-F238E27FC236}">
                <a16:creationId xmlns:a16="http://schemas.microsoft.com/office/drawing/2014/main" id="{144F2363-76E7-4EA4-A974-5A2996D46366}"/>
              </a:ext>
            </a:extLst>
          </p:cNvPr>
          <p:cNvSpPr>
            <a:spLocks xmlns:a="http://schemas.openxmlformats.org/drawingml/2006/main" noGrp="1"/>
          </p:cNvSpPr>
          <p:nvPr/>
        </p:nvSpPr>
        <p:spPr>
          <a:xfrm xmlns:a="http://schemas.openxmlformats.org/drawingml/2006/main">
            <a:off x="571500" y="5048250"/>
            <a:ext cx="11001375" cy="685800"/>
          </a:xfrm>
          <a:prstGeom xmlns:a="http://schemas.openxmlformats.org/drawingml/2006/main" prst="roundRect">
            <a:avLst>
              <a:gd name="adj" fmla="val 13889"/>
            </a:avLst>
          </a:prstGeom>
          <a:solidFill xmlns:a="http://schemas.openxmlformats.org/drawingml/2006/main">
            <a:srgbClr val="F3F0E7"/>
          </a:solidFill>
          <a:ln xmlns:a="http://schemas.openxmlformats.org/drawingml/2006/main" w="0">
            <a:no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800" b="0">
                <a:solidFill>
                  <a:srgbClr val="26333C"/>
                </a:solidFill>
                <a:latin typeface="Noto Sans"/>
                <a:ea typeface="Noto Sans"/>
                <a:cs typeface="Noto Sans"/>
              </a:defRPr>
            </a:pPr>
            <a:r>
              <a:rPr sz="1800" b="0">
                <a:solidFill>
                  <a:srgbClr val="26333C"/>
                </a:solidFill>
                <a:latin typeface="Noto Sans"/>
                <a:ea typeface="Noto Sans"/>
                <a:cs typeface="Noto Sans"/>
              </a:rPr>
              <a:t>{"action": "CONTINUE", "reason": "Observed evidence does not support interaction."}</a:t>
            </a:r>
          </a:p>
        </p:txBody>
      </p:sp>
      <p:sp>
        <p:nvSpPr>
          <p:cNvPr id="8" name="">
            <a:extLst xmlns:a="http://schemas.openxmlformats.org/drawingml/2006/main">
              <a:ext uri="{FF2B5EF4-FFF2-40B4-BE49-F238E27FC236}">
                <a16:creationId xmlns:a16="http://schemas.microsoft.com/office/drawing/2014/main" id="{946832BF-CD8B-4477-AE17-867D1C7C1568}"/>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Example output structure. Strict JSON validity and social appropriateness are separate measures.</a:t>
            </a:r>
          </a:p>
        </p:txBody>
      </p:sp>
    </p:spTree>
    <p:extLst>
      <p:ext uri="{BB962C8B-B14F-4D97-AF65-F5344CB8AC3E}">
        <p14:creationId xmlns:p14="http://schemas.microsoft.com/office/powerpoint/2010/main" val="12692746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FE5792-F044-4EF8-A857-4439E244D568}"/>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4633EF-1790-428C-B9FD-CF2D964D5579}"/>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AF30FA-E5CC-4166-A7F1-6F61EB01FA86}"/>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Input and Instruction Refinement Results</a:t>
            </a:r>
          </a:p>
        </p:txBody>
      </p:sp>
      <p:sp>
        <p:nvSpPr>
          <p:cNvPr id="4" name="">
            <a:extLst xmlns:a="http://schemas.openxmlformats.org/drawingml/2006/main">
              <a:ext uri="{FF2B5EF4-FFF2-40B4-BE49-F238E27FC236}">
                <a16:creationId xmlns:a16="http://schemas.microsoft.com/office/drawing/2014/main" id="{7435CEF6-F4C3-43E9-BB58-3315EA264A4F}"/>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20</a:t>
            </a:r>
          </a:p>
        </p:txBody>
      </p:sp>
      <p:sp>
        <p:nvSpPr>
          <p:cNvPr id="5" name="">
            <a:extLst xmlns:a="http://schemas.openxmlformats.org/drawingml/2006/main">
              <a:ext uri="{FF2B5EF4-FFF2-40B4-BE49-F238E27FC236}">
                <a16:creationId xmlns:a16="http://schemas.microsoft.com/office/drawing/2014/main" id="{1A4F8C42-C0FA-43FA-B747-B1E7A4A6F612}"/>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27</a:t>
            </a:r>
          </a:p>
        </p:txBody>
      </p:sp>
      <p:graphicFrame>
        <p:nvGraphicFramePr>
          <p:cNvPr id="13" name=""/>
          <p:cNvGraphicFramePr/>
          <p:nvPr/>
        </p:nvGraphicFramePr>
        <p:xfrm>
          <a:off xmlns:a="http://schemas.openxmlformats.org/drawingml/2006/main" x="571500" y="1495425"/>
          <a:ext xmlns:a="http://schemas.openxmlformats.org/drawingml/2006/main" cx="11001375" cy="4038600"/>
        </p:xfrm>
        <a:graphic xmlns:a="http://schemas.openxmlformats.org/drawingml/2006/main">
          <a:graphicData uri="http://schemas.openxmlformats.org/drawingml/2006/table">
            <a:tbl>
              <a:tblPr/>
              <a:tblGrid>
                <a:gridCol w="3571875"/>
                <a:gridCol w="1619250"/>
                <a:gridCol w="1524000"/>
                <a:gridCol w="1428750"/>
                <a:gridCol w="2857500"/>
              </a:tblGrid>
              <a:tr h="504825">
                <a:tc>
                  <a:txBody>
                    <a:bodyPr/>
                    <a:lstStyle/>
                    <a:p>
                      <a:r>
                        <a:rPr sz="1650" b="1">
                          <a:solidFill>
                            <a:srgbClr val="FFFFFF"/>
                          </a:solidFill>
                          <a:latin typeface="Noto Sans"/>
                          <a:ea typeface="Noto Sans"/>
                          <a:cs typeface="Noto Sans"/>
                        </a:rPr>
                        <a:t>Stage / arm</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First alignment</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Median delay</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Input tokens</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Decision</a:t>
                      </a:r>
                    </a:p>
                  </a:txBody>
                  <a:tcPr marL="95250" marR="95250" marT="57150" marB="57150">
                    <a:solidFill>
                      <a:srgbClr val="22577A"/>
                    </a:solidFill>
                  </a:tcPr>
                </a:tc>
              </a:tr>
              <a:tr h="504825">
                <a:tc>
                  <a:txBody>
                    <a:bodyPr/>
                    <a:lstStyle/>
                    <a:p>
                      <a:r>
                        <a:rPr sz="1613" b="0">
                          <a:solidFill>
                            <a:srgbClr val="26333C"/>
                          </a:solidFill>
                          <a:latin typeface="Noto Sans"/>
                          <a:ea typeface="Noto Sans"/>
                          <a:cs typeface="Noto Sans"/>
                        </a:rPr>
                        <a:t>1-2 Full-state baseline</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6/9</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6.21s</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1,766</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Reference</a:t>
                      </a:r>
                    </a:p>
                  </a:txBody>
                  <a:tcPr marL="95250" marR="95250" marT="57150" marB="57150">
                    <a:solidFill>
                      <a:srgbClr val="DDECF2"/>
                    </a:solidFill>
                  </a:tcPr>
                </a:tc>
              </a:tr>
              <a:tr h="504825">
                <a:tc>
                  <a:txBody>
                    <a:bodyPr/>
                    <a:lstStyle/>
                    <a:p>
                      <a:r>
                        <a:rPr sz="1613" b="0">
                          <a:solidFill>
                            <a:srgbClr val="26333C"/>
                          </a:solidFill>
                          <a:latin typeface="Noto Sans"/>
                          <a:ea typeface="Noto Sans"/>
                          <a:cs typeface="Noto Sans"/>
                        </a:rPr>
                        <a:t>3 Compact state</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8/9</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2.76s</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794</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Retain compact core</a:t>
                      </a:r>
                    </a:p>
                  </a:txBody>
                  <a:tcPr marL="95250" marR="95250" marT="57150" marB="57150">
                    <a:solidFill>
                      <a:srgbClr val="F3F0E7"/>
                    </a:solidFill>
                  </a:tcPr>
                </a:tc>
              </a:tr>
              <a:tr h="504825">
                <a:tc>
                  <a:txBody>
                    <a:bodyPr/>
                    <a:lstStyle/>
                    <a:p>
                      <a:r>
                        <a:rPr sz="1613" b="0">
                          <a:solidFill>
                            <a:srgbClr val="26333C"/>
                          </a:solidFill>
                          <a:latin typeface="Noto Sans"/>
                          <a:ea typeface="Noto Sans"/>
                          <a:cs typeface="Noto Sans"/>
                        </a:rPr>
                        <a:t>4 Semantic labels</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8/9</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3.72s</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880</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Clearer meaning, no action gain</a:t>
                      </a:r>
                    </a:p>
                  </a:txBody>
                  <a:tcPr marL="95250" marR="95250" marT="57150" marB="57150">
                    <a:solidFill>
                      <a:srgbClr val="DDECF2"/>
                    </a:solidFill>
                  </a:tcPr>
                </a:tc>
              </a:tr>
              <a:tr h="504825">
                <a:tc>
                  <a:txBody>
                    <a:bodyPr/>
                    <a:lstStyle/>
                    <a:p>
                      <a:r>
                        <a:rPr sz="1613" b="0">
                          <a:solidFill>
                            <a:srgbClr val="26333C"/>
                          </a:solidFill>
                          <a:latin typeface="Noto Sans"/>
                          <a:ea typeface="Noto Sans"/>
                          <a:cs typeface="Noto Sans"/>
                        </a:rPr>
                        <a:t>5 v14 on supported v3</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8/9</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3.31s</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842</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Fresh prompt control</a:t>
                      </a:r>
                    </a:p>
                  </a:txBody>
                  <a:tcPr marL="95250" marR="95250" marT="57150" marB="57150">
                    <a:solidFill>
                      <a:srgbClr val="F3F0E7"/>
                    </a:solidFill>
                  </a:tcPr>
                </a:tc>
              </a:tr>
              <a:tr h="504825">
                <a:tc>
                  <a:txBody>
                    <a:bodyPr/>
                    <a:lstStyle/>
                    <a:p>
                      <a:r>
                        <a:rPr sz="1613" b="0">
                          <a:solidFill>
                            <a:srgbClr val="26333C"/>
                          </a:solidFill>
                          <a:latin typeface="Noto Sans"/>
                          <a:ea typeface="Noto Sans"/>
                          <a:cs typeface="Noto Sans"/>
                        </a:rPr>
                        <a:t>5 Selected v16</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8/9</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3.04s</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917</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Retain instructions</a:t>
                      </a:r>
                    </a:p>
                  </a:txBody>
                  <a:tcPr marL="95250" marR="95250" marT="57150" marB="57150">
                    <a:solidFill>
                      <a:srgbClr val="DDECF2"/>
                    </a:solidFill>
                  </a:tcPr>
                </a:tc>
              </a:tr>
              <a:tr h="504825">
                <a:tc>
                  <a:txBody>
                    <a:bodyPr/>
                    <a:lstStyle/>
                    <a:p>
                      <a:r>
                        <a:rPr sz="1613" b="0">
                          <a:solidFill>
                            <a:srgbClr val="26333C"/>
                          </a:solidFill>
                          <a:latin typeface="Noto Sans"/>
                          <a:ea typeface="Noto Sans"/>
                          <a:cs typeface="Noto Sans"/>
                        </a:rPr>
                        <a:t>6 Looking-change summary</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8/9</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3.05s</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918</a:t>
                      </a:r>
                    </a:p>
                  </a:txBody>
                  <a:tcPr marL="95250" marR="95250" marT="57150" marB="57150">
                    <a:solidFill>
                      <a:srgbClr val="F3F0E7"/>
                    </a:solidFill>
                  </a:tcPr>
                </a:tc>
                <a:tc>
                  <a:txBody>
                    <a:bodyPr/>
                    <a:lstStyle/>
                    <a:p>
                      <a:r>
                        <a:rPr sz="1613" b="0">
                          <a:solidFill>
                            <a:srgbClr val="26333C"/>
                          </a:solidFill>
                          <a:latin typeface="Noto Sans"/>
                          <a:ea typeface="Noto Sans"/>
                          <a:cs typeface="Noto Sans"/>
                        </a:rPr>
                        <a:t>Disabled</a:t>
                      </a:r>
                    </a:p>
                  </a:txBody>
                  <a:tcPr marL="95250" marR="95250" marT="57150" marB="57150">
                    <a:solidFill>
                      <a:srgbClr val="F3F0E7"/>
                    </a:solidFill>
                  </a:tcPr>
                </a:tc>
              </a:tr>
              <a:tr h="504825">
                <a:tc>
                  <a:txBody>
                    <a:bodyPr/>
                    <a:lstStyle/>
                    <a:p>
                      <a:r>
                        <a:rPr sz="1613" b="0">
                          <a:solidFill>
                            <a:srgbClr val="26333C"/>
                          </a:solidFill>
                          <a:latin typeface="Noto Sans"/>
                          <a:ea typeface="Noto Sans"/>
                          <a:cs typeface="Noto Sans"/>
                        </a:rPr>
                        <a:t>6 Detection-resumed summary</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8/9</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3.06s</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917</a:t>
                      </a:r>
                    </a:p>
                  </a:txBody>
                  <a:tcPr marL="95250" marR="95250" marT="57150" marB="57150">
                    <a:solidFill>
                      <a:srgbClr val="DDECF2"/>
                    </a:solidFill>
                  </a:tcPr>
                </a:tc>
                <a:tc>
                  <a:txBody>
                    <a:bodyPr/>
                    <a:lstStyle/>
                    <a:p>
                      <a:r>
                        <a:rPr sz="1613" b="0">
                          <a:solidFill>
                            <a:srgbClr val="26333C"/>
                          </a:solidFill>
                          <a:latin typeface="Noto Sans"/>
                          <a:ea typeface="Noto Sans"/>
                          <a:cs typeface="Noto Sans"/>
                        </a:rPr>
                        <a:t>Disabled</a:t>
                      </a:r>
                    </a:p>
                  </a:txBody>
                  <a:tcPr marL="95250" marR="95250" marT="57150" marB="57150">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1C9A9B6A-7876-46C9-9A66-1578DEA15027}"/>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Measured timings vary with runtime and cache. Stage 3 remains the faster historical 8/9 reference.</a:t>
            </a:r>
          </a:p>
        </p:txBody>
      </p:sp>
    </p:spTree>
    <p:extLst>
      <p:ext uri="{BB962C8B-B14F-4D97-AF65-F5344CB8AC3E}">
        <p14:creationId xmlns:p14="http://schemas.microsoft.com/office/powerpoint/2010/main" val="85786110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037B02-82BC-482C-87C2-28A7F5F17042}"/>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6FD151-ADE2-47F3-8E35-FBD12D85E3FA}"/>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0FB6B5-A551-4B9C-BFAE-197D96808CE1}"/>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Temporal Summary Ablations: No First-Action Gain</a:t>
            </a:r>
          </a:p>
        </p:txBody>
      </p:sp>
      <p:sp>
        <p:nvSpPr>
          <p:cNvPr id="4" name="">
            <a:extLst xmlns:a="http://schemas.openxmlformats.org/drawingml/2006/main">
              <a:ext uri="{FF2B5EF4-FFF2-40B4-BE49-F238E27FC236}">
                <a16:creationId xmlns:a16="http://schemas.microsoft.com/office/drawing/2014/main" id="{0E5C5BBE-0E48-4F43-AC0A-05145AEC1884}"/>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21</a:t>
            </a:r>
          </a:p>
        </p:txBody>
      </p:sp>
      <p:sp>
        <p:nvSpPr>
          <p:cNvPr id="5" name="">
            <a:extLst xmlns:a="http://schemas.openxmlformats.org/drawingml/2006/main">
              <a:ext uri="{FF2B5EF4-FFF2-40B4-BE49-F238E27FC236}">
                <a16:creationId xmlns:a16="http://schemas.microsoft.com/office/drawing/2014/main" id="{995ADFAF-431B-4642-A21A-4D41C1D97489}"/>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28</a:t>
            </a:r>
          </a:p>
        </p:txBody>
      </p:sp>
      <p:graphicFrame>
        <p:nvGraphicFramePr>
          <p:cNvPr id="14" name=""/>
          <p:cNvGraphicFramePr/>
          <p:nvPr/>
        </p:nvGraphicFramePr>
        <p:xfrm>
          <a:off xmlns:a="http://schemas.openxmlformats.org/drawingml/2006/main" x="571500" y="1533525"/>
          <a:ext xmlns:a="http://schemas.openxmlformats.org/drawingml/2006/main" cx="11001375" cy="2600325"/>
        </p:xfrm>
        <a:graphic xmlns:a="http://schemas.openxmlformats.org/drawingml/2006/main">
          <a:graphicData uri="http://schemas.openxmlformats.org/drawingml/2006/table">
            <a:tbl>
              <a:tblPr/>
              <a:tblGrid>
                <a:gridCol w="4000500"/>
                <a:gridCol w="2476500"/>
                <a:gridCol w="2571750"/>
                <a:gridCol w="1952625"/>
              </a:tblGrid>
              <a:tr h="650081">
                <a:tc>
                  <a:txBody>
                    <a:bodyPr/>
                    <a:lstStyle/>
                    <a:p>
                      <a:r>
                        <a:rPr sz="1725" b="1">
                          <a:solidFill>
                            <a:srgbClr val="FFFFFF"/>
                          </a:solidFill>
                          <a:latin typeface="Noto Sans"/>
                          <a:ea typeface="Noto Sans"/>
                          <a:cs typeface="Noto Sans"/>
                        </a:rPr>
                        <a:t>Summary</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Active first cases</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Primary score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Measured delay</a:t>
                      </a:r>
                    </a:p>
                  </a:txBody>
                  <a:tcPr marL="95250" marR="95250" marT="57150" marB="57150">
                    <a:solidFill>
                      <a:srgbClr val="22577A"/>
                    </a:solidFill>
                  </a:tcPr>
                </a:tc>
              </a:tr>
              <a:tr h="650081">
                <a:tc>
                  <a:txBody>
                    <a:bodyPr/>
                    <a:lstStyle/>
                    <a:p>
                      <a:r>
                        <a:rPr sz="1650" b="0">
                          <a:solidFill>
                            <a:srgbClr val="26333C"/>
                          </a:solidFill>
                          <a:latin typeface="Noto Sans"/>
                          <a:ea typeface="Noto Sans"/>
                          <a:cs typeface="Noto Sans"/>
                        </a:rPr>
                        <a:t>Earlier looking, latest not looking</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S4, S6, S7</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8/9</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3.05s</a:t>
                      </a:r>
                    </a:p>
                  </a:txBody>
                  <a:tcPr marL="95250" marR="95250" marT="57150" marB="57150">
                    <a:solidFill>
                      <a:srgbClr val="DDECF2"/>
                    </a:solidFill>
                  </a:tcPr>
                </a:tc>
              </a:tr>
              <a:tr h="650081">
                <a:tc>
                  <a:txBody>
                    <a:bodyPr/>
                    <a:lstStyle/>
                    <a:p>
                      <a:r>
                        <a:rPr sz="1650" b="0">
                          <a:solidFill>
                            <a:srgbClr val="26333C"/>
                          </a:solidFill>
                          <a:latin typeface="Noto Sans"/>
                          <a:ea typeface="Noto Sans"/>
                          <a:cs typeface="Noto Sans"/>
                        </a:rPr>
                        <a:t>Repeated measured looking</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None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No new primary trials</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Not measured</a:t>
                      </a:r>
                    </a:p>
                  </a:txBody>
                  <a:tcPr marL="95250" marR="95250" marT="57150" marB="57150">
                    <a:solidFill>
                      <a:srgbClr val="F3F0E7"/>
                    </a:solidFill>
                  </a:tcPr>
                </a:tc>
              </a:tr>
              <a:tr h="650081">
                <a:tc>
                  <a:txBody>
                    <a:bodyPr/>
                    <a:lstStyle/>
                    <a:p>
                      <a:r>
                        <a:rPr sz="1650" b="0">
                          <a:solidFill>
                            <a:srgbClr val="26333C"/>
                          </a:solidFill>
                          <a:latin typeface="Noto Sans"/>
                          <a:ea typeface="Noto Sans"/>
                          <a:cs typeface="Noto Sans"/>
                        </a:rPr>
                        <a:t>Detection resumed after a gap</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S7</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8/9</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3.06s</a:t>
                      </a:r>
                    </a:p>
                  </a:txBody>
                  <a:tcPr marL="95250" marR="95250" marT="57150" marB="57150">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0F863F33-E1A6-4245-9950-A0C4B9979FDB}"/>
              </a:ext>
            </a:extLst>
          </p:cNvPr>
          <p:cNvSpPr>
            <a:spLocks xmlns:a="http://schemas.openxmlformats.org/drawingml/2006/main" noGrp="1"/>
          </p:cNvSpPr>
          <p:nvPr/>
        </p:nvSpPr>
        <p:spPr>
          <a:xfrm xmlns:a="http://schemas.openxmlformats.org/drawingml/2006/main">
            <a:off x="619125" y="451485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77A"/>
                </a:solidFill>
                <a:latin typeface="Rubik"/>
                <a:ea typeface="Rubik"/>
                <a:cs typeface="Rubik"/>
              </a:defRPr>
            </a:pPr>
            <a:r>
              <a:rPr sz="2325" b="1">
                <a:solidFill>
                  <a:srgbClr val="22577A"/>
                </a:solidFill>
                <a:latin typeface="Rubik"/>
                <a:ea typeface="Rubik"/>
                <a:cs typeface="Rubik"/>
              </a:rPr>
              <a:t>Why the additions stay disabled</a:t>
            </a:r>
          </a:p>
        </p:txBody>
      </p:sp>
      <p:sp>
        <p:nvSpPr>
          <p:cNvPr id="8" name="">
            <a:extLst xmlns:a="http://schemas.openxmlformats.org/drawingml/2006/main">
              <a:ext uri="{FF2B5EF4-FFF2-40B4-BE49-F238E27FC236}">
                <a16:creationId xmlns:a16="http://schemas.microsoft.com/office/drawing/2014/main" id="{CBE57E36-6A4A-4F5A-94AB-BA1BEA935702}"/>
              </a:ext>
            </a:extLst>
          </p:cNvPr>
          <p:cNvSpPr>
            <a:spLocks xmlns:a="http://schemas.openxmlformats.org/drawingml/2006/main" noGrp="1"/>
          </p:cNvSpPr>
          <p:nvPr/>
        </p:nvSpPr>
        <p:spPr>
          <a:xfrm xmlns:a="http://schemas.openxmlformats.org/drawingml/2006/main">
            <a:off x="619125" y="50673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700"/>
              </a:spcAft>
              <a:buChar char="•"/>
              <a:defRPr sz="1875" b="0">
                <a:solidFill>
                  <a:srgbClr val="26333C"/>
                </a:solidFill>
                <a:latin typeface="Noto Sans"/>
                <a:ea typeface="Noto Sans"/>
                <a:cs typeface="Noto Sans"/>
              </a:defRPr>
            </a:pPr>
            <a:r>
              <a:t>No improvement in the frozen first actions</a:t>
            </a:r>
          </a:p>
          <a:p xmlns:a="http://schemas.openxmlformats.org/drawingml/2006/main">
            <a:pPr marL="215900" indent="-114300" algn="l">
              <a:spcAft>
                <a:spcPts val="700"/>
              </a:spcAft>
              <a:buChar char="•"/>
              <a:defRPr sz="1875" b="0">
                <a:solidFill>
                  <a:srgbClr val="26333C"/>
                </a:solidFill>
                <a:latin typeface="Noto Sans"/>
                <a:ea typeface="Noto Sans"/>
                <a:cs typeface="Noto Sans"/>
              </a:defRPr>
            </a:pPr>
            <a:r>
              <a:t>Extra text costs 36 to 37 tokens in affected inputs</a:t>
            </a:r>
          </a:p>
          <a:p xmlns:a="http://schemas.openxmlformats.org/drawingml/2006/main">
            <a:pPr marL="215900" indent="-114300" algn="l">
              <a:spcAft>
                <a:spcPts val="700"/>
              </a:spcAft>
              <a:buChar char="•"/>
              <a:defRPr sz="1875" b="0">
                <a:solidFill>
                  <a:srgbClr val="26333C"/>
                </a:solidFill>
                <a:latin typeface="Noto Sans"/>
                <a:ea typeface="Noto Sans"/>
                <a:cs typeface="Noto Sans"/>
              </a:defRPr>
            </a:pPr>
            <a:r>
              <a:t>Later diagnostic changes cannot repair the primary score</a:t>
            </a:r>
          </a:p>
        </p:txBody>
      </p:sp>
    </p:spTree>
    <p:extLst>
      <p:ext uri="{BB962C8B-B14F-4D97-AF65-F5344CB8AC3E}">
        <p14:creationId xmlns:p14="http://schemas.microsoft.com/office/powerpoint/2010/main" val="174932022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45E01E-C4A2-440B-9238-ED292E43769D}"/>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78C2CD-EEC4-44F9-80B2-4B9FA098E094}"/>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A4D88E-3954-4C4A-B4D4-339533BF2BE9}"/>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Inference Settings: Screen and Operational Check</a:t>
            </a:r>
          </a:p>
        </p:txBody>
      </p:sp>
      <p:sp>
        <p:nvSpPr>
          <p:cNvPr id="4" name="">
            <a:extLst xmlns:a="http://schemas.openxmlformats.org/drawingml/2006/main">
              <a:ext uri="{FF2B5EF4-FFF2-40B4-BE49-F238E27FC236}">
                <a16:creationId xmlns:a16="http://schemas.microsoft.com/office/drawing/2014/main" id="{FD292EE7-CAEA-4C5F-B085-50A5BFC773F5}"/>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22</a:t>
            </a:r>
          </a:p>
        </p:txBody>
      </p:sp>
      <p:sp>
        <p:nvSpPr>
          <p:cNvPr id="5" name="">
            <a:extLst xmlns:a="http://schemas.openxmlformats.org/drawingml/2006/main">
              <a:ext uri="{FF2B5EF4-FFF2-40B4-BE49-F238E27FC236}">
                <a16:creationId xmlns:a16="http://schemas.microsoft.com/office/drawing/2014/main" id="{DF5025FA-5D20-4BB2-90F0-D05CC5557F02}"/>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29</a:t>
            </a:r>
          </a:p>
        </p:txBody>
      </p:sp>
      <p:graphicFrame>
        <p:nvGraphicFramePr>
          <p:cNvPr id="14" name=""/>
          <p:cNvGraphicFramePr/>
          <p:nvPr/>
        </p:nvGraphicFramePr>
        <p:xfrm>
          <a:off xmlns:a="http://schemas.openxmlformats.org/drawingml/2006/main" x="571500" y="1495425"/>
          <a:ext xmlns:a="http://schemas.openxmlformats.org/drawingml/2006/main" cx="11001375" cy="2333625"/>
        </p:xfrm>
        <a:graphic xmlns:a="http://schemas.openxmlformats.org/drawingml/2006/main">
          <a:graphicData uri="http://schemas.openxmlformats.org/drawingml/2006/table">
            <a:tbl>
              <a:tblPr/>
              <a:tblGrid>
                <a:gridCol w="4476750"/>
                <a:gridCol w="1809750"/>
                <a:gridCol w="1857375"/>
                <a:gridCol w="2857500"/>
              </a:tblGrid>
              <a:tr h="466725">
                <a:tc>
                  <a:txBody>
                    <a:bodyPr/>
                    <a:lstStyle/>
                    <a:p>
                      <a:r>
                        <a:rPr sz="1725" b="1">
                          <a:solidFill>
                            <a:srgbClr val="FFFFFF"/>
                          </a:solidFill>
                          <a:latin typeface="Noto Sans"/>
                          <a:ea typeface="Noto Sans"/>
                          <a:cs typeface="Noto Sans"/>
                        </a:rPr>
                        <a:t>Direct screen</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Context</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Output cap</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Median client call</a:t>
                      </a:r>
                    </a:p>
                  </a:txBody>
                  <a:tcPr marL="95250" marR="95250" marT="57150" marB="57150">
                    <a:solidFill>
                      <a:srgbClr val="22577A"/>
                    </a:solidFill>
                  </a:tcPr>
                </a:tc>
              </a:tr>
              <a:tr h="466725">
                <a:tc>
                  <a:txBody>
                    <a:bodyPr/>
                    <a:lstStyle/>
                    <a:p>
                      <a:r>
                        <a:rPr sz="1800" b="0">
                          <a:solidFill>
                            <a:srgbClr val="26333C"/>
                          </a:solidFill>
                          <a:latin typeface="Noto Sans"/>
                          <a:ea typeface="Noto Sans"/>
                          <a:cs typeface="Noto Sans"/>
                        </a:rPr>
                        <a:t>Control</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8192</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192</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3.14s</a:t>
                      </a:r>
                    </a:p>
                  </a:txBody>
                  <a:tcPr marL="95250" marR="95250" marT="57150" marB="57150">
                    <a:solidFill>
                      <a:srgbClr val="DDECF2"/>
                    </a:solidFill>
                  </a:tcPr>
                </a:tc>
              </a:tr>
              <a:tr h="466725">
                <a:tc>
                  <a:txBody>
                    <a:bodyPr/>
                    <a:lstStyle/>
                    <a:p>
                      <a:r>
                        <a:rPr sz="1800" b="0">
                          <a:solidFill>
                            <a:srgbClr val="26333C"/>
                          </a:solidFill>
                          <a:latin typeface="Noto Sans"/>
                          <a:ea typeface="Noto Sans"/>
                          <a:cs typeface="Noto Sans"/>
                        </a:rPr>
                        <a:t>Small context</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2048</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192</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2.99s</a:t>
                      </a:r>
                    </a:p>
                  </a:txBody>
                  <a:tcPr marL="95250" marR="95250" marT="57150" marB="57150">
                    <a:solidFill>
                      <a:srgbClr val="F3F0E7"/>
                    </a:solidFill>
                  </a:tcPr>
                </a:tc>
              </a:tr>
              <a:tr h="466725">
                <a:tc>
                  <a:txBody>
                    <a:bodyPr/>
                    <a:lstStyle/>
                    <a:p>
                      <a:r>
                        <a:rPr sz="1800" b="0">
                          <a:solidFill>
                            <a:srgbClr val="26333C"/>
                          </a:solidFill>
                          <a:latin typeface="Noto Sans"/>
                          <a:ea typeface="Noto Sans"/>
                          <a:cs typeface="Noto Sans"/>
                        </a:rPr>
                        <a:t>Small output ceiling</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8192</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64</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3.06s</a:t>
                      </a:r>
                    </a:p>
                  </a:txBody>
                  <a:tcPr marL="95250" marR="95250" marT="57150" marB="57150">
                    <a:solidFill>
                      <a:srgbClr val="DDECF2"/>
                    </a:solidFill>
                  </a:tcPr>
                </a:tc>
              </a:tr>
              <a:tr h="466725">
                <a:tc>
                  <a:txBody>
                    <a:bodyPr/>
                    <a:lstStyle/>
                    <a:p>
                      <a:r>
                        <a:rPr sz="1800" b="0">
                          <a:solidFill>
                            <a:srgbClr val="26333C"/>
                          </a:solidFill>
                          <a:latin typeface="Noto Sans"/>
                          <a:ea typeface="Noto Sans"/>
                          <a:cs typeface="Noto Sans"/>
                        </a:rPr>
                        <a:t>Combined</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2048</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64</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3.00s</a:t>
                      </a:r>
                    </a:p>
                  </a:txBody>
                  <a:tcPr marL="95250" marR="95250" marT="57150" marB="57150">
                    <a:solidFill>
                      <a:srgbClr val="F3F0E7"/>
                    </a:solidFill>
                  </a:tcPr>
                </a:tc>
              </a:tr>
            </a:tbl>
          </a:graphicData>
        </a:graphic>
      </p:graphicFrame>
      <p:graphicFrame>
        <p:nvGraphicFramePr>
          <p:cNvPr id="15" name=""/>
          <p:cNvGraphicFramePr/>
          <p:nvPr/>
        </p:nvGraphicFramePr>
        <p:xfrm>
          <a:off xmlns:a="http://schemas.openxmlformats.org/drawingml/2006/main" x="571500" y="4314825"/>
          <a:ext xmlns:a="http://schemas.openxmlformats.org/drawingml/2006/main" cx="11001375" cy="1552575"/>
        </p:xfrm>
        <a:graphic xmlns:a="http://schemas.openxmlformats.org/drawingml/2006/main">
          <a:graphicData uri="http://schemas.openxmlformats.org/drawingml/2006/table">
            <a:tbl>
              <a:tblPr/>
              <a:tblGrid>
                <a:gridCol w="4476750"/>
                <a:gridCol w="1809750"/>
                <a:gridCol w="1857375"/>
                <a:gridCol w="2857500"/>
              </a:tblGrid>
              <a:tr h="517525">
                <a:tc>
                  <a:txBody>
                    <a:bodyPr/>
                    <a:lstStyle/>
                    <a:p>
                      <a:r>
                        <a:rPr sz="1725" b="1">
                          <a:solidFill>
                            <a:srgbClr val="FFFFFF"/>
                          </a:solidFill>
                          <a:latin typeface="Noto Sans"/>
                          <a:ea typeface="Noto Sans"/>
                          <a:cs typeface="Noto Sans"/>
                        </a:rPr>
                        <a:t>Operational arm</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Alignment</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Median</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95th percentile</a:t>
                      </a:r>
                    </a:p>
                  </a:txBody>
                  <a:tcPr marL="95250" marR="95250" marT="57150" marB="57150">
                    <a:solidFill>
                      <a:srgbClr val="22577A"/>
                    </a:solidFill>
                  </a:tcPr>
                </a:tc>
              </a:tr>
              <a:tr h="517525">
                <a:tc>
                  <a:txBody>
                    <a:bodyPr/>
                    <a:lstStyle/>
                    <a:p>
                      <a:r>
                        <a:rPr sz="1800" b="0">
                          <a:solidFill>
                            <a:srgbClr val="26333C"/>
                          </a:solidFill>
                          <a:latin typeface="Noto Sans"/>
                          <a:ea typeface="Noto Sans"/>
                          <a:cs typeface="Noto Sans"/>
                        </a:rPr>
                        <a:t>Fresh control</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24/27</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3.13s</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5.84s</a:t>
                      </a:r>
                    </a:p>
                  </a:txBody>
                  <a:tcPr marL="95250" marR="95250" marT="57150" marB="57150">
                    <a:solidFill>
                      <a:srgbClr val="DDECF2"/>
                    </a:solidFill>
                  </a:tcPr>
                </a:tc>
              </a:tr>
              <a:tr h="517525">
                <a:tc>
                  <a:txBody>
                    <a:bodyPr/>
                    <a:lstStyle/>
                    <a:p>
                      <a:r>
                        <a:rPr sz="1800" b="0">
                          <a:solidFill>
                            <a:srgbClr val="26333C"/>
                          </a:solidFill>
                          <a:latin typeface="Noto Sans"/>
                          <a:ea typeface="Noto Sans"/>
                          <a:cs typeface="Noto Sans"/>
                        </a:rPr>
                        <a:t>Context 2048</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24/27</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3.07s</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5.91s</a:t>
                      </a:r>
                    </a:p>
                  </a:txBody>
                  <a:tcPr marL="95250" marR="95250" marT="57150" marB="57150">
                    <a:solidFill>
                      <a:srgbClr val="F3F0E7"/>
                    </a:solidFill>
                  </a:tcPr>
                </a:tc>
              </a:tr>
            </a:tbl>
          </a:graphicData>
        </a:graphic>
      </p:graphicFrame>
      <p:sp>
        <p:nvSpPr>
          <p:cNvPr id="8" name="">
            <a:extLst xmlns:a="http://schemas.openxmlformats.org/drawingml/2006/main">
              <a:ext uri="{FF2B5EF4-FFF2-40B4-BE49-F238E27FC236}">
                <a16:creationId xmlns:a16="http://schemas.microsoft.com/office/drawing/2014/main" id="{9D7A1533-E44A-4D1E-AF84-E655E1C6481D}"/>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Only a 1.7% median gain with a slower tail. Retain context 8192 and output ceiling 192.</a:t>
            </a:r>
          </a:p>
        </p:txBody>
      </p:sp>
    </p:spTree>
    <p:extLst>
      <p:ext uri="{BB962C8B-B14F-4D97-AF65-F5344CB8AC3E}">
        <p14:creationId xmlns:p14="http://schemas.microsoft.com/office/powerpoint/2010/main" val="141425922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B83D4F-1333-4101-99F1-F2E13541B738}"/>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500C7F-67FF-4106-822A-48E25549732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34904C-0E30-4A6A-9B06-5913FF0088C9}"/>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Alternative Models: Accuracy and Timing</a:t>
            </a:r>
          </a:p>
        </p:txBody>
      </p:sp>
      <p:sp>
        <p:nvSpPr>
          <p:cNvPr id="4" name="">
            <a:extLst xmlns:a="http://schemas.openxmlformats.org/drawingml/2006/main">
              <a:ext uri="{FF2B5EF4-FFF2-40B4-BE49-F238E27FC236}">
                <a16:creationId xmlns:a16="http://schemas.microsoft.com/office/drawing/2014/main" id="{E32916B1-D348-4C21-95C2-FC48EE54331D}"/>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23</a:t>
            </a:r>
          </a:p>
        </p:txBody>
      </p:sp>
      <p:sp>
        <p:nvSpPr>
          <p:cNvPr id="5" name="">
            <a:extLst xmlns:a="http://schemas.openxmlformats.org/drawingml/2006/main">
              <a:ext uri="{FF2B5EF4-FFF2-40B4-BE49-F238E27FC236}">
                <a16:creationId xmlns:a16="http://schemas.microsoft.com/office/drawing/2014/main" id="{C65CEE67-01C0-43B1-97C4-3B0D36C21F8F}"/>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30</a:t>
            </a:r>
          </a:p>
        </p:txBody>
      </p:sp>
      <p:graphicFrame>
        <p:nvGraphicFramePr>
          <p:cNvPr id="14" name=""/>
          <p:cNvGraphicFramePr/>
          <p:nvPr/>
        </p:nvGraphicFramePr>
        <p:xfrm>
          <a:off xmlns:a="http://schemas.openxmlformats.org/drawingml/2006/main" x="571500" y="1533525"/>
          <a:ext xmlns:a="http://schemas.openxmlformats.org/drawingml/2006/main" cx="11001375" cy="3381375"/>
        </p:xfrm>
        <a:graphic xmlns:a="http://schemas.openxmlformats.org/drawingml/2006/main">
          <a:graphicData uri="http://schemas.openxmlformats.org/drawingml/2006/table">
            <a:tbl>
              <a:tblPr/>
              <a:tblGrid>
                <a:gridCol w="3333750"/>
                <a:gridCol w="1428750"/>
                <a:gridCol w="1428750"/>
                <a:gridCol w="1428750"/>
                <a:gridCol w="1571625"/>
                <a:gridCol w="1809750"/>
              </a:tblGrid>
              <a:tr h="676275">
                <a:tc>
                  <a:txBody>
                    <a:bodyPr/>
                    <a:lstStyle/>
                    <a:p>
                      <a:r>
                        <a:rPr sz="1575" b="1">
                          <a:solidFill>
                            <a:srgbClr val="FFFFFF"/>
                          </a:solidFill>
                          <a:latin typeface="Noto Sans"/>
                          <a:ea typeface="Noto Sans"/>
                          <a:cs typeface="Noto Sans"/>
                        </a:rPr>
                        <a:t>Model</a:t>
                      </a:r>
                    </a:p>
                  </a:txBody>
                  <a:tcPr marL="95250" marR="95250" marT="57150" marB="57150">
                    <a:solidFill>
                      <a:srgbClr val="22577A"/>
                    </a:solidFill>
                  </a:tcPr>
                </a:tc>
                <a:tc>
                  <a:txBody>
                    <a:bodyPr/>
                    <a:lstStyle/>
                    <a:p>
                      <a:r>
                        <a:rPr sz="1575" b="1">
                          <a:solidFill>
                            <a:srgbClr val="FFFFFF"/>
                          </a:solidFill>
                          <a:latin typeface="Noto Sans"/>
                          <a:ea typeface="Noto Sans"/>
                          <a:cs typeface="Noto Sans"/>
                        </a:rPr>
                        <a:t>Each pass</a:t>
                      </a:r>
                    </a:p>
                  </a:txBody>
                  <a:tcPr marL="95250" marR="95250" marT="57150" marB="57150">
                    <a:solidFill>
                      <a:srgbClr val="22577A"/>
                    </a:solidFill>
                  </a:tcPr>
                </a:tc>
                <a:tc>
                  <a:txBody>
                    <a:bodyPr/>
                    <a:lstStyle/>
                    <a:p>
                      <a:r>
                        <a:rPr sz="1575" b="1">
                          <a:solidFill>
                            <a:srgbClr val="FFFFFF"/>
                          </a:solidFill>
                          <a:latin typeface="Noto Sans"/>
                          <a:ea typeface="Noto Sans"/>
                          <a:cs typeface="Noto Sans"/>
                        </a:rPr>
                        <a:t>Median</a:t>
                      </a:r>
                    </a:p>
                  </a:txBody>
                  <a:tcPr marL="95250" marR="95250" marT="57150" marB="57150">
                    <a:solidFill>
                      <a:srgbClr val="22577A"/>
                    </a:solidFill>
                  </a:tcPr>
                </a:tc>
                <a:tc>
                  <a:txBody>
                    <a:bodyPr/>
                    <a:lstStyle/>
                    <a:p>
                      <a:r>
                        <a:rPr sz="1575" b="1">
                          <a:solidFill>
                            <a:srgbClr val="FFFFFF"/>
                          </a:solidFill>
                          <a:latin typeface="Noto Sans"/>
                          <a:ea typeface="Noto Sans"/>
                          <a:cs typeface="Noto Sans"/>
                        </a:rPr>
                        <a:t>95th pct.</a:t>
                      </a:r>
                    </a:p>
                  </a:txBody>
                  <a:tcPr marL="95250" marR="95250" marT="57150" marB="57150">
                    <a:solidFill>
                      <a:srgbClr val="22577A"/>
                    </a:solidFill>
                  </a:tcPr>
                </a:tc>
                <a:tc>
                  <a:txBody>
                    <a:bodyPr/>
                    <a:lstStyle/>
                    <a:p>
                      <a:r>
                        <a:rPr sz="1575" b="1">
                          <a:solidFill>
                            <a:srgbClr val="FFFFFF"/>
                          </a:solidFill>
                          <a:latin typeface="Noto Sans"/>
                          <a:ea typeface="Noto Sans"/>
                          <a:cs typeface="Noto Sans"/>
                        </a:rPr>
                        <a:t>Accepted</a:t>
                      </a:r>
                    </a:p>
                  </a:txBody>
                  <a:tcPr marL="95250" marR="95250" marT="57150" marB="57150">
                    <a:solidFill>
                      <a:srgbClr val="22577A"/>
                    </a:solidFill>
                  </a:tcPr>
                </a:tc>
                <a:tc>
                  <a:txBody>
                    <a:bodyPr/>
                    <a:lstStyle/>
                    <a:p>
                      <a:r>
                        <a:rPr sz="1575" b="1">
                          <a:solidFill>
                            <a:srgbClr val="FFFFFF"/>
                          </a:solidFill>
                          <a:latin typeface="Noto Sans"/>
                          <a:ea typeface="Noto Sans"/>
                          <a:cs typeface="Noto Sans"/>
                        </a:rPr>
                        <a:t>Aligned and accepted</a:t>
                      </a:r>
                    </a:p>
                  </a:txBody>
                  <a:tcPr marL="95250" marR="95250" marT="57150" marB="57150">
                    <a:solidFill>
                      <a:srgbClr val="22577A"/>
                    </a:solidFill>
                  </a:tcPr>
                </a:tc>
              </a:tr>
              <a:tr h="676275">
                <a:tc>
                  <a:txBody>
                    <a:bodyPr/>
                    <a:lstStyle/>
                    <a:p>
                      <a:r>
                        <a:rPr sz="1725" b="0">
                          <a:solidFill>
                            <a:srgbClr val="26333C"/>
                          </a:solidFill>
                          <a:latin typeface="Noto Sans"/>
                          <a:ea typeface="Noto Sans"/>
                          <a:cs typeface="Noto Sans"/>
                        </a:rPr>
                        <a:t>Qwen 2.5 7B</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8/9</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3.20s</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6.34s</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20/27</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17/27</a:t>
                      </a:r>
                    </a:p>
                  </a:txBody>
                  <a:tcPr marL="95250" marR="95250" marT="57150" marB="57150">
                    <a:solidFill>
                      <a:srgbClr val="DDECF2"/>
                    </a:solidFill>
                  </a:tcPr>
                </a:tc>
              </a:tr>
              <a:tr h="676275">
                <a:tc>
                  <a:txBody>
                    <a:bodyPr/>
                    <a:lstStyle/>
                    <a:p>
                      <a:r>
                        <a:rPr sz="1725" b="0">
                          <a:solidFill>
                            <a:srgbClr val="26333C"/>
                          </a:solidFill>
                          <a:latin typeface="Noto Sans"/>
                          <a:ea typeface="Noto Sans"/>
                          <a:cs typeface="Noto Sans"/>
                        </a:rPr>
                        <a:t>Qwen 3 4B Instruct</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7/9</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2.49s</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4.46s</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24/27</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18/27</a:t>
                      </a:r>
                    </a:p>
                  </a:txBody>
                  <a:tcPr marL="95250" marR="95250" marT="57150" marB="57150">
                    <a:solidFill>
                      <a:srgbClr val="F3F0E7"/>
                    </a:solidFill>
                  </a:tcPr>
                </a:tc>
              </a:tr>
              <a:tr h="676275">
                <a:tc>
                  <a:txBody>
                    <a:bodyPr/>
                    <a:lstStyle/>
                    <a:p>
                      <a:r>
                        <a:rPr sz="1725" b="0">
                          <a:solidFill>
                            <a:srgbClr val="26333C"/>
                          </a:solidFill>
                          <a:latin typeface="Noto Sans"/>
                          <a:ea typeface="Noto Sans"/>
                          <a:cs typeface="Noto Sans"/>
                        </a:rPr>
                        <a:t>Gemma 3 4B</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5/9</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2.96s</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4.08s</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21/27</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10/27</a:t>
                      </a:r>
                    </a:p>
                  </a:txBody>
                  <a:tcPr marL="95250" marR="95250" marT="57150" marB="57150">
                    <a:solidFill>
                      <a:srgbClr val="DDECF2"/>
                    </a:solidFill>
                  </a:tcPr>
                </a:tc>
              </a:tr>
              <a:tr h="676275">
                <a:tc>
                  <a:txBody>
                    <a:bodyPr/>
                    <a:lstStyle/>
                    <a:p>
                      <a:r>
                        <a:rPr sz="1725" b="0">
                          <a:solidFill>
                            <a:srgbClr val="26333C"/>
                          </a:solidFill>
                          <a:latin typeface="Noto Sans"/>
                          <a:ea typeface="Noto Sans"/>
                          <a:cs typeface="Noto Sans"/>
                        </a:rPr>
                        <a:t>Qwen 2.5 3B</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4/9</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1.81s</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3.12s</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22/27</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12/27</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D211AC45-E9AC-4DD0-948F-72D2E1CFDE8A}"/>
              </a:ext>
            </a:extLst>
          </p:cNvPr>
          <p:cNvSpPr>
            <a:spLocks xmlns:a="http://schemas.openxmlformats.org/drawingml/2006/main" noGrp="1"/>
          </p:cNvSpPr>
          <p:nvPr/>
        </p:nvSpPr>
        <p:spPr>
          <a:xfrm xmlns:a="http://schemas.openxmlformats.org/drawingml/2006/main">
            <a:off x="619125" y="52959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77A"/>
                </a:solidFill>
                <a:latin typeface="Rubik"/>
                <a:ea typeface="Rubik"/>
                <a:cs typeface="Rubik"/>
              </a:defRPr>
            </a:pPr>
            <a:r>
              <a:rPr sz="2475" b="1">
                <a:solidFill>
                  <a:srgbClr val="22577A"/>
                </a:solidFill>
                <a:latin typeface="Rubik"/>
                <a:ea typeface="Rubik"/>
                <a:cs typeface="Rubik"/>
              </a:rPr>
              <a:t>Faster alternatives introduce more first-action mistakes</a:t>
            </a:r>
          </a:p>
        </p:txBody>
      </p:sp>
      <p:sp>
        <p:nvSpPr>
          <p:cNvPr id="8" name="">
            <a:extLst xmlns:a="http://schemas.openxmlformats.org/drawingml/2006/main">
              <a:ext uri="{FF2B5EF4-FFF2-40B4-BE49-F238E27FC236}">
                <a16:creationId xmlns:a16="http://schemas.microsoft.com/office/drawing/2014/main" id="{99DD7926-3905-4307-857C-44A911368606}"/>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All first outputs are valid JSON. Acceptance and action agreement measure different things.</a:t>
            </a:r>
          </a:p>
        </p:txBody>
      </p:sp>
    </p:spTree>
    <p:extLst>
      <p:ext uri="{BB962C8B-B14F-4D97-AF65-F5344CB8AC3E}">
        <p14:creationId xmlns:p14="http://schemas.microsoft.com/office/powerpoint/2010/main" val="160863917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4695C7-3D5E-44C1-B643-738BF47183AB}"/>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A92FF9-B541-416D-BC1A-ABD7B4BA1FB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2C67E6-59B3-4A7F-8203-4902856CA554}"/>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All First Actions Across Models</a:t>
            </a:r>
          </a:p>
        </p:txBody>
      </p:sp>
      <p:sp>
        <p:nvSpPr>
          <p:cNvPr id="4" name="">
            <a:extLst xmlns:a="http://schemas.openxmlformats.org/drawingml/2006/main">
              <a:ext uri="{FF2B5EF4-FFF2-40B4-BE49-F238E27FC236}">
                <a16:creationId xmlns:a16="http://schemas.microsoft.com/office/drawing/2014/main" id="{4F115DCA-CF9B-472C-97E1-561458CCEEDC}"/>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24</a:t>
            </a:r>
          </a:p>
        </p:txBody>
      </p:sp>
      <p:sp>
        <p:nvSpPr>
          <p:cNvPr id="5" name="">
            <a:extLst xmlns:a="http://schemas.openxmlformats.org/drawingml/2006/main">
              <a:ext uri="{FF2B5EF4-FFF2-40B4-BE49-F238E27FC236}">
                <a16:creationId xmlns:a16="http://schemas.microsoft.com/office/drawing/2014/main" id="{A352F70E-3FFB-4A77-8A67-761EF2799A1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31</a:t>
            </a:r>
          </a:p>
        </p:txBody>
      </p:sp>
      <p:graphicFrame>
        <p:nvGraphicFramePr>
          <p:cNvPr id="13" name=""/>
          <p:cNvGraphicFramePr/>
          <p:nvPr/>
        </p:nvGraphicFramePr>
        <p:xfrm>
          <a:off xmlns:a="http://schemas.openxmlformats.org/drawingml/2006/main" x="571500" y="1485900"/>
          <a:ext xmlns:a="http://schemas.openxmlformats.org/drawingml/2006/main" cx="11001375" cy="4210050"/>
        </p:xfrm>
        <a:graphic xmlns:a="http://schemas.openxmlformats.org/drawingml/2006/main">
          <a:graphicData uri="http://schemas.openxmlformats.org/drawingml/2006/table">
            <a:tbl>
              <a:tblPr/>
              <a:tblGrid>
                <a:gridCol w="904875"/>
                <a:gridCol w="1905000"/>
                <a:gridCol w="1190625"/>
                <a:gridCol w="1666875"/>
                <a:gridCol w="1666875"/>
                <a:gridCol w="1809750"/>
                <a:gridCol w="1857375"/>
              </a:tblGrid>
              <a:tr h="421005">
                <a:tc>
                  <a:txBody>
                    <a:bodyPr/>
                    <a:lstStyle/>
                    <a:p>
                      <a:r>
                        <a:rPr sz="1650" b="1">
                          <a:solidFill>
                            <a:srgbClr val="FFFFFF"/>
                          </a:solidFill>
                          <a:latin typeface="Noto Sans"/>
                          <a:ea typeface="Noto Sans"/>
                          <a:cs typeface="Noto Sans"/>
                        </a:rPr>
                        <a:t>Case</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Allowed</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Rules</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Qwen 7B</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Qwen 3B</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Qwen 3 4B</a:t>
                      </a:r>
                    </a:p>
                  </a:txBody>
                  <a:tcPr marL="95250" marR="95250" marT="57150" marB="57150">
                    <a:solidFill>
                      <a:srgbClr val="22577A"/>
                    </a:solidFill>
                  </a:tcPr>
                </a:tc>
                <a:tc>
                  <a:txBody>
                    <a:bodyPr/>
                    <a:lstStyle/>
                    <a:p>
                      <a:r>
                        <a:rPr sz="1650" b="1">
                          <a:solidFill>
                            <a:srgbClr val="FFFFFF"/>
                          </a:solidFill>
                          <a:latin typeface="Noto Sans"/>
                          <a:ea typeface="Noto Sans"/>
                          <a:cs typeface="Noto Sans"/>
                        </a:rPr>
                        <a:t>Gemma 4B</a:t>
                      </a:r>
                    </a:p>
                  </a:txBody>
                  <a:tcPr marL="95250" marR="95250" marT="57150" marB="57150">
                    <a:solidFill>
                      <a:srgbClr val="22577A"/>
                    </a:solidFill>
                  </a:tcPr>
                </a:tc>
              </a:tr>
              <a:tr h="421005">
                <a:tc>
                  <a:txBody>
                    <a:bodyPr/>
                    <a:lstStyle/>
                    <a:p>
                      <a:r>
                        <a:rPr sz="1800" b="0">
                          <a:solidFill>
                            <a:srgbClr val="26333C"/>
                          </a:solidFill>
                          <a:latin typeface="Noto Sans"/>
                          <a:ea typeface="Noto Sans"/>
                          <a:cs typeface="Noto Sans"/>
                        </a:rPr>
                        <a:t>S1</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Y</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r>
              <a:tr h="421005">
                <a:tc>
                  <a:txBody>
                    <a:bodyPr/>
                    <a:lstStyle/>
                    <a:p>
                      <a:r>
                        <a:rPr sz="1800" b="0">
                          <a:solidFill>
                            <a:srgbClr val="26333C"/>
                          </a:solidFill>
                          <a:latin typeface="Noto Sans"/>
                          <a:ea typeface="Noto Sans"/>
                          <a:cs typeface="Noto Sans"/>
                        </a:rPr>
                        <a:t>S2</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A</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A</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A</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Y</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A</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r>
              <a:tr h="421005">
                <a:tc>
                  <a:txBody>
                    <a:bodyPr/>
                    <a:lstStyle/>
                    <a:p>
                      <a:r>
                        <a:rPr sz="1800" b="0">
                          <a:solidFill>
                            <a:srgbClr val="26333C"/>
                          </a:solidFill>
                          <a:latin typeface="Noto Sans"/>
                          <a:ea typeface="Noto Sans"/>
                          <a:cs typeface="Noto Sans"/>
                        </a:rPr>
                        <a:t>S3</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E / A</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r>
              <a:tr h="421005">
                <a:tc>
                  <a:txBody>
                    <a:bodyPr/>
                    <a:lstStyle/>
                    <a:p>
                      <a:r>
                        <a:rPr sz="1800" b="0">
                          <a:solidFill>
                            <a:srgbClr val="26333C"/>
                          </a:solidFill>
                          <a:latin typeface="Noto Sans"/>
                          <a:ea typeface="Noto Sans"/>
                          <a:cs typeface="Noto Sans"/>
                        </a:rPr>
                        <a:t>S4</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Y</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Y</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Y</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A</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r>
              <a:tr h="421005">
                <a:tc>
                  <a:txBody>
                    <a:bodyPr/>
                    <a:lstStyle/>
                    <a:p>
                      <a:r>
                        <a:rPr sz="1800" b="0">
                          <a:solidFill>
                            <a:srgbClr val="26333C"/>
                          </a:solidFill>
                          <a:latin typeface="Noto Sans"/>
                          <a:ea typeface="Noto Sans"/>
                          <a:cs typeface="Noto Sans"/>
                        </a:rPr>
                        <a:t>S5</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r>
              <a:tr h="421005">
                <a:tc>
                  <a:txBody>
                    <a:bodyPr/>
                    <a:lstStyle/>
                    <a:p>
                      <a:r>
                        <a:rPr sz="1800" b="0">
                          <a:solidFill>
                            <a:srgbClr val="26333C"/>
                          </a:solidFill>
                          <a:latin typeface="Noto Sans"/>
                          <a:ea typeface="Noto Sans"/>
                          <a:cs typeface="Noto Sans"/>
                        </a:rPr>
                        <a:t>S6</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Y</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r>
              <a:tr h="421005">
                <a:tc>
                  <a:txBody>
                    <a:bodyPr/>
                    <a:lstStyle/>
                    <a:p>
                      <a:r>
                        <a:rPr sz="1800" b="0">
                          <a:solidFill>
                            <a:srgbClr val="26333C"/>
                          </a:solidFill>
                          <a:latin typeface="Noto Sans"/>
                          <a:ea typeface="Noto Sans"/>
                          <a:cs typeface="Noto Sans"/>
                        </a:rPr>
                        <a:t>S7</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Y</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r>
              <a:tr h="421005">
                <a:tc>
                  <a:txBody>
                    <a:bodyPr/>
                    <a:lstStyle/>
                    <a:p>
                      <a:r>
                        <a:rPr sz="1800" b="0">
                          <a:solidFill>
                            <a:srgbClr val="26333C"/>
                          </a:solidFill>
                          <a:latin typeface="Noto Sans"/>
                          <a:ea typeface="Noto Sans"/>
                          <a:cs typeface="Noto Sans"/>
                        </a:rPr>
                        <a:t>S8</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A / E / 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C</a:t>
                      </a:r>
                    </a:p>
                  </a:txBody>
                  <a:tcPr marL="95250" marR="95250" marT="57150" marB="57150">
                    <a:solidFill>
                      <a:srgbClr val="F3F0E7"/>
                    </a:solidFill>
                  </a:tcPr>
                </a:tc>
              </a:tr>
              <a:tr h="421005">
                <a:tc>
                  <a:txBody>
                    <a:bodyPr/>
                    <a:lstStyle/>
                    <a:p>
                      <a:r>
                        <a:rPr sz="1800" b="0">
                          <a:solidFill>
                            <a:srgbClr val="26333C"/>
                          </a:solidFill>
                          <a:latin typeface="Noto Sans"/>
                          <a:ea typeface="Noto Sans"/>
                          <a:cs typeface="Noto Sans"/>
                        </a:rPr>
                        <a:t>S9</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Y</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A</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C</a:t>
                      </a:r>
                    </a:p>
                  </a:txBody>
                  <a:tcPr marL="95250" marR="95250" marT="57150" marB="57150">
                    <a:solidFill>
                      <a:srgbClr val="DDECF2"/>
                    </a:solidFill>
                  </a:tcPr>
                </a:tc>
              </a:tr>
            </a:tbl>
          </a:graphicData>
        </a:graphic>
      </p:graphicFrame>
      <p:sp>
        <p:nvSpPr>
          <p:cNvPr id="7" name="">
            <a:extLst xmlns:a="http://schemas.openxmlformats.org/drawingml/2006/main">
              <a:ext uri="{FF2B5EF4-FFF2-40B4-BE49-F238E27FC236}">
                <a16:creationId xmlns:a16="http://schemas.microsoft.com/office/drawing/2014/main" id="{E625FF35-54D8-40A0-AB31-D23E9D4BFE3D}"/>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C = CONTINUE, A = APPROACH, E = ENGAGE, Y = YIELD. Every action repeats across all three passes.</a:t>
            </a:r>
          </a:p>
        </p:txBody>
      </p:sp>
    </p:spTree>
    <p:extLst>
      <p:ext uri="{BB962C8B-B14F-4D97-AF65-F5344CB8AC3E}">
        <p14:creationId xmlns:p14="http://schemas.microsoft.com/office/powerpoint/2010/main" val="5058689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A48767-82FF-4B04-88BA-305DCF477562}"/>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EC59C8-A4E2-436E-A5F6-8777A9785843}"/>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F1B49B-B1B8-4070-8833-C8AF462D38E9}"/>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Latency Components and Live Delivery</a:t>
            </a:r>
          </a:p>
        </p:txBody>
      </p:sp>
      <p:sp>
        <p:nvSpPr>
          <p:cNvPr id="4" name="">
            <a:extLst xmlns:a="http://schemas.openxmlformats.org/drawingml/2006/main">
              <a:ext uri="{FF2B5EF4-FFF2-40B4-BE49-F238E27FC236}">
                <a16:creationId xmlns:a16="http://schemas.microsoft.com/office/drawing/2014/main" id="{2F8BD342-B96A-4E70-9628-74E4CBDF9A0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25</a:t>
            </a:r>
          </a:p>
        </p:txBody>
      </p:sp>
      <p:sp>
        <p:nvSpPr>
          <p:cNvPr id="5" name="">
            <a:extLst xmlns:a="http://schemas.openxmlformats.org/drawingml/2006/main">
              <a:ext uri="{FF2B5EF4-FFF2-40B4-BE49-F238E27FC236}">
                <a16:creationId xmlns:a16="http://schemas.microsoft.com/office/drawing/2014/main" id="{A2060F48-7CA5-471D-A7BC-7945439966FB}"/>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32</a:t>
            </a:r>
          </a:p>
        </p:txBody>
      </p:sp>
      <p:graphicFrame>
        <p:nvGraphicFramePr>
          <p:cNvPr id="14" name=""/>
          <p:cNvGraphicFramePr/>
          <p:nvPr/>
        </p:nvGraphicFramePr>
        <p:xfrm>
          <a:off xmlns:a="http://schemas.openxmlformats.org/drawingml/2006/main" x="571500" y="1524000"/>
          <a:ext xmlns:a="http://schemas.openxmlformats.org/drawingml/2006/main" cx="6762750" cy="3733800"/>
        </p:xfrm>
        <a:graphic xmlns:a="http://schemas.openxmlformats.org/drawingml/2006/main">
          <a:graphicData uri="http://schemas.openxmlformats.org/drawingml/2006/table">
            <a:tbl>
              <a:tblPr/>
              <a:tblGrid>
                <a:gridCol w="4143375"/>
                <a:gridCol w="2619375"/>
              </a:tblGrid>
              <a:tr h="533400">
                <a:tc>
                  <a:txBody>
                    <a:bodyPr/>
                    <a:lstStyle/>
                    <a:p>
                      <a:r>
                        <a:rPr sz="1725" b="1">
                          <a:solidFill>
                            <a:srgbClr val="FFFFFF"/>
                          </a:solidFill>
                          <a:latin typeface="Noto Sans"/>
                          <a:ea typeface="Noto Sans"/>
                          <a:cs typeface="Noto Sans"/>
                        </a:rPr>
                        <a:t>Latest Qwen 7B measure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Value</a:t>
                      </a:r>
                    </a:p>
                  </a:txBody>
                  <a:tcPr marL="95250" marR="95250" marT="57150" marB="57150">
                    <a:solidFill>
                      <a:srgbClr val="22577A"/>
                    </a:solidFill>
                  </a:tcPr>
                </a:tc>
              </a:tr>
              <a:tr h="533400">
                <a:tc>
                  <a:txBody>
                    <a:bodyPr/>
                    <a:lstStyle/>
                    <a:p>
                      <a:r>
                        <a:rPr sz="1650" b="0">
                          <a:solidFill>
                            <a:srgbClr val="26333C"/>
                          </a:solidFill>
                          <a:latin typeface="Noto Sans"/>
                          <a:ea typeface="Noto Sans"/>
                          <a:cs typeface="Noto Sans"/>
                        </a:rPr>
                        <a:t>Native prompt evaluation median</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1.88s</a:t>
                      </a:r>
                    </a:p>
                  </a:txBody>
                  <a:tcPr marL="95250" marR="95250" marT="57150" marB="57150">
                    <a:solidFill>
                      <a:srgbClr val="DDECF2"/>
                    </a:solidFill>
                  </a:tcPr>
                </a:tc>
              </a:tr>
              <a:tr h="533400">
                <a:tc>
                  <a:txBody>
                    <a:bodyPr/>
                    <a:lstStyle/>
                    <a:p>
                      <a:r>
                        <a:rPr sz="1650" b="0">
                          <a:solidFill>
                            <a:srgbClr val="26333C"/>
                          </a:solidFill>
                          <a:latin typeface="Noto Sans"/>
                          <a:ea typeface="Noto Sans"/>
                          <a:cs typeface="Noto Sans"/>
                        </a:rPr>
                        <a:t>Native answer generation median</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1.27s</a:t>
                      </a:r>
                    </a:p>
                  </a:txBody>
                  <a:tcPr marL="95250" marR="95250" marT="57150" marB="57150">
                    <a:solidFill>
                      <a:srgbClr val="F3F0E7"/>
                    </a:solidFill>
                  </a:tcPr>
                </a:tc>
              </a:tr>
              <a:tr h="533400">
                <a:tc>
                  <a:txBody>
                    <a:bodyPr/>
                    <a:lstStyle/>
                    <a:p>
                      <a:r>
                        <a:rPr sz="1650" b="0">
                          <a:solidFill>
                            <a:srgbClr val="26333C"/>
                          </a:solidFill>
                          <a:latin typeface="Noto Sans"/>
                          <a:ea typeface="Noto Sans"/>
                          <a:cs typeface="Noto Sans"/>
                        </a:rPr>
                        <a:t>Native model-loading median</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0.003s</a:t>
                      </a:r>
                    </a:p>
                  </a:txBody>
                  <a:tcPr marL="95250" marR="95250" marT="57150" marB="57150">
                    <a:solidFill>
                      <a:srgbClr val="DDECF2"/>
                    </a:solidFill>
                  </a:tcPr>
                </a:tc>
              </a:tr>
              <a:tr h="533400">
                <a:tc>
                  <a:txBody>
                    <a:bodyPr/>
                    <a:lstStyle/>
                    <a:p>
                      <a:r>
                        <a:rPr sz="1650" b="0">
                          <a:solidFill>
                            <a:srgbClr val="26333C"/>
                          </a:solidFill>
                          <a:latin typeface="Noto Sans"/>
                          <a:ea typeface="Noto Sans"/>
                          <a:cs typeface="Noto Sans"/>
                        </a:rPr>
                        <a:t>Eligibility to complete observed output</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3.20s median, 6.34s 95th percentile</a:t>
                      </a:r>
                    </a:p>
                  </a:txBody>
                  <a:tcPr marL="95250" marR="95250" marT="57150" marB="57150">
                    <a:solidFill>
                      <a:srgbClr val="F3F0E7"/>
                    </a:solidFill>
                  </a:tcPr>
                </a:tc>
              </a:tr>
              <a:tr h="533400">
                <a:tc>
                  <a:txBody>
                    <a:bodyPr/>
                    <a:lstStyle/>
                    <a:p>
                      <a:r>
                        <a:rPr sz="1650" b="0">
                          <a:solidFill>
                            <a:srgbClr val="26333C"/>
                          </a:solidFill>
                          <a:latin typeface="Noto Sans"/>
                          <a:ea typeface="Noto Sans"/>
                          <a:cs typeface="Noto Sans"/>
                        </a:rPr>
                        <a:t>Recorded motion to complete output</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4.31s median</a:t>
                      </a:r>
                    </a:p>
                  </a:txBody>
                  <a:tcPr marL="95250" marR="95250" marT="57150" marB="57150">
                    <a:solidFill>
                      <a:srgbClr val="DDECF2"/>
                    </a:solidFill>
                  </a:tcPr>
                </a:tc>
              </a:tr>
              <a:tr h="533400">
                <a:tc>
                  <a:txBody>
                    <a:bodyPr/>
                    <a:lstStyle/>
                    <a:p>
                      <a:r>
                        <a:rPr sz="1650" b="0">
                          <a:solidFill>
                            <a:srgbClr val="26333C"/>
                          </a:solidFill>
                          <a:latin typeface="Noto Sans"/>
                          <a:ea typeface="Noto Sans"/>
                          <a:cs typeface="Noto Sans"/>
                        </a:rPr>
                        <a:t>Accepted / aligned and accepted</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20/27 / 17/27</a:t>
                      </a:r>
                    </a:p>
                  </a:txBody>
                  <a:tcPr marL="95250" marR="95250" marT="57150" marB="57150">
                    <a:solidFill>
                      <a:srgbClr val="F3F0E7"/>
                    </a:solidFill>
                  </a:tcPr>
                </a:tc>
              </a:tr>
            </a:tbl>
          </a:graphicData>
        </a:graphic>
      </p:graphicFrame>
      <p:graphicFrame>
        <p:nvGraphicFramePr>
          <p:cNvPr id="15" name=""/>
          <p:cNvGraphicFramePr/>
          <p:nvPr/>
        </p:nvGraphicFramePr>
        <p:xfrm>
          <a:off xmlns:a="http://schemas.openxmlformats.org/drawingml/2006/main" x="7858125" y="1524000"/>
          <a:ext xmlns:a="http://schemas.openxmlformats.org/drawingml/2006/main" cx="3714750" cy="3733800"/>
        </p:xfrm>
        <a:graphic xmlns:a="http://schemas.openxmlformats.org/drawingml/2006/main">
          <a:graphicData uri="http://schemas.openxmlformats.org/drawingml/2006/table">
            <a:tbl>
              <a:tblPr/>
              <a:tblGrid>
                <a:gridCol w="2333625"/>
                <a:gridCol w="1381125"/>
              </a:tblGrid>
              <a:tr h="622300">
                <a:tc>
                  <a:txBody>
                    <a:bodyPr/>
                    <a:lstStyle/>
                    <a:p>
                      <a:r>
                        <a:rPr sz="1725" b="1">
                          <a:solidFill>
                            <a:srgbClr val="FFFFFF"/>
                          </a:solidFill>
                          <a:latin typeface="Noto Sans"/>
                          <a:ea typeface="Noto Sans"/>
                          <a:cs typeface="Noto Sans"/>
                        </a:rPr>
                        <a:t>Delivery check</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Limit</a:t>
                      </a:r>
                    </a:p>
                  </a:txBody>
                  <a:tcPr marL="95250" marR="95250" marT="57150" marB="57150">
                    <a:solidFill>
                      <a:srgbClr val="22577A"/>
                    </a:solidFill>
                  </a:tcPr>
                </a:tc>
              </a:tr>
              <a:tr h="622300">
                <a:tc>
                  <a:txBody>
                    <a:bodyPr/>
                    <a:lstStyle/>
                    <a:p>
                      <a:r>
                        <a:rPr sz="1650" b="0">
                          <a:solidFill>
                            <a:srgbClr val="26333C"/>
                          </a:solidFill>
                          <a:latin typeface="Noto Sans"/>
                          <a:ea typeface="Noto Sans"/>
                          <a:cs typeface="Noto Sans"/>
                        </a:rPr>
                        <a:t>Current observation age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1s</a:t>
                      </a:r>
                    </a:p>
                  </a:txBody>
                  <a:tcPr marL="95250" marR="95250" marT="57150" marB="57150">
                    <a:solidFill>
                      <a:srgbClr val="DDECF2"/>
                    </a:solidFill>
                  </a:tcPr>
                </a:tc>
              </a:tr>
              <a:tr h="622300">
                <a:tc>
                  <a:txBody>
                    <a:bodyPr/>
                    <a:lstStyle/>
                    <a:p>
                      <a:r>
                        <a:rPr sz="1650" b="0">
                          <a:solidFill>
                            <a:srgbClr val="26333C"/>
                          </a:solidFill>
                          <a:latin typeface="Noto Sans"/>
                          <a:ea typeface="Noto Sans"/>
                          <a:cs typeface="Noto Sans"/>
                        </a:rPr>
                        <a:t>Model source age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10s</a:t>
                      </a:r>
                    </a:p>
                  </a:txBody>
                  <a:tcPr marL="95250" marR="95250" marT="57150" marB="57150">
                    <a:solidFill>
                      <a:srgbClr val="F3F0E7"/>
                    </a:solidFill>
                  </a:tcPr>
                </a:tc>
              </a:tr>
              <a:tr h="622300">
                <a:tc>
                  <a:txBody>
                    <a:bodyPr/>
                    <a:lstStyle/>
                    <a:p>
                      <a:r>
                        <a:rPr sz="1650" b="0">
                          <a:solidFill>
                            <a:srgbClr val="26333C"/>
                          </a:solidFill>
                          <a:latin typeface="Noto Sans"/>
                          <a:ea typeface="Noto Sans"/>
                          <a:cs typeface="Noto Sans"/>
                        </a:rPr>
                        <a:t>Trial deadline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30s</a:t>
                      </a:r>
                    </a:p>
                  </a:txBody>
                  <a:tcPr marL="95250" marR="95250" marT="57150" marB="57150">
                    <a:solidFill>
                      <a:srgbClr val="DDECF2"/>
                    </a:solidFill>
                  </a:tcPr>
                </a:tc>
              </a:tr>
              <a:tr h="622300">
                <a:tc>
                  <a:txBody>
                    <a:bodyPr/>
                    <a:lstStyle/>
                    <a:p>
                      <a:r>
                        <a:rPr sz="1650" b="0">
                          <a:solidFill>
                            <a:srgbClr val="26333C"/>
                          </a:solidFill>
                          <a:latin typeface="Noto Sans"/>
                          <a:ea typeface="Noto Sans"/>
                          <a:cs typeface="Noto Sans"/>
                        </a:rPr>
                        <a:t>Current readiness</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Required</a:t>
                      </a:r>
                    </a:p>
                  </a:txBody>
                  <a:tcPr marL="95250" marR="95250" marT="57150" marB="57150">
                    <a:solidFill>
                      <a:srgbClr val="F3F0E7"/>
                    </a:solidFill>
                  </a:tcPr>
                </a:tc>
              </a:tr>
              <a:tr h="622300">
                <a:tc>
                  <a:txBody>
                    <a:bodyPr/>
                    <a:lstStyle/>
                    <a:p>
                      <a:r>
                        <a:rPr sz="1650" b="0">
                          <a:solidFill>
                            <a:srgbClr val="26333C"/>
                          </a:solidFill>
                          <a:latin typeface="Noto Sans"/>
                          <a:ea typeface="Noto Sans"/>
                          <a:cs typeface="Noto Sans"/>
                        </a:rPr>
                        <a:t>Correlation identity</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Required</a:t>
                      </a:r>
                    </a:p>
                  </a:txBody>
                  <a:tcPr marL="95250" marR="95250" marT="57150" marB="57150">
                    <a:solidFill>
                      <a:srgbClr val="DDECF2"/>
                    </a:solidFill>
                  </a:tcPr>
                </a:tc>
              </a:tr>
            </a:tbl>
          </a:graphicData>
        </a:graphic>
      </p:graphicFrame>
      <p:sp>
        <p:nvSpPr>
          <p:cNvPr id="8" name="">
            <a:extLst xmlns:a="http://schemas.openxmlformats.org/drawingml/2006/main">
              <a:ext uri="{FF2B5EF4-FFF2-40B4-BE49-F238E27FC236}">
                <a16:creationId xmlns:a16="http://schemas.microsoft.com/office/drawing/2014/main" id="{87A196ED-20C2-4DE1-8A42-787E0927940D}"/>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Medians of timing components do not add. Valid output can fail delivery as observations age or readiness changes.</a:t>
            </a:r>
          </a:p>
        </p:txBody>
      </p:sp>
    </p:spTree>
    <p:extLst>
      <p:ext uri="{BB962C8B-B14F-4D97-AF65-F5344CB8AC3E}">
        <p14:creationId xmlns:p14="http://schemas.microsoft.com/office/powerpoint/2010/main" val="116186321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7DFE36-3CB2-4CE1-A434-482ED00AD74D}"/>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0EE4C6-1D5B-49C0-840D-3101951038FE}"/>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9FDBBD1-3C68-4F30-98C9-5F9B94B32580}"/>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Final Pipeline Configuration for Live Trials</a:t>
            </a:r>
          </a:p>
        </p:txBody>
      </p:sp>
      <p:sp>
        <p:nvSpPr>
          <p:cNvPr id="4" name="">
            <a:extLst xmlns:a="http://schemas.openxmlformats.org/drawingml/2006/main">
              <a:ext uri="{FF2B5EF4-FFF2-40B4-BE49-F238E27FC236}">
                <a16:creationId xmlns:a16="http://schemas.microsoft.com/office/drawing/2014/main" id="{96F5BC32-A19A-4DA8-9699-BA7F998C94BB}"/>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26</a:t>
            </a:r>
          </a:p>
        </p:txBody>
      </p:sp>
      <p:sp>
        <p:nvSpPr>
          <p:cNvPr id="5" name="">
            <a:extLst xmlns:a="http://schemas.openxmlformats.org/drawingml/2006/main">
              <a:ext uri="{FF2B5EF4-FFF2-40B4-BE49-F238E27FC236}">
                <a16:creationId xmlns:a16="http://schemas.microsoft.com/office/drawing/2014/main" id="{B6E5E0BB-E8E8-43E6-B20C-3172DFDE5731}"/>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33</a:t>
            </a:r>
          </a:p>
        </p:txBody>
      </p:sp>
      <p:graphicFrame>
        <p:nvGraphicFramePr>
          <p:cNvPr id="13" name=""/>
          <p:cNvGraphicFramePr/>
          <p:nvPr/>
        </p:nvGraphicFramePr>
        <p:xfrm>
          <a:off xmlns:a="http://schemas.openxmlformats.org/drawingml/2006/main" x="571500" y="1476375"/>
          <a:ext xmlns:a="http://schemas.openxmlformats.org/drawingml/2006/main" cx="11001375" cy="4181475"/>
        </p:xfrm>
        <a:graphic xmlns:a="http://schemas.openxmlformats.org/drawingml/2006/main">
          <a:graphicData uri="http://schemas.openxmlformats.org/drawingml/2006/table">
            <a:tbl>
              <a:tblPr/>
              <a:tblGrid>
                <a:gridCol w="3905250"/>
                <a:gridCol w="7096125"/>
              </a:tblGrid>
              <a:tr h="464608">
                <a:tc>
                  <a:txBody>
                    <a:bodyPr/>
                    <a:lstStyle/>
                    <a:p>
                      <a:r>
                        <a:rPr sz="1725" b="1">
                          <a:solidFill>
                            <a:srgbClr val="FFFFFF"/>
                          </a:solidFill>
                          <a:latin typeface="Noto Sans"/>
                          <a:ea typeface="Noto Sans"/>
                          <a:cs typeface="Noto Sans"/>
                        </a:rPr>
                        <a:t>Component</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Retained selection</a:t>
                      </a:r>
                    </a:p>
                  </a:txBody>
                  <a:tcPr marL="95250" marR="95250" marT="57150" marB="57150">
                    <a:solidFill>
                      <a:srgbClr val="22577A"/>
                    </a:solidFill>
                  </a:tcPr>
                </a:tc>
              </a:tr>
              <a:tr h="464608">
                <a:tc>
                  <a:txBody>
                    <a:bodyPr/>
                    <a:lstStyle/>
                    <a:p>
                      <a:r>
                        <a:rPr sz="1800" b="0">
                          <a:solidFill>
                            <a:srgbClr val="26333C"/>
                          </a:solidFill>
                          <a:latin typeface="Noto Sans"/>
                          <a:ea typeface="Noto Sans"/>
                          <a:cs typeface="Noto Sans"/>
                        </a:rPr>
                        <a:t>Shared observation state</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DecisionState v3</a:t>
                      </a:r>
                    </a:p>
                  </a:txBody>
                  <a:tcPr marL="95250" marR="95250" marT="57150" marB="57150">
                    <a:solidFill>
                      <a:srgbClr val="DDECF2"/>
                    </a:solidFill>
                  </a:tcPr>
                </a:tc>
              </a:tr>
              <a:tr h="464608">
                <a:tc>
                  <a:txBody>
                    <a:bodyPr/>
                    <a:lstStyle/>
                    <a:p>
                      <a:r>
                        <a:rPr sz="1800" b="0">
                          <a:solidFill>
                            <a:srgbClr val="26333C"/>
                          </a:solidFill>
                          <a:latin typeface="Noto Sans"/>
                          <a:ea typeface="Noto Sans"/>
                          <a:cs typeface="Noto Sans"/>
                        </a:rPr>
                        <a:t>Instructions</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decision-state-llm-v16</a:t>
                      </a:r>
                    </a:p>
                  </a:txBody>
                  <a:tcPr marL="95250" marR="95250" marT="57150" marB="57150">
                    <a:solidFill>
                      <a:srgbClr val="F3F0E7"/>
                    </a:solidFill>
                  </a:tcPr>
                </a:tc>
              </a:tr>
              <a:tr h="464608">
                <a:tc>
                  <a:txBody>
                    <a:bodyPr/>
                    <a:lstStyle/>
                    <a:p>
                      <a:r>
                        <a:rPr sz="1800" b="0">
                          <a:solidFill>
                            <a:srgbClr val="26333C"/>
                          </a:solidFill>
                          <a:latin typeface="Noto Sans"/>
                          <a:ea typeface="Noto Sans"/>
                          <a:cs typeface="Noto Sans"/>
                        </a:rPr>
                        <a:t>Model</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qwen2.5:7b</a:t>
                      </a:r>
                    </a:p>
                  </a:txBody>
                  <a:tcPr marL="95250" marR="95250" marT="57150" marB="57150">
                    <a:solidFill>
                      <a:srgbClr val="DDECF2"/>
                    </a:solidFill>
                  </a:tcPr>
                </a:tc>
              </a:tr>
              <a:tr h="464608">
                <a:tc>
                  <a:txBody>
                    <a:bodyPr/>
                    <a:lstStyle/>
                    <a:p>
                      <a:r>
                        <a:rPr sz="1800" b="0">
                          <a:solidFill>
                            <a:srgbClr val="26333C"/>
                          </a:solidFill>
                          <a:latin typeface="Noto Sans"/>
                          <a:ea typeface="Noto Sans"/>
                          <a:cs typeface="Noto Sans"/>
                        </a:rPr>
                        <a:t>Generation</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Temperature 0, seed 42</a:t>
                      </a:r>
                    </a:p>
                  </a:txBody>
                  <a:tcPr marL="95250" marR="95250" marT="57150" marB="57150">
                    <a:solidFill>
                      <a:srgbClr val="F3F0E7"/>
                    </a:solidFill>
                  </a:tcPr>
                </a:tc>
              </a:tr>
              <a:tr h="464608">
                <a:tc>
                  <a:txBody>
                    <a:bodyPr/>
                    <a:lstStyle/>
                    <a:p>
                      <a:r>
                        <a:rPr sz="1800" b="0">
                          <a:solidFill>
                            <a:srgbClr val="26333C"/>
                          </a:solidFill>
                          <a:latin typeface="Noto Sans"/>
                          <a:ea typeface="Noto Sans"/>
                          <a:cs typeface="Noto Sans"/>
                        </a:rPr>
                        <a:t>Context / output ceiling</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8192 / 192 tokens</a:t>
                      </a:r>
                    </a:p>
                  </a:txBody>
                  <a:tcPr marL="95250" marR="95250" marT="57150" marB="57150">
                    <a:solidFill>
                      <a:srgbClr val="DDECF2"/>
                    </a:solidFill>
                  </a:tcPr>
                </a:tc>
              </a:tr>
              <a:tr h="464608">
                <a:tc>
                  <a:txBody>
                    <a:bodyPr/>
                    <a:lstStyle/>
                    <a:p>
                      <a:r>
                        <a:rPr sz="1800" b="0">
                          <a:solidFill>
                            <a:srgbClr val="26333C"/>
                          </a:solidFill>
                          <a:latin typeface="Noto Sans"/>
                          <a:ea typeface="Noto Sans"/>
                          <a:cs typeface="Noto Sans"/>
                        </a:rPr>
                        <a:t>Additional temporal summaries</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NONE</a:t>
                      </a:r>
                    </a:p>
                  </a:txBody>
                  <a:tcPr marL="95250" marR="95250" marT="57150" marB="57150">
                    <a:solidFill>
                      <a:srgbClr val="F3F0E7"/>
                    </a:solidFill>
                  </a:tcPr>
                </a:tc>
              </a:tr>
              <a:tr h="464608">
                <a:tc>
                  <a:txBody>
                    <a:bodyPr/>
                    <a:lstStyle/>
                    <a:p>
                      <a:r>
                        <a:rPr sz="1800" b="0">
                          <a:solidFill>
                            <a:srgbClr val="26333C"/>
                          </a:solidFill>
                          <a:latin typeface="Noto Sans"/>
                          <a:ea typeface="Noto Sans"/>
                          <a:cs typeface="Noto Sans"/>
                        </a:rPr>
                        <a:t>Estimator / tracker</a:t>
                      </a:r>
                    </a:p>
                  </a:txBody>
                  <a:tcPr marL="95250" marR="95250" marT="57150" marB="57150">
                    <a:solidFill>
                      <a:srgbClr val="DDECF2"/>
                    </a:solidFill>
                  </a:tcPr>
                </a:tc>
                <a:tc>
                  <a:txBody>
                    <a:bodyPr/>
                    <a:lstStyle/>
                    <a:p>
                      <a:r>
                        <a:rPr sz="1800" b="0">
                          <a:solidFill>
                            <a:srgbClr val="26333C"/>
                          </a:solidFill>
                          <a:latin typeface="Noto Sans"/>
                          <a:ea typeface="Noto Sans"/>
                          <a:cs typeface="Noto Sans"/>
                        </a:rPr>
                        <a:t>Final-scenario presets</a:t>
                      </a:r>
                    </a:p>
                  </a:txBody>
                  <a:tcPr marL="95250" marR="95250" marT="57150" marB="57150">
                    <a:solidFill>
                      <a:srgbClr val="DDECF2"/>
                    </a:solidFill>
                  </a:tcPr>
                </a:tc>
              </a:tr>
              <a:tr h="464608">
                <a:tc>
                  <a:txBody>
                    <a:bodyPr/>
                    <a:lstStyle/>
                    <a:p>
                      <a:r>
                        <a:rPr sz="1800" b="0">
                          <a:solidFill>
                            <a:srgbClr val="26333C"/>
                          </a:solidFill>
                          <a:latin typeface="Noto Sans"/>
                          <a:ea typeface="Noto Sans"/>
                          <a:cs typeface="Noto Sans"/>
                        </a:rPr>
                        <a:t>Model condition</a:t>
                      </a:r>
                    </a:p>
                  </a:txBody>
                  <a:tcPr marL="95250" marR="95250" marT="57150" marB="57150">
                    <a:solidFill>
                      <a:srgbClr val="F3F0E7"/>
                    </a:solidFill>
                  </a:tcPr>
                </a:tc>
                <a:tc>
                  <a:txBody>
                    <a:bodyPr/>
                    <a:lstStyle/>
                    <a:p>
                      <a:r>
                        <a:rPr sz="1800" b="0">
                          <a:solidFill>
                            <a:srgbClr val="26333C"/>
                          </a:solidFill>
                          <a:latin typeface="Noto Sans"/>
                          <a:ea typeface="Noto Sans"/>
                          <a:cs typeface="Noto Sans"/>
                        </a:rPr>
                        <a:t>Preload with the same context before the encounter</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9CE2EEE0-227B-4594-B1B8-F390AAEEDE5E}"/>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Exact values: recommended-settings.json. Setup commands: docs/inference-settings-and-models.md.</a:t>
            </a:r>
          </a:p>
        </p:txBody>
      </p:sp>
    </p:spTree>
    <p:extLst>
      <p:ext uri="{BB962C8B-B14F-4D97-AF65-F5344CB8AC3E}">
        <p14:creationId xmlns:p14="http://schemas.microsoft.com/office/powerpoint/2010/main" val="157134827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FFF268-897B-4ADE-A76F-BAA873F43397}"/>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BC235A-03F4-4869-8936-96C3AC0FA20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F2C0D7-2D25-4E08-95CD-C4C7D288C292}"/>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Research Findings and Remaining Limits</a:t>
            </a:r>
          </a:p>
        </p:txBody>
      </p:sp>
      <p:sp>
        <p:nvSpPr>
          <p:cNvPr id="4" name="">
            <a:extLst xmlns:a="http://schemas.openxmlformats.org/drawingml/2006/main">
              <a:ext uri="{FF2B5EF4-FFF2-40B4-BE49-F238E27FC236}">
                <a16:creationId xmlns:a16="http://schemas.microsoft.com/office/drawing/2014/main" id="{E5250ACB-5847-4EB2-9555-E205BBFD4816}"/>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27</a:t>
            </a:r>
          </a:p>
        </p:txBody>
      </p:sp>
      <p:sp>
        <p:nvSpPr>
          <p:cNvPr id="5" name="">
            <a:extLst xmlns:a="http://schemas.openxmlformats.org/drawingml/2006/main">
              <a:ext uri="{FF2B5EF4-FFF2-40B4-BE49-F238E27FC236}">
                <a16:creationId xmlns:a16="http://schemas.microsoft.com/office/drawing/2014/main" id="{567AF40A-3CBE-4761-8ECE-EC37F6B95B57}"/>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34</a:t>
            </a:r>
          </a:p>
        </p:txBody>
      </p:sp>
      <p:graphicFrame>
        <p:nvGraphicFramePr>
          <p:cNvPr id="13" name=""/>
          <p:cNvGraphicFramePr/>
          <p:nvPr/>
        </p:nvGraphicFramePr>
        <p:xfrm>
          <a:off xmlns:a="http://schemas.openxmlformats.org/drawingml/2006/main" x="571500" y="1514475"/>
          <a:ext xmlns:a="http://schemas.openxmlformats.org/drawingml/2006/main" cx="11001375" cy="3933825"/>
        </p:xfrm>
        <a:graphic xmlns:a="http://schemas.openxmlformats.org/drawingml/2006/main">
          <a:graphicData uri="http://schemas.openxmlformats.org/drawingml/2006/table">
            <a:tbl>
              <a:tblPr/>
              <a:tblGrid>
                <a:gridCol w="5476875"/>
                <a:gridCol w="5524500"/>
              </a:tblGrid>
              <a:tr h="561975">
                <a:tc>
                  <a:txBody>
                    <a:bodyPr/>
                    <a:lstStyle/>
                    <a:p>
                      <a:r>
                        <a:rPr sz="1725" b="1">
                          <a:solidFill>
                            <a:srgbClr val="FFFFFF"/>
                          </a:solidFill>
                          <a:latin typeface="Noto Sans"/>
                          <a:ea typeface="Noto Sans"/>
                          <a:cs typeface="Noto Sans"/>
                        </a:rPr>
                        <a:t>Research finding</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Evidence boundary</a:t>
                      </a:r>
                    </a:p>
                  </a:txBody>
                  <a:tcPr marL="95250" marR="95250" marT="57150" marB="57150">
                    <a:solidFill>
                      <a:srgbClr val="22577A"/>
                    </a:solidFill>
                  </a:tcPr>
                </a:tc>
              </a:tr>
              <a:tr h="561975">
                <a:tc>
                  <a:txBody>
                    <a:bodyPr/>
                    <a:lstStyle/>
                    <a:p>
                      <a:r>
                        <a:rPr sz="1725" b="0">
                          <a:solidFill>
                            <a:srgbClr val="26333C"/>
                          </a:solidFill>
                          <a:latin typeface="Noto Sans"/>
                          <a:ea typeface="Noto Sans"/>
                          <a:cs typeface="Noto Sans"/>
                        </a:rPr>
                        <a:t>Shared temporal state supports comparison</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Identical first inputs, 574-frame rule preservation</a:t>
                      </a:r>
                    </a:p>
                  </a:txBody>
                  <a:tcPr marL="95250" marR="95250" marT="57150" marB="57150">
                    <a:solidFill>
                      <a:srgbClr val="DDECF2"/>
                    </a:solidFill>
                  </a:tcPr>
                </a:tc>
              </a:tr>
              <a:tr h="561975">
                <a:tc>
                  <a:txBody>
                    <a:bodyPr/>
                    <a:lstStyle/>
                    <a:p>
                      <a:r>
                        <a:rPr sz="1725" b="0">
                          <a:solidFill>
                            <a:srgbClr val="26333C"/>
                          </a:solidFill>
                          <a:latin typeface="Noto Sans"/>
                          <a:ea typeface="Noto Sans"/>
                          <a:cs typeface="Noto Sans"/>
                        </a:rPr>
                        <a:t>Compact input improves measured fit and delay</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6/9 to 8/9, roughly half the initial median delay</a:t>
                      </a:r>
                    </a:p>
                  </a:txBody>
                  <a:tcPr marL="95250" marR="95250" marT="57150" marB="57150">
                    <a:solidFill>
                      <a:srgbClr val="F3F0E7"/>
                    </a:solidFill>
                  </a:tcPr>
                </a:tc>
              </a:tr>
              <a:tr h="561975">
                <a:tc>
                  <a:txBody>
                    <a:bodyPr/>
                    <a:lstStyle/>
                    <a:p>
                      <a:r>
                        <a:rPr sz="1725" b="0">
                          <a:solidFill>
                            <a:srgbClr val="26333C"/>
                          </a:solidFill>
                          <a:latin typeface="Noto Sans"/>
                          <a:ea typeface="Noto Sans"/>
                          <a:cs typeface="Noto Sans"/>
                        </a:rPr>
                        <a:t>Rules remain more reliable on the tuning cases</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9/9 expected first actions versus 8/9 LLM</a:t>
                      </a:r>
                    </a:p>
                  </a:txBody>
                  <a:tcPr marL="95250" marR="95250" marT="57150" marB="57150">
                    <a:solidFill>
                      <a:srgbClr val="DDECF2"/>
                    </a:solidFill>
                  </a:tcPr>
                </a:tc>
              </a:tr>
              <a:tr h="561975">
                <a:tc>
                  <a:txBody>
                    <a:bodyPr/>
                    <a:lstStyle/>
                    <a:p>
                      <a:r>
                        <a:rPr sz="1725" b="0">
                          <a:solidFill>
                            <a:srgbClr val="26333C"/>
                          </a:solidFill>
                          <a:latin typeface="Noto Sans"/>
                          <a:ea typeface="Noto Sans"/>
                          <a:cs typeface="Noto Sans"/>
                        </a:rPr>
                        <a:t>More descriptions do not guarantee better judgement</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No first-action gain from extra temporal summaries</a:t>
                      </a:r>
                    </a:p>
                  </a:txBody>
                  <a:tcPr marL="95250" marR="95250" marT="57150" marB="57150">
                    <a:solidFill>
                      <a:srgbClr val="F3F0E7"/>
                    </a:solidFill>
                  </a:tcPr>
                </a:tc>
              </a:tr>
              <a:tr h="561975">
                <a:tc>
                  <a:txBody>
                    <a:bodyPr/>
                    <a:lstStyle/>
                    <a:p>
                      <a:r>
                        <a:rPr sz="1725" b="0">
                          <a:solidFill>
                            <a:srgbClr val="26333C"/>
                          </a:solidFill>
                          <a:latin typeface="Noto Sans"/>
                          <a:ea typeface="Noto Sans"/>
                          <a:cs typeface="Noto Sans"/>
                        </a:rPr>
                        <a:t>Direct human-preference comparison remains incomplete</a:t>
                      </a:r>
                    </a:p>
                  </a:txBody>
                  <a:tcPr marL="95250" marR="95250" marT="57150" marB="57150">
                    <a:solidFill>
                      <a:srgbClr val="DDECF2"/>
                    </a:solidFill>
                  </a:tcPr>
                </a:tc>
                <a:tc>
                  <a:txBody>
                    <a:bodyPr/>
                    <a:lstStyle/>
                    <a:p>
                      <a:r>
                        <a:rPr sz="1725" b="0">
                          <a:solidFill>
                            <a:srgbClr val="26333C"/>
                          </a:solidFill>
                          <a:latin typeface="Noto Sans"/>
                          <a:ea typeface="Noto Sans"/>
                          <a:cs typeface="Noto Sans"/>
                        </a:rPr>
                        <a:t>Survey endpoint and final-reference verification needed</a:t>
                      </a:r>
                    </a:p>
                  </a:txBody>
                  <a:tcPr marL="95250" marR="95250" marT="57150" marB="57150">
                    <a:solidFill>
                      <a:srgbClr val="DDECF2"/>
                    </a:solidFill>
                  </a:tcPr>
                </a:tc>
              </a:tr>
              <a:tr h="561975">
                <a:tc>
                  <a:txBody>
                    <a:bodyPr/>
                    <a:lstStyle/>
                    <a:p>
                      <a:r>
                        <a:rPr sz="1725" b="0">
                          <a:solidFill>
                            <a:srgbClr val="26333C"/>
                          </a:solidFill>
                          <a:latin typeface="Noto Sans"/>
                          <a:ea typeface="Noto Sans"/>
                          <a:cs typeface="Noto Sans"/>
                        </a:rPr>
                        <a:t>Physical delivery and execution need separate evidence</a:t>
                      </a:r>
                    </a:p>
                  </a:txBody>
                  <a:tcPr marL="95250" marR="95250" marT="57150" marB="57150">
                    <a:solidFill>
                      <a:srgbClr val="F3F0E7"/>
                    </a:solidFill>
                  </a:tcPr>
                </a:tc>
                <a:tc>
                  <a:txBody>
                    <a:bodyPr/>
                    <a:lstStyle/>
                    <a:p>
                      <a:r>
                        <a:rPr sz="1725" b="0">
                          <a:solidFill>
                            <a:srgbClr val="26333C"/>
                          </a:solidFill>
                          <a:latin typeface="Noto Sans"/>
                          <a:ea typeface="Noto Sans"/>
                          <a:cs typeface="Noto Sans"/>
                        </a:rPr>
                        <a:t>Recorded replay and scripted demos have distinct scope</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E58E5EE6-D40F-44D7-99B9-ED1F413384A0}"/>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Sources and exact values appear in each slide’s speaker notes. Main presentation ends at slide 7.</a:t>
            </a:r>
          </a:p>
        </p:txBody>
      </p:sp>
    </p:spTree>
    <p:extLst>
      <p:ext uri="{BB962C8B-B14F-4D97-AF65-F5344CB8AC3E}">
        <p14:creationId xmlns:p14="http://schemas.microsoft.com/office/powerpoint/2010/main" val="202741395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D907F0-9BFF-4FA5-BD27-E25632CA3079}"/>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748408-914F-44EF-8C5D-226FA96B8946}"/>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DD51A5-C700-49E3-8EAE-62C419CAACAF}"/>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Model Trade-Off: Earlier Answers and Action Agreement</a:t>
            </a:r>
          </a:p>
        </p:txBody>
      </p:sp>
      <p:sp>
        <p:nvSpPr>
          <p:cNvPr id="4" name="">
            <a:extLst xmlns:a="http://schemas.openxmlformats.org/drawingml/2006/main">
              <a:ext uri="{FF2B5EF4-FFF2-40B4-BE49-F238E27FC236}">
                <a16:creationId xmlns:a16="http://schemas.microsoft.com/office/drawing/2014/main" id="{B1B2BC15-19A1-436A-9FCB-3F0E87047D67}"/>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28</a:t>
            </a:r>
          </a:p>
        </p:txBody>
      </p:sp>
      <p:sp>
        <p:nvSpPr>
          <p:cNvPr id="5" name="">
            <a:extLst xmlns:a="http://schemas.openxmlformats.org/drawingml/2006/main">
              <a:ext uri="{FF2B5EF4-FFF2-40B4-BE49-F238E27FC236}">
                <a16:creationId xmlns:a16="http://schemas.microsoft.com/office/drawing/2014/main" id="{8FD2E813-9E2D-4E79-97CC-34D9F49D1CF3}"/>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35</a:t>
            </a:r>
          </a:p>
        </p:txBody>
      </p:sp>
      <p:graphicFrame>
        <p:nvGraphicFramePr>
          <p:cNvPr id="16" name="Chart"/>
          <p:cNvGraphicFramePr/>
          <p:nvPr/>
        </p:nvGraphicFramePr>
        <p:xfrm>
          <a:off xmlns:a="http://schemas.openxmlformats.org/drawingml/2006/main" x="571500" y="1457325"/>
          <a:ext xmlns:a="http://schemas.openxmlformats.org/drawingml/2006/main" cx="7715250" cy="4229100"/>
        </p:xfrm>
        <a:graphic xmlns:a="http://schemas.openxmlformats.org/drawingml/2006/main">
          <a:graphicData uri="http://schemas.openxmlformats.org/drawingml/2006/chart">
            <c:chart xmlns:r="http://schemas.openxmlformats.org/officeDocument/2006/relationships" xmlns:c="http://schemas.openxmlformats.org/drawingml/2006/chart" r:id="Rdd3d86a4ca02423f"/>
          </a:graphicData>
        </a:graphic>
      </p:graphicFrame>
      <p:sp>
        <p:nvSpPr>
          <p:cNvPr id="7" name="">
            <a:extLst xmlns:a="http://schemas.openxmlformats.org/drawingml/2006/main">
              <a:ext uri="{FF2B5EF4-FFF2-40B4-BE49-F238E27FC236}">
                <a16:creationId xmlns:a16="http://schemas.microsoft.com/office/drawing/2014/main" id="{4B2A04B6-D827-4EB7-A8E0-0CF70D60AEA5}"/>
              </a:ext>
            </a:extLst>
          </p:cNvPr>
          <p:cNvSpPr>
            <a:spLocks xmlns:a="http://schemas.openxmlformats.org/drawingml/2006/main" noGrp="1"/>
          </p:cNvSpPr>
          <p:nvPr/>
        </p:nvSpPr>
        <p:spPr>
          <a:xfrm xmlns:a="http://schemas.openxmlformats.org/drawingml/2006/main">
            <a:off x="8724900" y="18859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2577A"/>
                </a:solidFill>
                <a:latin typeface="Rubik"/>
                <a:ea typeface="Rubik"/>
                <a:cs typeface="Rubik"/>
              </a:defRPr>
            </a:pPr>
            <a:r>
              <a:rPr sz="2625" b="1">
                <a:solidFill>
                  <a:srgbClr val="22577A"/>
                </a:solidFill>
                <a:latin typeface="Rubik"/>
                <a:ea typeface="Rubik"/>
                <a:cs typeface="Rubik"/>
              </a:rPr>
              <a:t>Accuracy first</a:t>
            </a:r>
          </a:p>
        </p:txBody>
      </p:sp>
      <p:sp>
        <p:nvSpPr>
          <p:cNvPr id="8" name="">
            <a:extLst xmlns:a="http://schemas.openxmlformats.org/drawingml/2006/main">
              <a:ext uri="{FF2B5EF4-FFF2-40B4-BE49-F238E27FC236}">
                <a16:creationId xmlns:a16="http://schemas.microsoft.com/office/drawing/2014/main" id="{37CF5A31-D2B8-4AA1-A45F-78F528AE6175}"/>
              </a:ext>
            </a:extLst>
          </p:cNvPr>
          <p:cNvSpPr>
            <a:spLocks xmlns:a="http://schemas.openxmlformats.org/drawingml/2006/main" noGrp="1"/>
          </p:cNvSpPr>
          <p:nvPr/>
        </p:nvSpPr>
        <p:spPr>
          <a:xfrm xmlns:a="http://schemas.openxmlformats.org/drawingml/2006/main">
            <a:off x="8724900" y="2695575"/>
            <a:ext cx="2809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33C"/>
                </a:solidFill>
                <a:latin typeface="Noto Sans"/>
                <a:ea typeface="Noto Sans"/>
                <a:cs typeface="Noto Sans"/>
              </a:defRPr>
            </a:pPr>
            <a:r>
              <a:rPr sz="2100" b="0">
                <a:solidFill>
                  <a:srgbClr val="26333C"/>
                </a:solidFill>
                <a:latin typeface="Noto Sans"/>
                <a:ea typeface="Noto Sans"/>
                <a:cs typeface="Noto Sans"/>
              </a:rPr>
              <a:t>Retain the 7B model:</a:t>
            </a:r>
          </a:p>
          <a:p xmlns:a="http://schemas.openxmlformats.org/drawingml/2006/main">
            <a:pPr algn="l">
              <a:defRPr sz="2100" b="0">
                <a:solidFill>
                  <a:srgbClr val="26333C"/>
                </a:solidFill>
                <a:latin typeface="Noto Sans"/>
                <a:ea typeface="Noto Sans"/>
                <a:cs typeface="Noto Sans"/>
              </a:defRPr>
            </a:pPr>
            <a:r>
              <a:rPr sz="2100" b="0">
                <a:solidFill>
                  <a:srgbClr val="26333C"/>
                </a:solidFill>
                <a:latin typeface="Noto Sans"/>
                <a:ea typeface="Noto Sans"/>
                <a:cs typeface="Noto Sans"/>
              </a:rPr>
              <a:t>8/9 expected first actions</a:t>
            </a:r>
          </a:p>
          <a:p xmlns:a="http://schemas.openxmlformats.org/drawingml/2006/main">
            <a:pPr algn="l">
              <a:defRPr sz="2100" b="0">
                <a:solidFill>
                  <a:srgbClr val="26333C"/>
                </a:solidFill>
                <a:latin typeface="Noto Sans"/>
                <a:ea typeface="Noto Sans"/>
                <a:cs typeface="Noto Sans"/>
              </a:defRPr>
            </a:pPr>
            <a:r>
              <a:rPr sz="2100" b="0">
                <a:solidFill>
                  <a:srgbClr val="26333C"/>
                </a:solidFill>
                <a:latin typeface="Noto Sans"/>
                <a:ea typeface="Noto Sans"/>
                <a:cs typeface="Noto Sans"/>
              </a:rPr>
              <a:t>at a median 3.20s.</a:t>
            </a:r>
          </a:p>
        </p:txBody>
      </p:sp>
      <p:sp>
        <p:nvSpPr>
          <p:cNvPr id="9" name="">
            <a:extLst xmlns:a="http://schemas.openxmlformats.org/drawingml/2006/main">
              <a:ext uri="{FF2B5EF4-FFF2-40B4-BE49-F238E27FC236}">
                <a16:creationId xmlns:a16="http://schemas.microsoft.com/office/drawing/2014/main" id="{3B560A6D-02B7-41DB-9E32-A6F5F85BA25D}"/>
              </a:ext>
            </a:extLst>
          </p:cNvPr>
          <p:cNvSpPr>
            <a:spLocks xmlns:a="http://schemas.openxmlformats.org/drawingml/2006/main" noGrp="1"/>
          </p:cNvSpPr>
          <p:nvPr/>
        </p:nvSpPr>
        <p:spPr>
          <a:xfrm xmlns:a="http://schemas.openxmlformats.org/drawingml/2006/main">
            <a:off x="8724900" y="4648200"/>
            <a:ext cx="2809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33C"/>
                </a:solidFill>
                <a:latin typeface="Noto Sans"/>
                <a:ea typeface="Noto Sans"/>
                <a:cs typeface="Noto Sans"/>
              </a:defRPr>
            </a:pPr>
            <a:r>
              <a:rPr sz="2025" b="0">
                <a:solidFill>
                  <a:srgbClr val="26333C"/>
                </a:solidFill>
                <a:latin typeface="Noto Sans"/>
                <a:ea typeface="Noto Sans"/>
                <a:cs typeface="Noto Sans"/>
              </a:rPr>
              <a:t>Fastest tested model:</a:t>
            </a:r>
          </a:p>
          <a:p xmlns:a="http://schemas.openxmlformats.org/drawingml/2006/main">
            <a:pPr algn="l">
              <a:defRPr sz="2025" b="0">
                <a:solidFill>
                  <a:srgbClr val="26333C"/>
                </a:solidFill>
                <a:latin typeface="Noto Sans"/>
                <a:ea typeface="Noto Sans"/>
                <a:cs typeface="Noto Sans"/>
              </a:defRPr>
            </a:pPr>
            <a:r>
              <a:rPr sz="2025" b="0">
                <a:solidFill>
                  <a:srgbClr val="26333C"/>
                </a:solidFill>
                <a:latin typeface="Noto Sans"/>
                <a:ea typeface="Noto Sans"/>
                <a:cs typeface="Noto Sans"/>
              </a:rPr>
              <a:t>4/9 at 1.81s.</a:t>
            </a:r>
          </a:p>
        </p:txBody>
      </p:sp>
      <p:sp>
        <p:nvSpPr>
          <p:cNvPr id="10" name="">
            <a:extLst xmlns:a="http://schemas.openxmlformats.org/drawingml/2006/main">
              <a:ext uri="{FF2B5EF4-FFF2-40B4-BE49-F238E27FC236}">
                <a16:creationId xmlns:a16="http://schemas.microsoft.com/office/drawing/2014/main" id="{12DDB8BF-0E73-4DB4-A37B-38BDE76162AE}"/>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Every point uses identical shared observation messages and v16 instructions.</a:t>
            </a:r>
          </a:p>
        </p:txBody>
      </p:sp>
    </p:spTree>
    <p:extLst>
      <p:ext uri="{BB962C8B-B14F-4D97-AF65-F5344CB8AC3E}">
        <p14:creationId xmlns:p14="http://schemas.microsoft.com/office/powerpoint/2010/main" val="30642545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F12041-ED39-4327-945D-3743F240B374}"/>
              </a:ext>
            </a:extLst>
          </p:cNvPr>
          <p:cNvSpPr>
            <a:spLocks xmlns:a="http://schemas.openxmlformats.org/drawingml/2006/main" noGrp="1"/>
          </p:cNvSpPr>
          <p:nvPr/>
        </p:nvSpPr>
        <p:spPr>
          <a:xfrm xmlns:a="http://schemas.openxmlformats.org/drawingml/2006/main">
            <a:off x="619125" y="428625"/>
            <a:ext cx="11001375" cy="685800"/>
          </a:xfrm>
          <a:prstGeom xmlns:a="http://schemas.openxmlformats.org/drawingml/2006/main" prst="roundRect">
            <a:avLst>
              <a:gd name="adj" fmla="val 13889"/>
            </a:avLst>
          </a:prstGeom>
          <a:solidFill xmlns:a="http://schemas.openxmlformats.org/drawingml/2006/main">
            <a:srgbClr val="AFC4C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8C81B3-C806-4A7F-94F4-23662E886C32}"/>
              </a:ext>
            </a:extLst>
          </p:cNvPr>
          <p:cNvSpPr>
            <a:spLocks xmlns:a="http://schemas.openxmlformats.org/drawingml/2006/main" noGrp="1"/>
          </p:cNvSpPr>
          <p:nvPr/>
        </p:nvSpPr>
        <p:spPr>
          <a:xfrm xmlns:a="http://schemas.openxmlformats.org/drawingml/2006/main">
            <a:off x="571500" y="381000"/>
            <a:ext cx="11001375" cy="685800"/>
          </a:xfrm>
          <a:prstGeom xmlns:a="http://schemas.openxmlformats.org/drawingml/2006/main" prst="roundRect">
            <a:avLst>
              <a:gd name="adj" fmla="val 13889"/>
            </a:avLst>
          </a:prstGeom>
          <a:solidFill xmlns:a="http://schemas.openxmlformats.org/drawingml/2006/main">
            <a:srgbClr val="2257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24BD09-458E-49E1-ADEB-2C189F304A30}"/>
              </a:ext>
            </a:extLst>
          </p:cNvPr>
          <p:cNvSpPr>
            <a:spLocks xmlns:a="http://schemas.openxmlformats.org/drawingml/2006/main" noGrp="1"/>
          </p:cNvSpPr>
          <p:nvPr/>
        </p:nvSpPr>
        <p:spPr>
          <a:xfrm xmlns:a="http://schemas.openxmlformats.org/drawingml/2006/main">
            <a:off x="781050" y="4857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Rubik"/>
                <a:ea typeface="Rubik"/>
                <a:cs typeface="Rubik"/>
              </a:defRPr>
            </a:pPr>
            <a:r>
              <a:rPr sz="3000" b="1">
                <a:solidFill>
                  <a:srgbClr val="FFFFFF"/>
                </a:solidFill>
                <a:latin typeface="Rubik"/>
                <a:ea typeface="Rubik"/>
                <a:cs typeface="Rubik"/>
              </a:rPr>
              <a:t>Exact Compact Evidence Operands</a:t>
            </a:r>
          </a:p>
        </p:txBody>
      </p:sp>
      <p:sp>
        <p:nvSpPr>
          <p:cNvPr id="4" name="">
            <a:extLst xmlns:a="http://schemas.openxmlformats.org/drawingml/2006/main">
              <a:ext uri="{FF2B5EF4-FFF2-40B4-BE49-F238E27FC236}">
                <a16:creationId xmlns:a16="http://schemas.microsoft.com/office/drawing/2014/main" id="{2EC520AF-8D1F-445B-A28E-CE6B61755A93}"/>
              </a:ext>
            </a:extLst>
          </p:cNvPr>
          <p:cNvSpPr>
            <a:spLocks xmlns:a="http://schemas.openxmlformats.org/drawingml/2006/main" noGrp="1"/>
          </p:cNvSpPr>
          <p:nvPr/>
        </p:nvSpPr>
        <p:spPr>
          <a:xfrm xmlns:a="http://schemas.openxmlformats.org/drawingml/2006/main">
            <a:off x="571500" y="64674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22577A"/>
                </a:solidFill>
                <a:latin typeface="Noto Sans"/>
                <a:ea typeface="Noto Sans"/>
                <a:cs typeface="Noto Sans"/>
              </a:defRPr>
            </a:pPr>
            <a:r>
              <a:rPr sz="1125" b="0">
                <a:solidFill>
                  <a:srgbClr val="22577A"/>
                </a:solidFill>
                <a:latin typeface="Noto Sans"/>
                <a:ea typeface="Noto Sans"/>
                <a:cs typeface="Noto Sans"/>
              </a:rPr>
              <a:t>Appendix 29</a:t>
            </a:r>
          </a:p>
        </p:txBody>
      </p:sp>
      <p:sp>
        <p:nvSpPr>
          <p:cNvPr id="5" name="">
            <a:extLst xmlns:a="http://schemas.openxmlformats.org/drawingml/2006/main">
              <a:ext uri="{FF2B5EF4-FFF2-40B4-BE49-F238E27FC236}">
                <a16:creationId xmlns:a16="http://schemas.microsoft.com/office/drawing/2014/main" id="{F750E584-F253-4A5A-A96C-250DAF9FA878}"/>
              </a:ext>
            </a:extLst>
          </p:cNvPr>
          <p:cNvSpPr>
            <a:spLocks xmlns:a="http://schemas.openxmlformats.org/drawingml/2006/main" noGrp="1"/>
          </p:cNvSpPr>
          <p:nvPr/>
        </p:nvSpPr>
        <p:spPr>
          <a:xfrm xmlns:a="http://schemas.openxmlformats.org/drawingml/2006/main">
            <a:off x="11049000" y="64293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2577A"/>
                </a:solidFill>
                <a:latin typeface="Noto Sans"/>
                <a:ea typeface="Noto Sans"/>
                <a:cs typeface="Noto Sans"/>
              </a:defRPr>
            </a:pPr>
            <a:r>
              <a:rPr sz="1275" b="0">
                <a:solidFill>
                  <a:srgbClr val="22577A"/>
                </a:solidFill>
                <a:latin typeface="Noto Sans"/>
                <a:ea typeface="Noto Sans"/>
                <a:cs typeface="Noto Sans"/>
              </a:rPr>
              <a:t>36</a:t>
            </a:r>
          </a:p>
        </p:txBody>
      </p:sp>
      <p:graphicFrame>
        <p:nvGraphicFramePr>
          <p:cNvPr id="13" name=""/>
          <p:cNvGraphicFramePr/>
          <p:nvPr/>
        </p:nvGraphicFramePr>
        <p:xfrm>
          <a:off xmlns:a="http://schemas.openxmlformats.org/drawingml/2006/main" x="571500" y="1466850"/>
          <a:ext xmlns:a="http://schemas.openxmlformats.org/drawingml/2006/main" cx="11001375" cy="4210050"/>
        </p:xfrm>
        <a:graphic xmlns:a="http://schemas.openxmlformats.org/drawingml/2006/main">
          <a:graphicData uri="http://schemas.openxmlformats.org/drawingml/2006/table">
            <a:tbl>
              <a:tblPr/>
              <a:tblGrid>
                <a:gridCol w="4191000"/>
                <a:gridCol w="2047875"/>
                <a:gridCol w="4762500"/>
              </a:tblGrid>
              <a:tr h="382732">
                <a:tc>
                  <a:txBody>
                    <a:bodyPr/>
                    <a:lstStyle/>
                    <a:p>
                      <a:r>
                        <a:rPr sz="1725" b="1">
                          <a:solidFill>
                            <a:srgbClr val="FFFFFF"/>
                          </a:solidFill>
                          <a:latin typeface="Noto Sans"/>
                          <a:ea typeface="Noto Sans"/>
                          <a:cs typeface="Noto Sans"/>
                        </a:rPr>
                        <a:t>Exact operand</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S4 first value</a:t>
                      </a:r>
                    </a:p>
                  </a:txBody>
                  <a:tcPr marL="95250" marR="95250" marT="57150" marB="57150">
                    <a:solidFill>
                      <a:srgbClr val="22577A"/>
                    </a:solidFill>
                  </a:tcPr>
                </a:tc>
                <a:tc>
                  <a:txBody>
                    <a:bodyPr/>
                    <a:lstStyle/>
                    <a:p>
                      <a:r>
                        <a:rPr sz="1725" b="1">
                          <a:solidFill>
                            <a:srgbClr val="FFFFFF"/>
                          </a:solidFill>
                          <a:latin typeface="Noto Sans"/>
                          <a:ea typeface="Noto Sans"/>
                          <a:cs typeface="Noto Sans"/>
                        </a:rPr>
                        <a:t>Meaning</a:t>
                      </a:r>
                    </a:p>
                  </a:txBody>
                  <a:tcPr marL="95250" marR="95250" marT="57150" marB="57150">
                    <a:solidFill>
                      <a:srgbClr val="22577A"/>
                    </a:solidFill>
                  </a:tcPr>
                </a:tc>
              </a:tr>
              <a:tr h="382732">
                <a:tc>
                  <a:txBody>
                    <a:bodyPr/>
                    <a:lstStyle/>
                    <a:p>
                      <a:r>
                        <a:rPr sz="1650" b="0">
                          <a:solidFill>
                            <a:srgbClr val="26333C"/>
                          </a:solidFill>
                          <a:latin typeface="Noto Sans"/>
                          <a:ea typeface="Noto Sans"/>
                          <a:cs typeface="Noto Sans"/>
                        </a:rPr>
                        <a:t>gaze_valid</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true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Temporal gaze sufficiency</a:t>
                      </a:r>
                    </a:p>
                  </a:txBody>
                  <a:tcPr marL="95250" marR="95250" marT="57150" marB="57150">
                    <a:solidFill>
                      <a:srgbClr val="DDECF2"/>
                    </a:solidFill>
                  </a:tcPr>
                </a:tc>
              </a:tr>
              <a:tr h="382732">
                <a:tc>
                  <a:txBody>
                    <a:bodyPr/>
                    <a:lstStyle/>
                    <a:p>
                      <a:r>
                        <a:rPr sz="1650" b="0">
                          <a:solidFill>
                            <a:srgbClr val="26333C"/>
                          </a:solidFill>
                          <a:latin typeface="Noto Sans"/>
                          <a:ea typeface="Noto Sans"/>
                          <a:cs typeface="Noto Sans"/>
                        </a:rPr>
                        <a:t>distance_trend_valid</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true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Trust fitted separation trend</a:t>
                      </a:r>
                    </a:p>
                  </a:txBody>
                  <a:tcPr marL="95250" marR="95250" marT="57150" marB="57150">
                    <a:solidFill>
                      <a:srgbClr val="F3F0E7"/>
                    </a:solidFill>
                  </a:tcPr>
                </a:tc>
              </a:tr>
              <a:tr h="382732">
                <a:tc>
                  <a:txBody>
                    <a:bodyPr/>
                    <a:lstStyle/>
                    <a:p>
                      <a:r>
                        <a:rPr sz="1650" b="0">
                          <a:solidFill>
                            <a:srgbClr val="26333C"/>
                          </a:solidFill>
                          <a:latin typeface="Noto Sans"/>
                          <a:ea typeface="Noto Sans"/>
                          <a:cs typeface="Noto Sans"/>
                        </a:rPr>
                        <a:t>latest_distance_valid</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true</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Use current measured distance</a:t>
                      </a:r>
                    </a:p>
                  </a:txBody>
                  <a:tcPr marL="95250" marR="95250" marT="57150" marB="57150">
                    <a:solidFill>
                      <a:srgbClr val="DDECF2"/>
                    </a:solidFill>
                  </a:tcPr>
                </a:tc>
              </a:tr>
              <a:tr h="382732">
                <a:tc>
                  <a:txBody>
                    <a:bodyPr/>
                    <a:lstStyle/>
                    <a:p>
                      <a:r>
                        <a:rPr sz="1650" b="0">
                          <a:solidFill>
                            <a:srgbClr val="26333C"/>
                          </a:solidFill>
                          <a:latin typeface="Noto Sans"/>
                          <a:ea typeface="Noto Sans"/>
                          <a:cs typeface="Noto Sans"/>
                        </a:rPr>
                        <a:t>latest_gaze_looking</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false</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Current hysteresis classification</a:t>
                      </a:r>
                    </a:p>
                  </a:txBody>
                  <a:tcPr marL="95250" marR="95250" marT="57150" marB="57150">
                    <a:solidFill>
                      <a:srgbClr val="F3F0E7"/>
                    </a:solidFill>
                  </a:tcPr>
                </a:tc>
              </a:tr>
              <a:tr h="382732">
                <a:tc>
                  <a:txBody>
                    <a:bodyPr/>
                    <a:lstStyle/>
                    <a:p>
                      <a:r>
                        <a:rPr sz="1650" b="0">
                          <a:solidFill>
                            <a:srgbClr val="26333C"/>
                          </a:solidFill>
                          <a:latin typeface="Noto Sans"/>
                          <a:ea typeface="Noto Sans"/>
                          <a:cs typeface="Noto Sans"/>
                        </a:rPr>
                        <a:t>latest_gaze_overlap</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0.8352</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Current measured gaze score</a:t>
                      </a:r>
                    </a:p>
                  </a:txBody>
                  <a:tcPr marL="95250" marR="95250" marT="57150" marB="57150">
                    <a:solidFill>
                      <a:srgbClr val="DDECF2"/>
                    </a:solidFill>
                  </a:tcPr>
                </a:tc>
              </a:tr>
              <a:tr h="382732">
                <a:tc>
                  <a:txBody>
                    <a:bodyPr/>
                    <a:lstStyle/>
                    <a:p>
                      <a:r>
                        <a:rPr sz="1650" b="0">
                          <a:solidFill>
                            <a:srgbClr val="26333C"/>
                          </a:solidFill>
                          <a:latin typeface="Noto Sans"/>
                          <a:ea typeface="Noto Sans"/>
                          <a:cs typeface="Noto Sans"/>
                        </a:rPr>
                        <a:t>looking_exit_threshold</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0.9500</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Effective sample exit threshold</a:t>
                      </a:r>
                    </a:p>
                  </a:txBody>
                  <a:tcPr marL="95250" marR="95250" marT="57150" marB="57150">
                    <a:solidFill>
                      <a:srgbClr val="F3F0E7"/>
                    </a:solidFill>
                  </a:tcPr>
                </a:tc>
              </a:tr>
              <a:tr h="382732">
                <a:tc>
                  <a:txBody>
                    <a:bodyPr/>
                    <a:lstStyle/>
                    <a:p>
                      <a:r>
                        <a:rPr sz="1650" b="0">
                          <a:solidFill>
                            <a:srgbClr val="26333C"/>
                          </a:solidFill>
                          <a:latin typeface="Noto Sans"/>
                          <a:ea typeface="Noto Sans"/>
                          <a:cs typeface="Noto Sans"/>
                        </a:rPr>
                        <a:t>looking_bouts</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1</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Measured looking episode count</a:t>
                      </a:r>
                    </a:p>
                  </a:txBody>
                  <a:tcPr marL="95250" marR="95250" marT="57150" marB="57150">
                    <a:solidFill>
                      <a:srgbClr val="DDECF2"/>
                    </a:solidFill>
                  </a:tcPr>
                </a:tc>
              </a:tr>
              <a:tr h="382732">
                <a:tc>
                  <a:txBody>
                    <a:bodyPr/>
                    <a:lstStyle/>
                    <a:p>
                      <a:r>
                        <a:rPr sz="1650" b="0">
                          <a:solidFill>
                            <a:srgbClr val="26333C"/>
                          </a:solidFill>
                          <a:latin typeface="Noto Sans"/>
                          <a:ea typeface="Noto Sans"/>
                          <a:cs typeface="Noto Sans"/>
                        </a:rPr>
                        <a:t>looking_time_s</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0.0853</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Covered looking duration</a:t>
                      </a:r>
                    </a:p>
                  </a:txBody>
                  <a:tcPr marL="95250" marR="95250" marT="57150" marB="57150">
                    <a:solidFill>
                      <a:srgbClr val="F3F0E7"/>
                    </a:solidFill>
                  </a:tcPr>
                </a:tc>
              </a:tr>
              <a:tr h="382732">
                <a:tc>
                  <a:txBody>
                    <a:bodyPr/>
                    <a:lstStyle/>
                    <a:p>
                      <a:r>
                        <a:rPr sz="1650" b="0">
                          <a:solidFill>
                            <a:srgbClr val="26333C"/>
                          </a:solidFill>
                          <a:latin typeface="Noto Sans"/>
                          <a:ea typeface="Noto Sans"/>
                          <a:cs typeface="Noto Sans"/>
                        </a:rPr>
                        <a:t>gaze_fraction</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0.1229</a:t>
                      </a:r>
                    </a:p>
                  </a:txBody>
                  <a:tcPr marL="95250" marR="95250" marT="57150" marB="57150">
                    <a:solidFill>
                      <a:srgbClr val="DDECF2"/>
                    </a:solidFill>
                  </a:tcPr>
                </a:tc>
                <a:tc>
                  <a:txBody>
                    <a:bodyPr/>
                    <a:lstStyle/>
                    <a:p>
                      <a:r>
                        <a:rPr sz="1650" b="0">
                          <a:solidFill>
                            <a:srgbClr val="26333C"/>
                          </a:solidFill>
                          <a:latin typeface="Noto Sans"/>
                          <a:ea typeface="Noto Sans"/>
                          <a:cs typeface="Noto Sans"/>
                        </a:rPr>
                        <a:t>Looking time / covered time</a:t>
                      </a:r>
                    </a:p>
                  </a:txBody>
                  <a:tcPr marL="95250" marR="95250" marT="57150" marB="57150">
                    <a:solidFill>
                      <a:srgbClr val="DDECF2"/>
                    </a:solidFill>
                  </a:tcPr>
                </a:tc>
              </a:tr>
              <a:tr h="382732">
                <a:tc>
                  <a:txBody>
                    <a:bodyPr/>
                    <a:lstStyle/>
                    <a:p>
                      <a:r>
                        <a:rPr sz="1650" b="0">
                          <a:solidFill>
                            <a:srgbClr val="26333C"/>
                          </a:solidFill>
                          <a:latin typeface="Noto Sans"/>
                          <a:ea typeface="Noto Sans"/>
                          <a:cs typeface="Noto Sans"/>
                        </a:rPr>
                        <a:t>sustained_gaze_s</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0</a:t>
                      </a:r>
                    </a:p>
                  </a:txBody>
                  <a:tcPr marL="95250" marR="95250" marT="57150" marB="57150">
                    <a:solidFill>
                      <a:srgbClr val="F3F0E7"/>
                    </a:solidFill>
                  </a:tcPr>
                </a:tc>
                <a:tc>
                  <a:txBody>
                    <a:bodyPr/>
                    <a:lstStyle/>
                    <a:p>
                      <a:r>
                        <a:rPr sz="1650" b="0">
                          <a:solidFill>
                            <a:srgbClr val="26333C"/>
                          </a:solidFill>
                          <a:latin typeface="Noto Sans"/>
                          <a:ea typeface="Noto Sans"/>
                          <a:cs typeface="Noto Sans"/>
                        </a:rPr>
                        <a:t>Trailing continuous looking run</a:t>
                      </a:r>
                    </a:p>
                  </a:txBody>
                  <a:tcPr marL="95250" marR="95250" marT="57150" marB="57150">
                    <a:solidFill>
                      <a:srgbClr val="F3F0E7"/>
                    </a:solidFill>
                  </a:tcPr>
                </a:tc>
              </a:tr>
            </a:tbl>
          </a:graphicData>
        </a:graphic>
      </p:graphicFrame>
      <p:sp>
        <p:nvSpPr>
          <p:cNvPr id="7" name="">
            <a:extLst xmlns:a="http://schemas.openxmlformats.org/drawingml/2006/main">
              <a:ext uri="{FF2B5EF4-FFF2-40B4-BE49-F238E27FC236}">
                <a16:creationId xmlns:a16="http://schemas.microsoft.com/office/drawing/2014/main" id="{EF478FD9-EE7F-4553-9F1A-82A3C1ACEDD0}"/>
              </a:ext>
            </a:extLst>
          </p:cNvPr>
          <p:cNvSpPr>
            <a:spLocks xmlns:a="http://schemas.openxmlformats.org/drawingml/2006/main" noGrp="1"/>
          </p:cNvSpPr>
          <p:nvPr/>
        </p:nvSpPr>
        <p:spPr>
          <a:xfrm xmlns:a="http://schemas.openxmlformats.org/drawingml/2006/main">
            <a:off x="571500" y="58578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437E9D"/>
                </a:solidFill>
                <a:latin typeface="Noto Sans"/>
                <a:ea typeface="Noto Sans"/>
                <a:cs typeface="Noto Sans"/>
              </a:defRPr>
            </a:pPr>
            <a:r>
              <a:rPr sz="1350" b="0">
                <a:solidFill>
                  <a:srgbClr val="437E9D"/>
                </a:solidFill>
                <a:latin typeface="Noto Sans"/>
                <a:ea typeface="Noto Sans"/>
                <a:cs typeface="Noto Sans"/>
              </a:rPr>
              <a:t>Displayed values are rounded. Model input preserves exact numeric operands and validity flags.</a:t>
            </a:r>
          </a:p>
        </p:txBody>
      </p:sp>
    </p:spTree>
    <p:extLst>
      <p:ext uri="{BB962C8B-B14F-4D97-AF65-F5344CB8AC3E}">
        <p14:creationId xmlns:p14="http://schemas.microsoft.com/office/powerpoint/2010/main" val="6495456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2026-10-12T23:02:14.0210000Z</dcterms:created>
  <dcterms:modified xsi:type="dcterms:W3CDTF">2026-10-12T23:02:14.0220000Z</dcterms:modified>
</coreProperties>
</file>