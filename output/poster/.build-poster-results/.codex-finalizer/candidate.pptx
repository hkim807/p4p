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b3eb7965f64e68" /><Relationship Type="http://schemas.openxmlformats.org/officeDocument/2006/relationships/extended-properties" Target="/docProps/app.xml" Id="R2c0965f5b7814ce5" /><Relationship Type="http://schemas.openxmlformats.org/officeDocument/2006/relationships/officeDocument" Target="/ppt/presentation.xml" Id="R4b776434dc0f47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74d9449eed4c1a"/>
  </p:sldMasterIdLst>
  <p:notesMasterIdLst>
    <p:notesMasterId xmlns:r="http://schemas.openxmlformats.org/officeDocument/2006/relationships" r:id="R8ccd82eefdb84917"/>
  </p:notesMasterIdLst>
  <p:sldIdLst>
    <p:sldId xmlns:r="http://schemas.openxmlformats.org/officeDocument/2006/relationships" id="256" r:id="R2ebe20fb5db042d6"/>
  </p:sldIdLst>
  <p:sldSz cx="21383625" cy="3027521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b1d141fd43408b" /><Relationship Type="http://schemas.openxmlformats.org/officeDocument/2006/relationships/slideMaster" Target="/ppt/slideMasters/slideMaster1.xml" Id="R9b74d9449eed4c1a" /><Relationship Type="http://schemas.openxmlformats.org/officeDocument/2006/relationships/notesMaster" Target="/ppt/notesMasters/notesMaster1.xml" Id="R8ccd82eefdb84917" /><Relationship Type="http://schemas.openxmlformats.org/officeDocument/2006/relationships/presProps" Target="/ppt/presProps.xml" Id="R76886b40c7e04d8a" /><Relationship Type="http://schemas.openxmlformats.org/officeDocument/2006/relationships/viewProps" Target="/ppt/viewProps.xml" Id="Rb88600f4541f479b" /><Relationship Type="http://schemas.openxmlformats.org/officeDocument/2006/relationships/tableStyles" Target="/ppt/tableStyles.xml" Id="R64e4d19e2ed3491a" /><Relationship Type="http://schemas.openxmlformats.org/officeDocument/2006/relationships/slide" Target="/ppt/slides/slide1.xml" Id="R2ebe20fb5db042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083a15e60247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17f64a8bae4716" /><Relationship Type="http://schemas.openxmlformats.org/officeDocument/2006/relationships/notesMaster" Target="/ppt/notesMasters/notesMaster1.xml" Id="R52dc2be695ce4e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Draft poster for Project 59. Students: Eddie Kim and Jeruh Kim. Supervisor: Ho Seok Ahn. Contact: hkim807@aucklanduni.ac.nz.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Sources: /Users/</a:t>
            </a:r>
            <a:r>
              <a:t>eddiekim</a:t>
            </a:r>
            <a:r>
              <a:t>/Downloads/Poster Design </a:t>
            </a:r>
            <a:r>
              <a:t>Guide.pdf</a:t>
            </a:r>
            <a:r>
              <a:t> (A1 portrait, required fields, PDF &lt;50 MB). Its 2024 deadline is historical. /Users/</a:t>
            </a:r>
            <a:r>
              <a:t>eddiekim</a:t>
            </a:r>
            <a:r>
              <a:t>/Downloads/Speech_Nilushika2023.pdf. Layout reference: /Users/</a:t>
            </a:r>
            <a:r>
              <a:t>eddiekim</a:t>
            </a:r>
            <a:r>
              <a:t>/Downloads/Poster_77 (1).pdf.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Survey source: /Users/</a:t>
            </a:r>
            <a:r>
              <a:t>eddiekim</a:t>
            </a:r>
            <a:r>
              <a:t>/Downloads/Human Evaluation of Robot </a:t>
            </a:r>
            <a:r>
              <a:t>Behaviour</a:t>
            </a:r>
            <a:r>
              <a:t> (Responses).xlsx, Form responses 1. Preference counts and all 36 rating means independently verified against config/human-</a:t>
            </a:r>
            <a:r>
              <a:t>reference.json</a:t>
            </a:r>
            <a:r>
              <a:t>. Every preference bar sums to 37. Unable to judge is a survey response, not an action.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Pipeline source: docs/results/first-action-live-output/</a:t>
            </a:r>
            <a:r>
              <a:t>results.csv</a:t>
            </a:r>
            <a:r>
              <a:t>, </a:t>
            </a:r>
            <a:r>
              <a:t>report.md</a:t>
            </a:r>
            <a:r>
              <a:t>, </a:t>
            </a:r>
            <a:r>
              <a:t>verification.json</a:t>
            </a:r>
            <a:r>
              <a:t>. Nine SDK captures, first valid policy output, identical initial eligible states. qwen2.5:7b, temperature 0, seed 42, warmed model. Times are from replay start, not inference latency. All actions NOT_EXECUTED_OFFLINE.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Both policies produce outputs in S2,S3,S9. Six no-action cases remain in coverage denominator. LLM outputs fail live-client acceptance (S2 stale observation, S3 gaze not ready, S9 person no longer visible). Acceptance/timings reflect one development replay and may vary.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The survey clips are trimmed and trim offsets are unavailable. This prevents survey-end human-alignment scoring. Initial survey is completed. Human evaluation of actual completed-system </a:t>
            </a:r>
            <a:r>
              <a:t>behaviour</a:t>
            </a:r>
            <a:r>
              <a:t> is future work. Do not claim VLM/hybrid results or policy superiority.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Navel product image: https://</a:t>
            </a:r>
            <a:r>
              <a:t>navelrobotics.com</a:t>
            </a:r>
            <a:r>
              <a:t>/wp-content/uploads/2025/02/Navel0157-scaled.jpg via https://</a:t>
            </a:r>
            <a:r>
              <a:t>navelrobotics.com</a:t>
            </a:r>
            <a:r>
              <a:t>/</a:t>
            </a:r>
            <a:r>
              <a:t>en</a:t>
            </a:r>
            <a:r>
              <a:t>/navel-the-new-empathy-robot-for-good-care/. University logo extracted unchanged from supplied exemplar. Official department logo is a labelled draft field. No sponsor confirmed.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Fonts Rubik and Noto Sans are design selections evoking the robot, not verified official brand fonts.</a:t>
            </a:r>
          </a:p>
          <a:p xmlns:a="http://schemas.openxmlformats.org/drawingml/2006/main">
            <a:r>
              <a:t>
Evaluation sources: var/evaluation/poster-20261011-final-first-output-01/graph_data/scenario_comparison.csv and first_output_coverage.csv; output/poster/Evaluation_Findings_and_Poster_Plan_2026-10-11.md. Numbers describe the final scenario preset, first validated policy output, three paired replays, and offline SingleTrial client acceptance. First-output elapsed time includes evidence accumulation. Survey responses concern video endings and were not scored against these outputs. No physical execution.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22d0d80024b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ebc01f9b94321" /><Relationship Type="http://schemas.openxmlformats.org/officeDocument/2006/relationships/slideLayout" Target="/ppt/slideLayouts/slideLayout1.xml" Id="R2b9cb0ed926147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9cb0ed926147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64d90159d4df0" /><Relationship Type="http://schemas.openxmlformats.org/officeDocument/2006/relationships/image" Target="/ppt/media/image.jpeg" Id="R976a7ce2c9c849ac" /><Relationship Type="http://schemas.openxmlformats.org/officeDocument/2006/relationships/image" Target="/ppt/media/image.png" Id="R09a7e65b4c0940c3" /><Relationship Type="http://schemas.openxmlformats.org/officeDocument/2006/relationships/hyperlink" Target="mailto:hkim807@aucklanduni.ac.nz" TargetMode="External" Id="R3290d833ceca43a5" /><Relationship Type="http://schemas.openxmlformats.org/officeDocument/2006/relationships/hyperlink" Target="mailto:jkim828@aucklanduni.ac.nz" TargetMode="External" Id="Rd23dcdb59f2845ea" /><Relationship Type="http://schemas.openxmlformats.org/officeDocument/2006/relationships/notesSlide" Target="/ppt/notesSlides/notesSlide1.xml" Id="Rea7f62c47a8746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project">
            <a:extLst xmlns:a="http://schemas.openxmlformats.org/drawingml/2006/main">
              <a:ext uri="{FF2B5EF4-FFF2-40B4-BE49-F238E27FC236}">
                <a16:creationId xmlns:a16="http://schemas.microsoft.com/office/drawing/2014/main" id="{2A7EC6C2-59DA-4ACC-AA02-99E5DC3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36087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0">
                <a:solidFill>
                  <a:srgbClr val="22577A"/>
                </a:solidFill>
                <a:latin typeface="Rubik"/>
                <a:ea typeface="Rubik"/>
                <a:cs typeface="Rubik"/>
              </a:rPr>
              <a:t>Project 59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8635283-631E-4062-99AB-EA8238BE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78302"/>
            <a:ext cx="1566862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0" b="1">
                <a:solidFill>
                  <a:srgbClr val="26333C"/>
                </a:solidFill>
                <a:latin typeface="Rubik"/>
                <a:ea typeface="Rubik"/>
                <a:cs typeface="Rubik"/>
              </a:defRPr>
            </a:pPr>
            <a:r>
              <a:rPr sz="9000" b="1">
                <a:solidFill>
                  <a:srgbClr val="26333C"/>
                </a:solidFill>
                <a:latin typeface="Rubik"/>
                <a:ea typeface="Rubik"/>
                <a:cs typeface="Rubik"/>
              </a:rPr>
              <a:t>Interactive Social Guide Robot</a:t>
            </a:r>
            <a:endParaRPr sz="9000" b="1">
              <a:solidFill>
                <a:srgbClr val="26333C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232AEDB-F49B-42E1-9285-C681E835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86" y="2626807"/>
            <a:ext cx="17208713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Decision making using</a:t>
            </a:r>
            <a:r>
              <a: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36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 rule-based</a:t>
            </a:r>
            <a:r>
              <a: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and </a:t>
            </a:r>
            <a:r>
              <a: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an LLM-integrated navigation pipeline</a:t>
            </a:r>
            <a:endParaRPr sz="3600" b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pic>
        <p:nvPicPr>
          <p:cNvPr id="489" name="Picture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a7ce2c9c849ac"/>
          <a:srcRect xmlns:a="http://schemas.openxmlformats.org/drawingml/2006/main" l="0" t="11454" r="0" b="10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65191" y="309343"/>
            <a:ext cx="2770682" cy="3234615"/>
          </a:xfrm>
          <a:prstGeom xmlns:a="http://schemas.openxmlformats.org/drawingml/2006/main" prst="rect">
            <a:avLst/>
          </a:prstGeom>
        </p:spPr>
      </p:pic>
      <p:sp>
        <p:nvSpPr>
          <p:cNvPr id="5" name="background-shadow">
            <a:extLst xmlns:a="http://schemas.openxmlformats.org/drawingml/2006/main">
              <a:ext uri="{FF2B5EF4-FFF2-40B4-BE49-F238E27FC236}">
                <a16:creationId xmlns:a16="http://schemas.microsoft.com/office/drawing/2014/main" id="{FECD6F3E-ABC2-45EC-9C99-11DF547E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17" y="4290502"/>
            <a:ext cx="94537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background-panel">
            <a:extLst xmlns:a="http://schemas.openxmlformats.org/drawingml/2006/main">
              <a:ext uri="{FF2B5EF4-FFF2-40B4-BE49-F238E27FC236}">
                <a16:creationId xmlns:a16="http://schemas.microsoft.com/office/drawing/2014/main" id="{2FD0C7CA-023B-466A-823F-81922E9A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42" y="4138102"/>
            <a:ext cx="94537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background-tab">
            <a:extLst xmlns:a="http://schemas.openxmlformats.org/drawingml/2006/main">
              <a:ext uri="{FF2B5EF4-FFF2-40B4-BE49-F238E27FC236}">
                <a16:creationId xmlns:a16="http://schemas.microsoft.com/office/drawing/2014/main" id="{EECFFCBF-D181-43E2-AD94-1FE7BF2B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43" y="3614227"/>
            <a:ext cx="4029006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background-heading">
            <a:extLst xmlns:a="http://schemas.openxmlformats.org/drawingml/2006/main">
              <a:ext uri="{FF2B5EF4-FFF2-40B4-BE49-F238E27FC236}">
                <a16:creationId xmlns:a16="http://schemas.microsoft.com/office/drawing/2014/main" id="{AC3D33DA-E183-4976-80EB-79E5D1B8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917" y="3652327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5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Background</a:t>
            </a:r>
          </a:p>
        </p:txBody>
      </p:sp>
      <p:sp>
        <p:nvSpPr>
          <p:cNvPr id="9" name="background-body">
            <a:extLst xmlns:a="http://schemas.openxmlformats.org/drawingml/2006/main">
              <a:ext uri="{FF2B5EF4-FFF2-40B4-BE49-F238E27FC236}">
                <a16:creationId xmlns:a16="http://schemas.microsoft.com/office/drawing/2014/main" id="{ABB59DFD-C7D1-47C5-905B-78D327EA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87" y="4819239"/>
            <a:ext cx="87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33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 guide robot must </a:t>
            </a:r>
            <a:r>
              <a:rPr sz="33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recognise</a:t>
            </a:r>
            <a:r>
              <a:rPr sz="33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interest in interaction</a:t>
            </a:r>
            <a:r>
              <a:rPr sz="33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while roaming the laboratory. </a:t>
            </a:r>
            <a:r>
              <a:rPr sz="33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Changing gaze and distance, and missed detections, make this decision difficult.</a:t>
            </a:r>
          </a:p>
        </p:txBody>
      </p:sp>
      <p:sp>
        <p:nvSpPr>
          <p:cNvPr id="10" name="objective-shadow">
            <a:extLst xmlns:a="http://schemas.openxmlformats.org/drawingml/2006/main">
              <a:ext uri="{FF2B5EF4-FFF2-40B4-BE49-F238E27FC236}">
                <a16:creationId xmlns:a16="http://schemas.microsoft.com/office/drawing/2014/main" id="{15597DCE-276C-465F-81BF-9FE419D4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167" y="4290502"/>
            <a:ext cx="94537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objective-panel">
            <a:extLst xmlns:a="http://schemas.openxmlformats.org/drawingml/2006/main">
              <a:ext uri="{FF2B5EF4-FFF2-40B4-BE49-F238E27FC236}">
                <a16:creationId xmlns:a16="http://schemas.microsoft.com/office/drawing/2014/main" id="{BA295997-ECD8-4693-981E-0D36C2CD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292" y="4138102"/>
            <a:ext cx="94537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bjective-tab">
            <a:extLst xmlns:a="http://schemas.openxmlformats.org/drawingml/2006/main">
              <a:ext uri="{FF2B5EF4-FFF2-40B4-BE49-F238E27FC236}">
                <a16:creationId xmlns:a16="http://schemas.microsoft.com/office/drawing/2014/main" id="{02E29F47-1C3A-42A1-9819-2ECA5A47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292" y="3614227"/>
            <a:ext cx="3312348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bjective-heading">
            <a:extLst xmlns:a="http://schemas.openxmlformats.org/drawingml/2006/main">
              <a:ext uri="{FF2B5EF4-FFF2-40B4-BE49-F238E27FC236}">
                <a16:creationId xmlns:a16="http://schemas.microsoft.com/office/drawing/2014/main" id="{9B130B3E-369B-4BF3-9128-82E43AB9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5167" y="367807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5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Objective</a:t>
            </a:r>
          </a:p>
        </p:txBody>
      </p:sp>
      <p:sp>
        <p:nvSpPr>
          <p:cNvPr id="14" name="objective-body">
            <a:extLst xmlns:a="http://schemas.openxmlformats.org/drawingml/2006/main">
              <a:ext uri="{FF2B5EF4-FFF2-40B4-BE49-F238E27FC236}">
                <a16:creationId xmlns:a16="http://schemas.microsoft.com/office/drawing/2014/main" id="{548ACFB3-AE68-4804-911D-F6B919A7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5629" y="4770644"/>
            <a:ext cx="878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33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Develop a temporal social-state pipeline for Navel to support a comparison and eva</a:t>
            </a:r>
            <a:r>
              <a:rPr sz="33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luation</a:t>
            </a:r>
            <a:r>
              <a:rPr sz="33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of rule-based and LLM decisions in navigation scenarios</a:t>
            </a:r>
            <a:endParaRPr sz="3300" b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5" name="research-question-shadow">
            <a:extLst xmlns:a="http://schemas.openxmlformats.org/drawingml/2006/main">
              <a:ext uri="{FF2B5EF4-FFF2-40B4-BE49-F238E27FC236}">
                <a16:creationId xmlns:a16="http://schemas.microsoft.com/office/drawing/2014/main" id="{C5122651-93B6-4D4F-9012-1B81C6B9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1" y="7852852"/>
            <a:ext cx="19479000" cy="1574041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search-question-band">
            <a:extLst xmlns:a="http://schemas.openxmlformats.org/drawingml/2006/main">
              <a:ext uri="{FF2B5EF4-FFF2-40B4-BE49-F238E27FC236}">
                <a16:creationId xmlns:a16="http://schemas.microsoft.com/office/drawing/2014/main" id="{3C4C04D3-D612-4B07-A71B-4709BD9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16" y="7709977"/>
            <a:ext cx="19479000" cy="1574041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EECBF27F-9D8C-42F9-8FD0-B76B029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967" y="7926670"/>
            <a:ext cx="8587371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500"/>
              <a:t>How can gaze and distance observations over time be structured into a shared social-state representation for rule-based and LLM decision-making?</a:t>
            </a:r>
          </a:p>
        </p:txBody>
      </p:sp>
      <p:sp>
        <p:nvSpPr>
          <p:cNvPr id="37" name="results-shadow">
            <a:extLst xmlns:a="http://schemas.openxmlformats.org/drawingml/2006/main">
              <a:ext uri="{FF2B5EF4-FFF2-40B4-BE49-F238E27FC236}">
                <a16:creationId xmlns:a16="http://schemas.microsoft.com/office/drawing/2014/main" id="{16B39896-3D9B-476C-A1F9-067C6B8A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541642"/>
            <a:ext cx="19479000" cy="7172859"/>
          </a:xfrm>
          <a:prstGeom xmlns:a="http://schemas.openxmlformats.org/drawingml/2006/main" prst="roundRect">
            <a:avLst>
              <a:gd name="adj" fmla="val 947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sults-panel">
            <a:extLst xmlns:a="http://schemas.openxmlformats.org/drawingml/2006/main">
              <a:ext uri="{FF2B5EF4-FFF2-40B4-BE49-F238E27FC236}">
                <a16:creationId xmlns:a16="http://schemas.microsoft.com/office/drawing/2014/main" id="{52D53336-98E2-41E1-A0A9-1FC2CB4D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85605"/>
            <a:ext cx="19479000" cy="7153131"/>
          </a:xfrm>
          <a:prstGeom xmlns:a="http://schemas.openxmlformats.org/drawingml/2006/main" prst="roundRect">
            <a:avLst>
              <a:gd name="adj" fmla="val 947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conclusion-shadow">
            <a:extLst xmlns:a="http://schemas.openxmlformats.org/drawingml/2006/main">
              <a:ext uri="{FF2B5EF4-FFF2-40B4-BE49-F238E27FC236}">
                <a16:creationId xmlns:a16="http://schemas.microsoft.com/office/drawing/2014/main" id="{1E319BA1-33D2-45ED-8C4A-5C543D6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629090"/>
            <a:ext cx="19479000" cy="306923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E74B29A4-38F3-4E43-81A2-503AA2E2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476690"/>
            <a:ext cx="19479000" cy="306923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conclusion-tab">
            <a:extLst xmlns:a="http://schemas.openxmlformats.org/drawingml/2006/main">
              <a:ext uri="{FF2B5EF4-FFF2-40B4-BE49-F238E27FC236}">
                <a16:creationId xmlns:a16="http://schemas.microsoft.com/office/drawing/2014/main" id="{A7B80AB1-7D28-4B62-8592-297670C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2815"/>
            <a:ext cx="7864929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conclusion-heading">
            <a:extLst xmlns:a="http://schemas.openxmlformats.org/drawingml/2006/main">
              <a:ext uri="{FF2B5EF4-FFF2-40B4-BE49-F238E27FC236}">
                <a16:creationId xmlns:a16="http://schemas.microsoft.com/office/drawing/2014/main" id="{08169525-2540-42A9-992F-A469867F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948" y="25028441"/>
            <a:ext cx="102012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0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Conclusion</a:t>
            </a:r>
            <a:r>
              <a:rPr sz="50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 and future work</a:t>
            </a:r>
            <a:endParaRPr sz="5000" b="1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pic>
        <p:nvPicPr>
          <p:cNvPr id="509" name="Picture 1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7e65b4c0940c3"/>
          <a:stretch xmlns:a="http://schemas.openxmlformats.org/drawingml/2006/main"/>
        </p:blipFill>
        <p:spPr>
          <a:xfrm xmlns:a="http://schemas.openxmlformats.org/drawingml/2006/main">
            <a:off x="17673572" y="28496233"/>
            <a:ext cx="2900803" cy="1470975"/>
          </a:xfrm>
          <a:prstGeom xmlns:a="http://schemas.openxmlformats.org/drawingml/2006/main" prst="rect">
            <a:avLst/>
          </a:prstGeom>
        </p:spPr>
      </p:pic>
      <p:sp>
        <p:nvSpPr>
          <p:cNvPr id="66" name="students">
            <a:extLst xmlns:a="http://schemas.openxmlformats.org/drawingml/2006/main">
              <a:ext uri="{FF2B5EF4-FFF2-40B4-BE49-F238E27FC236}">
                <a16:creationId xmlns:a16="http://schemas.microsoft.com/office/drawing/2014/main" id="{1789226E-C70C-47AC-A67F-8D3A224E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86" y="2870784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26333C"/>
                </a:solidFill>
                <a:latin typeface="Rubik"/>
                <a:ea typeface="Rubik"/>
                <a:cs typeface="Rubik"/>
              </a:defRPr>
            </a:pPr>
            <a:r>
              <a:rPr sz="2600" b="1">
                <a:solidFill>
                  <a:srgbClr val="26333C"/>
                </a:solidFill>
                <a:latin typeface="Rubik"/>
                <a:ea typeface="Rubik"/>
                <a:cs typeface="Rubik"/>
              </a:rPr>
              <a:t>By </a:t>
            </a:r>
            <a:r>
              <a:rPr sz="2600" b="1">
                <a:solidFill>
                  <a:srgbClr val="26333C"/>
                </a:solidFill>
                <a:latin typeface="Rubik"/>
                <a:ea typeface="Rubik"/>
                <a:cs typeface="Rubik"/>
              </a:rPr>
              <a:t>Eddie Kim and Jeruh Kim</a:t>
            </a:r>
          </a:p>
        </p:txBody>
      </p:sp>
      <p:sp>
        <p:nvSpPr>
          <p:cNvPr id="68" name="contact">
            <a:extLst xmlns:a="http://schemas.openxmlformats.org/drawingml/2006/main">
              <a:ext uri="{FF2B5EF4-FFF2-40B4-BE49-F238E27FC236}">
                <a16:creationId xmlns:a16="http://schemas.microsoft.com/office/drawing/2014/main" id="{045F7B05-C452-42AF-8EB6-B0547F1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71" y="29127526"/>
            <a:ext cx="8286750" cy="731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0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Contact: </a:t>
            </a:r>
            <a:r>
              <a:rPr sz="2000" b="0">
                <a:solidFill>
                  <a:srgbClr val="26333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3290d833ceca43a5"/>
              </a:rPr>
              <a:t>hkim807@aucklanduni.ac.nz</a:t>
            </a:r>
            <a:r>
              <a:rPr sz="20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sz="2000" b="0">
                <a:solidFill>
                  <a:srgbClr val="26333C"/>
                </a:solidFill>
                <a:latin typeface="Noto Sans"/>
                <a:ea typeface="Noto Sans"/>
                <a:cs typeface="Noto Sans"/>
                <a:hlinkClick xmlns:r="http://schemas.openxmlformats.org/officeDocument/2006/relationships" r:id="Rd23dcdb59f2845ea"/>
              </a:rPr>
              <a:t>jkim828@aucklanduni.ac.nz</a:t>
            </a:r>
            <a:r>
              <a:rPr sz="20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 </a:t>
            </a:r>
          </a:p>
          <a:p xmlns:a="http://schemas.openxmlformats.org/drawingml/2006/main">
            <a:pPr algn="l">
              <a:buNone/>
              <a:defRPr sz="30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0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Supervisor: Ho Seok Ahn</a:t>
            </a:r>
            <a:endParaRPr sz="2000" b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4" name="background-tab">
            <a:extLst xmlns:a="http://schemas.openxmlformats.org/drawingml/2006/main">
              <a:ext uri="{FF2B5EF4-FFF2-40B4-BE49-F238E27FC236}">
                <a16:creationId xmlns:a16="http://schemas.microsoft.com/office/drawing/2014/main" id="{4DC686D0-FD66-E695-903F-DBB27649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138" y="8116156"/>
            <a:ext cx="970183" cy="755527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background-heading">
            <a:extLst xmlns:a="http://schemas.openxmlformats.org/drawingml/2006/main">
              <a:ext uri="{FF2B5EF4-FFF2-40B4-BE49-F238E27FC236}">
                <a16:creationId xmlns:a16="http://schemas.microsoft.com/office/drawing/2014/main" id="{352AAAC6-9D43-EA5F-DDFE-62794622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576" y="8184568"/>
            <a:ext cx="1078739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30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RQ1</a:t>
            </a:r>
            <a:endParaRPr sz="3000" b="1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3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79B7BB87-8241-45FB-5478-123C5E67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1605" y="7896431"/>
            <a:ext cx="8587371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500"/>
              <a:t>How well can an LLM’s decisions align with human preferences and appropriateness ratings, compared with those of a rule-based policy using the same representation?</a:t>
            </a:r>
          </a:p>
        </p:txBody>
      </p:sp>
      <p:sp>
        <p:nvSpPr>
          <p:cNvPr id="56" name="background-tab">
            <a:extLst xmlns:a="http://schemas.openxmlformats.org/drawingml/2006/main">
              <a:ext uri="{FF2B5EF4-FFF2-40B4-BE49-F238E27FC236}">
                <a16:creationId xmlns:a16="http://schemas.microsoft.com/office/drawing/2014/main" id="{1A56FC65-5CF6-D7C9-598C-6A6C5F55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428" y="8089005"/>
            <a:ext cx="970183" cy="755527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background-heading">
            <a:extLst xmlns:a="http://schemas.openxmlformats.org/drawingml/2006/main">
              <a:ext uri="{FF2B5EF4-FFF2-40B4-BE49-F238E27FC236}">
                <a16:creationId xmlns:a16="http://schemas.microsoft.com/office/drawing/2014/main" id="{516CABBB-5A18-2479-88E9-55CF134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2866" y="8157417"/>
            <a:ext cx="1078739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30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RQ2</a:t>
            </a:r>
            <a:endParaRPr sz="3000" b="1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57" name="research-question-shadow">
            <a:extLst xmlns:a="http://schemas.openxmlformats.org/drawingml/2006/main">
              <a:ext uri="{FF2B5EF4-FFF2-40B4-BE49-F238E27FC236}">
                <a16:creationId xmlns:a16="http://schemas.microsoft.com/office/drawing/2014/main" id="{BD4A0381-D257-E45A-15E5-AE98B4CE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4855" y="10759143"/>
            <a:ext cx="4405406" cy="1795466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8" name="research-question-shadow">
            <a:extLst xmlns:a="http://schemas.openxmlformats.org/drawingml/2006/main">
              <a:ext uri="{FF2B5EF4-FFF2-40B4-BE49-F238E27FC236}">
                <a16:creationId xmlns:a16="http://schemas.microsoft.com/office/drawing/2014/main" id="{CDE99999-45B2-122E-9C8D-6FDE7CC5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09" y="10764904"/>
            <a:ext cx="4405406" cy="1795466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9" name="research-question-shadow">
            <a:extLst xmlns:a="http://schemas.openxmlformats.org/drawingml/2006/main">
              <a:ext uri="{FF2B5EF4-FFF2-40B4-BE49-F238E27FC236}">
                <a16:creationId xmlns:a16="http://schemas.microsoft.com/office/drawing/2014/main" id="{39CC27E7-236C-4983-86D1-0D96B5FA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022" y="10770665"/>
            <a:ext cx="4405406" cy="1795466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0" name="research-question-shadow">
            <a:extLst xmlns:a="http://schemas.openxmlformats.org/drawingml/2006/main">
              <a:ext uri="{FF2B5EF4-FFF2-40B4-BE49-F238E27FC236}">
                <a16:creationId xmlns:a16="http://schemas.microsoft.com/office/drawing/2014/main" id="{0E1EA1C5-544D-6711-925E-67945F8F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235" y="10776604"/>
            <a:ext cx="4405406" cy="1795466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1" name="pipeline-0">
            <a:extLst xmlns:a="http://schemas.openxmlformats.org/drawingml/2006/main">
              <a:ext uri="{FF2B5EF4-FFF2-40B4-BE49-F238E27FC236}">
                <a16:creationId xmlns:a16="http://schemas.microsoft.com/office/drawing/2014/main" id="{52FD9C5F-37DF-6D82-7739-834B35F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10" y="10681355"/>
            <a:ext cx="4405406" cy="1765544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2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C1A03CDE-D40A-80BD-647D-856C3143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775" y="10759490"/>
            <a:ext cx="3986306" cy="54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Navel </a:t>
            </a: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S</a:t>
            </a: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ensors</a:t>
            </a:r>
            <a:endParaRPr sz="3600" b="1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63" name="pipeline-1">
            <a:extLst xmlns:a="http://schemas.openxmlformats.org/drawingml/2006/main">
              <a:ext uri="{FF2B5EF4-FFF2-40B4-BE49-F238E27FC236}">
                <a16:creationId xmlns:a16="http://schemas.microsoft.com/office/drawing/2014/main" id="{544601CF-7E25-1E5F-606F-A445FE3E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941" y="10681355"/>
            <a:ext cx="4405406" cy="1765544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4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A1A36CE3-133A-6938-4533-B2AA05B3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462" y="10777427"/>
            <a:ext cx="3986306" cy="54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Track </a:t>
            </a: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H</a:t>
            </a: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istory</a:t>
            </a:r>
            <a:endParaRPr sz="3600" b="1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65" name="pipeline-2">
            <a:extLst xmlns:a="http://schemas.openxmlformats.org/drawingml/2006/main">
              <a:ext uri="{FF2B5EF4-FFF2-40B4-BE49-F238E27FC236}">
                <a16:creationId xmlns:a16="http://schemas.microsoft.com/office/drawing/2014/main" id="{D07B250D-7997-24BF-E94C-575F0E84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6473" y="10681355"/>
            <a:ext cx="4405406" cy="1765544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6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4CC46A1F-4280-C82B-FEEA-60DE4E6D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4994" y="10777427"/>
            <a:ext cx="3986306" cy="54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Shared </a:t>
            </a: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Social </a:t>
            </a: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S</a:t>
            </a: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tate</a:t>
            </a:r>
            <a:endParaRPr sz="3600" b="1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67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C4676CFB-668A-81CB-12BA-CE607EFF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027" y="11325781"/>
            <a:ext cx="4024406" cy="963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0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 structured summary of the social context </a:t>
            </a:r>
            <a:r>
              <a:rPr sz="20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and available </a:t>
            </a:r>
            <a:r>
              <a:rPr sz="2000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evidence</a:t>
            </a:r>
          </a:p>
        </p:txBody>
      </p:sp>
      <p:sp>
        <p:nvSpPr>
          <p:cNvPr id="368" name="pipeline-3">
            <a:extLst xmlns:a="http://schemas.openxmlformats.org/drawingml/2006/main">
              <a:ext uri="{FF2B5EF4-FFF2-40B4-BE49-F238E27FC236}">
                <a16:creationId xmlns:a16="http://schemas.microsoft.com/office/drawing/2014/main" id="{E6894EDB-6B9A-C257-9B74-65647AB2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1004" y="10681355"/>
            <a:ext cx="4405406" cy="1765544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1905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9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BCF85DA8-1647-F6D7-E841-25E92DDA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04206" y="10777427"/>
            <a:ext cx="3986306" cy="5457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6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Decision Policies</a:t>
            </a:r>
            <a:endParaRPr sz="3600" b="1">
              <a:solidFill>
                <a:srgbClr val="22577A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370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A01B8B75-3A4F-43D4-05D7-9158BA9B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558" y="11359119"/>
            <a:ext cx="4024406" cy="963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0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Rule-based and LLM policies select an action from the same social state</a:t>
            </a:r>
            <a:endParaRPr sz="2000" b="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cxnSp>
        <p:nvCxnSpPr>
          <p:cNvPr id="531" name="Straight Arrow Connector 370"/>
          <p:cNvCxnSpPr>
            <a:stCxn xmlns:a="http://schemas.openxmlformats.org/drawingml/2006/main" id="361" idx="3"/>
            <a:endCxn xmlns:a="http://schemas.openxmlformats.org/drawingml/2006/main" id="363" idx="1"/>
          </p:cNvCxnSpPr>
          <p:nvPr/>
        </p:nvCxnSpPr>
        <p:spPr>
          <a:xfrm xmlns:a="http://schemas.openxmlformats.org/drawingml/2006/main">
            <a:off x="5402816" y="11564127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2577A"/>
            </a:solidFill>
            <a:tailEnd type="arrow" w="med" len="med"/>
          </a:ln>
        </p:spPr>
      </p:cxnSp>
      <p:cxnSp>
        <p:nvCxnSpPr>
          <p:cNvPr id="532" name="Straight Arrow Connector 371"/>
          <p:cNvCxnSpPr>
            <a:stCxn xmlns:a="http://schemas.openxmlformats.org/drawingml/2006/main" id="363" idx="3"/>
            <a:endCxn xmlns:a="http://schemas.openxmlformats.org/drawingml/2006/main" id="365" idx="1"/>
          </p:cNvCxnSpPr>
          <p:nvPr/>
        </p:nvCxnSpPr>
        <p:spPr>
          <a:xfrm xmlns:a="http://schemas.openxmlformats.org/drawingml/2006/main">
            <a:off x="10427347" y="11564127"/>
            <a:ext cx="619126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2577A"/>
            </a:solidFill>
            <a:tailEnd type="arrow" w="med" len="med"/>
          </a:ln>
        </p:spPr>
      </p:cxnSp>
      <p:cxnSp>
        <p:nvCxnSpPr>
          <p:cNvPr id="533" name="Straight Arrow Connector 372"/>
          <p:cNvCxnSpPr>
            <a:stCxn xmlns:a="http://schemas.openxmlformats.org/drawingml/2006/main" id="365" idx="3"/>
            <a:endCxn xmlns:a="http://schemas.openxmlformats.org/drawingml/2006/main" id="368" idx="1"/>
          </p:cNvCxnSpPr>
          <p:nvPr/>
        </p:nvCxnSpPr>
        <p:spPr>
          <a:xfrm xmlns:a="http://schemas.openxmlformats.org/drawingml/2006/main">
            <a:off x="15451879" y="11564127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2577A"/>
            </a:solidFill>
            <a:tailEnd type="arrow" w="med" len="med"/>
          </a:ln>
        </p:spPr>
      </p:cxnSp>
      <p:sp>
        <p:nvSpPr>
          <p:cNvPr id="374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4D69C053-BAB7-B904-179C-E8413461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775" y="11448079"/>
            <a:ext cx="3968512" cy="919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0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Person detections, social cues and robot movement data</a:t>
            </a:r>
            <a:endParaRPr sz="240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75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567B4D40-3385-F4F4-DF6C-CA9402ED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681" y="11346473"/>
            <a:ext cx="3588804" cy="919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00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Person histories, changes in attention and distance, and observation quality</a:t>
            </a:r>
            <a:endParaRPr sz="2400">
              <a:solidFill>
                <a:srgbClr val="26333C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77" name="act0-shadow">
            <a:extLst xmlns:a="http://schemas.openxmlformats.org/drawingml/2006/main">
              <a:ext uri="{FF2B5EF4-FFF2-40B4-BE49-F238E27FC236}">
                <a16:creationId xmlns:a16="http://schemas.microsoft.com/office/drawing/2014/main" id="{BE61CC25-39AA-7DCD-89F3-07DC9476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6756" y="13577979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8" name="act0-card">
            <a:extLst xmlns:a="http://schemas.openxmlformats.org/drawingml/2006/main">
              <a:ext uri="{FF2B5EF4-FFF2-40B4-BE49-F238E27FC236}">
                <a16:creationId xmlns:a16="http://schemas.microsoft.com/office/drawing/2014/main" id="{621F68D1-D42B-7B94-873C-10C63ADB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2456" y="13454154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9" name="act0-title">
            <a:extLst xmlns:a="http://schemas.openxmlformats.org/drawingml/2006/main">
              <a:ext uri="{FF2B5EF4-FFF2-40B4-BE49-F238E27FC236}">
                <a16:creationId xmlns:a16="http://schemas.microsoft.com/office/drawing/2014/main" id="{26F66578-0488-F9B6-747A-C8D71AF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2956" y="13549404"/>
            <a:ext cx="402440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9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APPROACH</a:t>
            </a:r>
          </a:p>
        </p:txBody>
      </p:sp>
      <p:sp>
        <p:nvSpPr>
          <p:cNvPr id="380" name="act0-scenario">
            <a:extLst xmlns:a="http://schemas.openxmlformats.org/drawingml/2006/main">
              <a:ext uri="{FF2B5EF4-FFF2-40B4-BE49-F238E27FC236}">
                <a16:creationId xmlns:a16="http://schemas.microsoft.com/office/drawing/2014/main" id="{14030255-686D-4DCB-818F-AC35DD77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006" y="14120904"/>
            <a:ext cx="398630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Interested person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farther away</a:t>
            </a:r>
          </a:p>
        </p:txBody>
      </p:sp>
      <p:sp>
        <p:nvSpPr>
          <p:cNvPr id="381" name="act0-response">
            <a:extLst xmlns:a="http://schemas.openxmlformats.org/drawingml/2006/main">
              <a:ext uri="{FF2B5EF4-FFF2-40B4-BE49-F238E27FC236}">
                <a16:creationId xmlns:a16="http://schemas.microsoft.com/office/drawing/2014/main" id="{5D487130-AA78-F12D-DC7E-762E0281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856" y="15968754"/>
            <a:ext cx="410060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rPr>
              <a:t>Move closer</a:t>
            </a:r>
          </a:p>
        </p:txBody>
      </p:sp>
      <p:sp>
        <p:nvSpPr>
          <p:cNvPr id="382" name="act0-robot-body">
            <a:extLst xmlns:a="http://schemas.openxmlformats.org/drawingml/2006/main">
              <a:ext uri="{FF2B5EF4-FFF2-40B4-BE49-F238E27FC236}">
                <a16:creationId xmlns:a16="http://schemas.microsoft.com/office/drawing/2014/main" id="{7CE25FA2-9653-671F-3331-A469D348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581" y="15244854"/>
            <a:ext cx="476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28575">
            <a:solidFill>
              <a:srgbClr val="22577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3" name="act0-robot-head">
            <a:extLst xmlns:a="http://schemas.openxmlformats.org/drawingml/2006/main">
              <a:ext uri="{FF2B5EF4-FFF2-40B4-BE49-F238E27FC236}">
                <a16:creationId xmlns:a16="http://schemas.microsoft.com/office/drawing/2014/main" id="{43439257-A776-3028-09A5-CEB2580A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53956" y="14978154"/>
            <a:ext cx="5715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4" name="act0-robot-eye1">
            <a:extLst xmlns:a="http://schemas.openxmlformats.org/drawingml/2006/main">
              <a:ext uri="{FF2B5EF4-FFF2-40B4-BE49-F238E27FC236}">
                <a16:creationId xmlns:a16="http://schemas.microsoft.com/office/drawing/2014/main" id="{0187F02C-A398-6734-62AD-1DDA6E21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8256" y="1509245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5" name="act0-robot-eye2">
            <a:extLst xmlns:a="http://schemas.openxmlformats.org/drawingml/2006/main">
              <a:ext uri="{FF2B5EF4-FFF2-40B4-BE49-F238E27FC236}">
                <a16:creationId xmlns:a16="http://schemas.microsoft.com/office/drawing/2014/main" id="{2E4AFD80-91AE-F90F-4F72-08D79CEC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6381" y="1509245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6" name="act0-robot-wheel1">
            <a:extLst xmlns:a="http://schemas.openxmlformats.org/drawingml/2006/main">
              <a:ext uri="{FF2B5EF4-FFF2-40B4-BE49-F238E27FC236}">
                <a16:creationId xmlns:a16="http://schemas.microsoft.com/office/drawing/2014/main" id="{4542F496-92B7-0326-A95B-0708A743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0631" y="1564490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7" name="act0-robot-wheel2">
            <a:extLst xmlns:a="http://schemas.openxmlformats.org/drawingml/2006/main">
              <a:ext uri="{FF2B5EF4-FFF2-40B4-BE49-F238E27FC236}">
                <a16:creationId xmlns:a16="http://schemas.microsoft.com/office/drawing/2014/main" id="{0E667826-8D67-9827-454E-7785A83A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34956" y="1564490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8" name="act0-person-head">
            <a:extLst xmlns:a="http://schemas.openxmlformats.org/drawingml/2006/main">
              <a:ext uri="{FF2B5EF4-FFF2-40B4-BE49-F238E27FC236}">
                <a16:creationId xmlns:a16="http://schemas.microsoft.com/office/drawing/2014/main" id="{9C223051-8FAF-D093-D0E2-82F25203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49531" y="1494957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3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9" name="act0-person-body">
            <a:extLst xmlns:a="http://schemas.openxmlformats.org/drawingml/2006/main">
              <a:ext uri="{FF2B5EF4-FFF2-40B4-BE49-F238E27FC236}">
                <a16:creationId xmlns:a16="http://schemas.microsoft.com/office/drawing/2014/main" id="{C2D0C002-2851-19F8-AC5C-DEB79B43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73356" y="15263904"/>
            <a:ext cx="9525" cy="323850"/>
          </a:xfrm>
          <a:custGeom xmlns:a="http://schemas.openxmlformats.org/drawingml/2006/main">
            <a:rect l="0" t="0" r="0" b="0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0" name="act0-person-arms">
            <a:extLst xmlns:a="http://schemas.openxmlformats.org/drawingml/2006/main">
              <a:ext uri="{FF2B5EF4-FFF2-40B4-BE49-F238E27FC236}">
                <a16:creationId xmlns:a16="http://schemas.microsoft.com/office/drawing/2014/main" id="{1DA909F3-713E-7A46-7BF0-677C86E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73331" y="15302004"/>
            <a:ext cx="400050" cy="142875"/>
          </a:xfrm>
          <a:custGeom xmlns:a="http://schemas.openxmlformats.org/drawingml/2006/main">
            <a:rect l="0" t="0" r="0" b="0"/>
            <a:pathLst>
              <a:path w="400050" h="142875">
                <a:moveTo>
                  <a:pt x="0" y="142875"/>
                </a:moveTo>
                <a:lnTo>
                  <a:pt x="200025" y="0"/>
                </a:lnTo>
                <a:lnTo>
                  <a:pt x="40005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1" name="act0-person-legs">
            <a:extLst xmlns:a="http://schemas.openxmlformats.org/drawingml/2006/main">
              <a:ext uri="{FF2B5EF4-FFF2-40B4-BE49-F238E27FC236}">
                <a16:creationId xmlns:a16="http://schemas.microsoft.com/office/drawing/2014/main" id="{BD1CB725-DEBE-438B-CBEF-DE61CFE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92381" y="15568704"/>
            <a:ext cx="361950" cy="266700"/>
          </a:xfrm>
          <a:custGeom xmlns:a="http://schemas.openxmlformats.org/drawingml/2006/main">
            <a:rect l="0" t="0" r="0" b="0"/>
            <a:pathLst>
              <a:path w="361950" h="266700">
                <a:moveTo>
                  <a:pt x="0" y="266700"/>
                </a:moveTo>
                <a:lnTo>
                  <a:pt x="180975" y="0"/>
                </a:lnTo>
                <a:lnTo>
                  <a:pt x="36195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2" name="act0-attention">
            <a:extLst xmlns:a="http://schemas.openxmlformats.org/drawingml/2006/main">
              <a:ext uri="{FF2B5EF4-FFF2-40B4-BE49-F238E27FC236}">
                <a16:creationId xmlns:a16="http://schemas.microsoft.com/office/drawing/2014/main" id="{F1E1A575-325F-F63C-F2EB-114B1D8D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3081" y="15130554"/>
            <a:ext cx="1981200" cy="9525"/>
          </a:xfrm>
          <a:custGeom xmlns:a="http://schemas.openxmlformats.org/drawingml/2006/main">
            <a:rect l="0" t="0" r="0" b="0"/>
            <a:pathLst>
              <a:path w="1981200" h="9525">
                <a:moveTo>
                  <a:pt x="0" y="0"/>
                </a:moveTo>
                <a:lnTo>
                  <a:pt x="1981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437E9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3" name="act0-attention-tip">
            <a:extLst xmlns:a="http://schemas.openxmlformats.org/drawingml/2006/main">
              <a:ext uri="{FF2B5EF4-FFF2-40B4-BE49-F238E27FC236}">
                <a16:creationId xmlns:a16="http://schemas.microsoft.com/office/drawing/2014/main" id="{4012D0B4-C7E3-B69C-900C-30C185D1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63556" y="15082929"/>
            <a:ext cx="1143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37E9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4" name="act0-motion">
            <a:extLst xmlns:a="http://schemas.openxmlformats.org/drawingml/2006/main">
              <a:ext uri="{FF2B5EF4-FFF2-40B4-BE49-F238E27FC236}">
                <a16:creationId xmlns:a16="http://schemas.microsoft.com/office/drawing/2014/main" id="{74DA0BBC-60C1-B9B0-FA25-036CAA67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431" y="15463929"/>
            <a:ext cx="14859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6" name="act1-shadow">
            <a:extLst xmlns:a="http://schemas.openxmlformats.org/drawingml/2006/main">
              <a:ext uri="{FF2B5EF4-FFF2-40B4-BE49-F238E27FC236}">
                <a16:creationId xmlns:a16="http://schemas.microsoft.com/office/drawing/2014/main" id="{29371963-ED11-8B3B-6BF2-684A3AB8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1289" y="13577979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7" name="act1-card">
            <a:extLst xmlns:a="http://schemas.openxmlformats.org/drawingml/2006/main">
              <a:ext uri="{FF2B5EF4-FFF2-40B4-BE49-F238E27FC236}">
                <a16:creationId xmlns:a16="http://schemas.microsoft.com/office/drawing/2014/main" id="{A71B9387-548E-EC67-10AE-4E74366D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6989" y="13454154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8" name="act1-title">
            <a:extLst xmlns:a="http://schemas.openxmlformats.org/drawingml/2006/main">
              <a:ext uri="{FF2B5EF4-FFF2-40B4-BE49-F238E27FC236}">
                <a16:creationId xmlns:a16="http://schemas.microsoft.com/office/drawing/2014/main" id="{EFC5748E-BC87-1B99-7A0C-DD7B7D4B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7489" y="13549404"/>
            <a:ext cx="402440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9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ENGAGE</a:t>
            </a:r>
          </a:p>
        </p:txBody>
      </p:sp>
      <p:sp>
        <p:nvSpPr>
          <p:cNvPr id="399" name="act1-scenario">
            <a:extLst xmlns:a="http://schemas.openxmlformats.org/drawingml/2006/main">
              <a:ext uri="{FF2B5EF4-FFF2-40B4-BE49-F238E27FC236}">
                <a16:creationId xmlns:a16="http://schemas.microsoft.com/office/drawing/2014/main" id="{49158BF8-CF7D-FCBC-C627-65E4F93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16539" y="14120904"/>
            <a:ext cx="398630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Interested person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already nearby</a:t>
            </a:r>
          </a:p>
        </p:txBody>
      </p:sp>
      <p:sp>
        <p:nvSpPr>
          <p:cNvPr id="400" name="act1-response">
            <a:extLst xmlns:a="http://schemas.openxmlformats.org/drawingml/2006/main">
              <a:ext uri="{FF2B5EF4-FFF2-40B4-BE49-F238E27FC236}">
                <a16:creationId xmlns:a16="http://schemas.microsoft.com/office/drawing/2014/main" id="{BEBBE361-3768-A770-3F58-C8D3A4A8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59389" y="15968754"/>
            <a:ext cx="410060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rPr>
              <a:t>Stop and greet</a:t>
            </a:r>
          </a:p>
        </p:txBody>
      </p:sp>
      <p:sp>
        <p:nvSpPr>
          <p:cNvPr id="401" name="act1-robot-body">
            <a:extLst xmlns:a="http://schemas.openxmlformats.org/drawingml/2006/main">
              <a:ext uri="{FF2B5EF4-FFF2-40B4-BE49-F238E27FC236}">
                <a16:creationId xmlns:a16="http://schemas.microsoft.com/office/drawing/2014/main" id="{E8A6057B-F508-5A27-9187-D9CEB04F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6689" y="15302004"/>
            <a:ext cx="476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28575">
            <a:solidFill>
              <a:srgbClr val="22577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2" name="act1-robot-head">
            <a:extLst xmlns:a="http://schemas.openxmlformats.org/drawingml/2006/main">
              <a:ext uri="{FF2B5EF4-FFF2-40B4-BE49-F238E27FC236}">
                <a16:creationId xmlns:a16="http://schemas.microsoft.com/office/drawing/2014/main" id="{E6F62136-A9BC-CD62-8B90-F2D91D23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064" y="15035304"/>
            <a:ext cx="5715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3" name="act1-robot-eye1">
            <a:extLst xmlns:a="http://schemas.openxmlformats.org/drawingml/2006/main">
              <a:ext uri="{FF2B5EF4-FFF2-40B4-BE49-F238E27FC236}">
                <a16:creationId xmlns:a16="http://schemas.microsoft.com/office/drawing/2014/main" id="{E4E57E03-855D-671D-44C0-B2D91F22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3364" y="1514960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4" name="act1-robot-eye2">
            <a:extLst xmlns:a="http://schemas.openxmlformats.org/drawingml/2006/main">
              <a:ext uri="{FF2B5EF4-FFF2-40B4-BE49-F238E27FC236}">
                <a16:creationId xmlns:a16="http://schemas.microsoft.com/office/drawing/2014/main" id="{D8983F63-BF52-C40A-AC37-3B4AAEDE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21489" y="1514960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5" name="act1-robot-wheel1">
            <a:extLst xmlns:a="http://schemas.openxmlformats.org/drawingml/2006/main">
              <a:ext uri="{FF2B5EF4-FFF2-40B4-BE49-F238E27FC236}">
                <a16:creationId xmlns:a16="http://schemas.microsoft.com/office/drawing/2014/main" id="{BBA2EF9E-869D-03BF-99E9-926B5334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5739" y="1570205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6" name="act1-robot-wheel2">
            <a:extLst xmlns:a="http://schemas.openxmlformats.org/drawingml/2006/main">
              <a:ext uri="{FF2B5EF4-FFF2-40B4-BE49-F238E27FC236}">
                <a16:creationId xmlns:a16="http://schemas.microsoft.com/office/drawing/2014/main" id="{84BE4D95-3D3D-EDA7-9DD6-FEE89A18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0064" y="1570205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7" name="act1-person-head">
            <a:extLst xmlns:a="http://schemas.openxmlformats.org/drawingml/2006/main">
              <a:ext uri="{FF2B5EF4-FFF2-40B4-BE49-F238E27FC236}">
                <a16:creationId xmlns:a16="http://schemas.microsoft.com/office/drawing/2014/main" id="{436C26F7-988B-946A-8949-47D0CB4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02564" y="1494957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3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8" name="act1-person-body">
            <a:extLst xmlns:a="http://schemas.openxmlformats.org/drawingml/2006/main">
              <a:ext uri="{FF2B5EF4-FFF2-40B4-BE49-F238E27FC236}">
                <a16:creationId xmlns:a16="http://schemas.microsoft.com/office/drawing/2014/main" id="{345F2D2A-C94A-F2A9-57FB-BD717274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26389" y="15263904"/>
            <a:ext cx="9525" cy="323850"/>
          </a:xfrm>
          <a:custGeom xmlns:a="http://schemas.openxmlformats.org/drawingml/2006/main">
            <a:rect l="0" t="0" r="0" b="0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9" name="act1-person-arms">
            <a:extLst xmlns:a="http://schemas.openxmlformats.org/drawingml/2006/main">
              <a:ext uri="{FF2B5EF4-FFF2-40B4-BE49-F238E27FC236}">
                <a16:creationId xmlns:a16="http://schemas.microsoft.com/office/drawing/2014/main" id="{E63D8685-B0FA-7974-DDE2-61C77C27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26364" y="15302004"/>
            <a:ext cx="400050" cy="142875"/>
          </a:xfrm>
          <a:custGeom xmlns:a="http://schemas.openxmlformats.org/drawingml/2006/main">
            <a:rect l="0" t="0" r="0" b="0"/>
            <a:pathLst>
              <a:path w="400050" h="142875">
                <a:moveTo>
                  <a:pt x="0" y="142875"/>
                </a:moveTo>
                <a:lnTo>
                  <a:pt x="200025" y="0"/>
                </a:lnTo>
                <a:lnTo>
                  <a:pt x="40005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0" name="act1-person-legs">
            <a:extLst xmlns:a="http://schemas.openxmlformats.org/drawingml/2006/main">
              <a:ext uri="{FF2B5EF4-FFF2-40B4-BE49-F238E27FC236}">
                <a16:creationId xmlns:a16="http://schemas.microsoft.com/office/drawing/2014/main" id="{27FF330E-0D95-7F60-A4D9-646C591D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5414" y="15568704"/>
            <a:ext cx="361950" cy="266700"/>
          </a:xfrm>
          <a:custGeom xmlns:a="http://schemas.openxmlformats.org/drawingml/2006/main">
            <a:rect l="0" t="0" r="0" b="0"/>
            <a:pathLst>
              <a:path w="361950" h="266700">
                <a:moveTo>
                  <a:pt x="0" y="266700"/>
                </a:moveTo>
                <a:lnTo>
                  <a:pt x="180975" y="0"/>
                </a:lnTo>
                <a:lnTo>
                  <a:pt x="36195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1" name="act1-attention">
            <a:extLst xmlns:a="http://schemas.openxmlformats.org/drawingml/2006/main">
              <a:ext uri="{FF2B5EF4-FFF2-40B4-BE49-F238E27FC236}">
                <a16:creationId xmlns:a16="http://schemas.microsoft.com/office/drawing/2014/main" id="{96738C24-4BE7-F5BF-118F-0458C918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78664" y="15140079"/>
            <a:ext cx="619125" cy="9525"/>
          </a:xfrm>
          <a:custGeom xmlns:a="http://schemas.openxmlformats.org/drawingml/2006/main">
            <a:rect l="0" t="0" r="0" b="0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3338">
            <a:solidFill>
              <a:srgbClr val="437E9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2" name="act1-attention-tip">
            <a:extLst xmlns:a="http://schemas.openxmlformats.org/drawingml/2006/main">
              <a:ext uri="{FF2B5EF4-FFF2-40B4-BE49-F238E27FC236}">
                <a16:creationId xmlns:a16="http://schemas.microsoft.com/office/drawing/2014/main" id="{6F6A9144-86E3-9182-0158-47BD683E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69139" y="15092454"/>
            <a:ext cx="114300" cy="952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437E9D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3" name="act1-speech">
            <a:extLst xmlns:a="http://schemas.openxmlformats.org/drawingml/2006/main">
              <a:ext uri="{FF2B5EF4-FFF2-40B4-BE49-F238E27FC236}">
                <a16:creationId xmlns:a16="http://schemas.microsoft.com/office/drawing/2014/main" id="{693DC47E-EF56-2B54-0782-2420D1A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07039" y="14835279"/>
            <a:ext cx="1123950" cy="419100"/>
          </a:xfrm>
          <a:prstGeom xmlns:a="http://schemas.openxmlformats.org/drawingml/2006/main" prst="wedgeRoundRectCallou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2577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4" name="act1-speech-text">
            <a:extLst xmlns:a="http://schemas.openxmlformats.org/drawingml/2006/main">
              <a:ext uri="{FF2B5EF4-FFF2-40B4-BE49-F238E27FC236}">
                <a16:creationId xmlns:a16="http://schemas.microsoft.com/office/drawing/2014/main" id="{98ECF4E5-855D-3C63-2D58-80CF2799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73714" y="14863854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22577A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22577A"/>
                </a:solidFill>
                <a:latin typeface="Noto Sans"/>
                <a:ea typeface="Noto Sans"/>
                <a:cs typeface="Noto Sans"/>
              </a:rPr>
              <a:t>Hello!</a:t>
            </a:r>
          </a:p>
        </p:txBody>
      </p:sp>
      <p:sp>
        <p:nvSpPr>
          <p:cNvPr id="416" name="act2-shadow">
            <a:extLst xmlns:a="http://schemas.openxmlformats.org/drawingml/2006/main">
              <a:ext uri="{FF2B5EF4-FFF2-40B4-BE49-F238E27FC236}">
                <a16:creationId xmlns:a16="http://schemas.microsoft.com/office/drawing/2014/main" id="{623233E3-482D-74FB-4B91-27D1A2B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45822" y="13577979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7" name="act2-card">
            <a:extLst xmlns:a="http://schemas.openxmlformats.org/drawingml/2006/main">
              <a:ext uri="{FF2B5EF4-FFF2-40B4-BE49-F238E27FC236}">
                <a16:creationId xmlns:a16="http://schemas.microsoft.com/office/drawing/2014/main" id="{843359C9-5228-DFF3-4D9D-895058BD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31522" y="13454154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8" name="act2-title">
            <a:extLst xmlns:a="http://schemas.openxmlformats.org/drawingml/2006/main">
              <a:ext uri="{FF2B5EF4-FFF2-40B4-BE49-F238E27FC236}">
                <a16:creationId xmlns:a16="http://schemas.microsoft.com/office/drawing/2014/main" id="{764417C4-C582-F867-0CA4-8B8B1464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2022" y="13549404"/>
            <a:ext cx="402440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9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YIELD</a:t>
            </a:r>
          </a:p>
        </p:txBody>
      </p:sp>
      <p:sp>
        <p:nvSpPr>
          <p:cNvPr id="419" name="act2-scenario">
            <a:extLst xmlns:a="http://schemas.openxmlformats.org/drawingml/2006/main">
              <a:ext uri="{FF2B5EF4-FFF2-40B4-BE49-F238E27FC236}">
                <a16:creationId xmlns:a16="http://schemas.microsoft.com/office/drawing/2014/main" id="{AEAB8182-2EC5-898F-742C-5D475368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41072" y="14120904"/>
            <a:ext cx="398630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Person needs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room to pass</a:t>
            </a:r>
          </a:p>
        </p:txBody>
      </p:sp>
      <p:sp>
        <p:nvSpPr>
          <p:cNvPr id="420" name="act2-response">
            <a:extLst xmlns:a="http://schemas.openxmlformats.org/drawingml/2006/main">
              <a:ext uri="{FF2B5EF4-FFF2-40B4-BE49-F238E27FC236}">
                <a16:creationId xmlns:a16="http://schemas.microsoft.com/office/drawing/2014/main" id="{6851A825-0E09-7A72-DC8B-1647AA74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83922" y="15968754"/>
            <a:ext cx="410060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rPr>
              <a:t>Give room to pass</a:t>
            </a:r>
          </a:p>
        </p:txBody>
      </p:sp>
      <p:sp>
        <p:nvSpPr>
          <p:cNvPr id="421" name="act2-person-head">
            <a:extLst xmlns:a="http://schemas.openxmlformats.org/drawingml/2006/main">
              <a:ext uri="{FF2B5EF4-FFF2-40B4-BE49-F238E27FC236}">
                <a16:creationId xmlns:a16="http://schemas.microsoft.com/office/drawing/2014/main" id="{F2E9F92B-7B16-6621-0B63-B6989620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64947" y="14835279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3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2" name="act2-person-body">
            <a:extLst xmlns:a="http://schemas.openxmlformats.org/drawingml/2006/main">
              <a:ext uri="{FF2B5EF4-FFF2-40B4-BE49-F238E27FC236}">
                <a16:creationId xmlns:a16="http://schemas.microsoft.com/office/drawing/2014/main" id="{1040677C-6CB3-C33A-4B15-F8F6BF76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88772" y="15149604"/>
            <a:ext cx="9525" cy="323850"/>
          </a:xfrm>
          <a:custGeom xmlns:a="http://schemas.openxmlformats.org/drawingml/2006/main">
            <a:rect l="0" t="0" r="0" b="0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3" name="act2-person-arms">
            <a:extLst xmlns:a="http://schemas.openxmlformats.org/drawingml/2006/main">
              <a:ext uri="{FF2B5EF4-FFF2-40B4-BE49-F238E27FC236}">
                <a16:creationId xmlns:a16="http://schemas.microsoft.com/office/drawing/2014/main" id="{1EC42C35-1930-1704-49DE-89DFD459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8747" y="15187704"/>
            <a:ext cx="400050" cy="142875"/>
          </a:xfrm>
          <a:custGeom xmlns:a="http://schemas.openxmlformats.org/drawingml/2006/main">
            <a:rect l="0" t="0" r="0" b="0"/>
            <a:pathLst>
              <a:path w="400050" h="142875">
                <a:moveTo>
                  <a:pt x="0" y="142875"/>
                </a:moveTo>
                <a:lnTo>
                  <a:pt x="200025" y="0"/>
                </a:lnTo>
                <a:lnTo>
                  <a:pt x="40005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4" name="act2-person-legs">
            <a:extLst xmlns:a="http://schemas.openxmlformats.org/drawingml/2006/main">
              <a:ext uri="{FF2B5EF4-FFF2-40B4-BE49-F238E27FC236}">
                <a16:creationId xmlns:a16="http://schemas.microsoft.com/office/drawing/2014/main" id="{34E3FCBE-858D-40EA-0DEC-F7313363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7797" y="15454404"/>
            <a:ext cx="361950" cy="266700"/>
          </a:xfrm>
          <a:custGeom xmlns:a="http://schemas.openxmlformats.org/drawingml/2006/main">
            <a:rect l="0" t="0" r="0" b="0"/>
            <a:pathLst>
              <a:path w="361950" h="266700">
                <a:moveTo>
                  <a:pt x="0" y="266700"/>
                </a:moveTo>
                <a:lnTo>
                  <a:pt x="180975" y="0"/>
                </a:lnTo>
                <a:lnTo>
                  <a:pt x="36195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5" name="act2-person-motion">
            <a:extLst xmlns:a="http://schemas.openxmlformats.org/drawingml/2006/main">
              <a:ext uri="{FF2B5EF4-FFF2-40B4-BE49-F238E27FC236}">
                <a16:creationId xmlns:a16="http://schemas.microsoft.com/office/drawing/2014/main" id="{6E440535-4389-C32D-7C15-C6EA3187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45972" y="15235329"/>
            <a:ext cx="14382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6" name="act2-robot-body">
            <a:extLst xmlns:a="http://schemas.openxmlformats.org/drawingml/2006/main">
              <a:ext uri="{FF2B5EF4-FFF2-40B4-BE49-F238E27FC236}">
                <a16:creationId xmlns:a16="http://schemas.microsoft.com/office/drawing/2014/main" id="{67BF2CA5-1106-330E-CE88-9974B4A7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65247" y="15487932"/>
            <a:ext cx="400050" cy="376047"/>
          </a:xfrm>
          <a:prstGeom xmlns:a="http://schemas.openxmlformats.org/drawingml/2006/main" prst="roundRect">
            <a:avLst>
              <a:gd name="adj" fmla="val 20263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24003">
            <a:solidFill>
              <a:srgbClr val="22577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7" name="act2-robot-head">
            <a:extLst xmlns:a="http://schemas.openxmlformats.org/drawingml/2006/main">
              <a:ext uri="{FF2B5EF4-FFF2-40B4-BE49-F238E27FC236}">
                <a16:creationId xmlns:a16="http://schemas.microsoft.com/office/drawing/2014/main" id="{20467B59-2F59-F950-0865-4C1ED3A7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25242" y="15263904"/>
            <a:ext cx="480060" cy="296037"/>
          </a:xfrm>
          <a:prstGeom xmlns:a="http://schemas.openxmlformats.org/drawingml/2006/main" prst="roundRect">
            <a:avLst>
              <a:gd name="adj" fmla="val 25740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8" name="act2-robot-eye1">
            <a:extLst xmlns:a="http://schemas.openxmlformats.org/drawingml/2006/main">
              <a:ext uri="{FF2B5EF4-FFF2-40B4-BE49-F238E27FC236}">
                <a16:creationId xmlns:a16="http://schemas.microsoft.com/office/drawing/2014/main" id="{929EC4E3-A505-5D62-A2C9-91156649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21254" y="15359916"/>
            <a:ext cx="88011" cy="88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9" name="act2-robot-eye2">
            <a:extLst xmlns:a="http://schemas.openxmlformats.org/drawingml/2006/main">
              <a:ext uri="{FF2B5EF4-FFF2-40B4-BE49-F238E27FC236}">
                <a16:creationId xmlns:a16="http://schemas.microsoft.com/office/drawing/2014/main" id="{7E72C053-D494-EF50-4D83-A1F6F5A6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21279" y="15359916"/>
            <a:ext cx="88011" cy="88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0" name="act2-robot-wheel1">
            <a:extLst xmlns:a="http://schemas.openxmlformats.org/drawingml/2006/main">
              <a:ext uri="{FF2B5EF4-FFF2-40B4-BE49-F238E27FC236}">
                <a16:creationId xmlns:a16="http://schemas.microsoft.com/office/drawing/2014/main" id="{66E85D46-08C6-D68C-0506-BC273FC4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81249" y="15823974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1" name="act2-robot-wheel2">
            <a:extLst xmlns:a="http://schemas.openxmlformats.org/drawingml/2006/main">
              <a:ext uri="{FF2B5EF4-FFF2-40B4-BE49-F238E27FC236}">
                <a16:creationId xmlns:a16="http://schemas.microsoft.com/office/drawing/2014/main" id="{AB4913DD-DBCA-EAB5-D68F-44F74872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445282" y="15823974"/>
            <a:ext cx="104013" cy="1040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2" name="act2-robot-motion">
            <a:extLst xmlns:a="http://schemas.openxmlformats.org/drawingml/2006/main">
              <a:ext uri="{FF2B5EF4-FFF2-40B4-BE49-F238E27FC236}">
                <a16:creationId xmlns:a16="http://schemas.microsoft.com/office/drawing/2014/main" id="{C48A601B-CB2E-E1A8-5D26-FC3CCE3B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70022" y="14863854"/>
            <a:ext cx="190500" cy="3333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4" name="act3-shadow">
            <a:extLst xmlns:a="http://schemas.openxmlformats.org/drawingml/2006/main">
              <a:ext uri="{FF2B5EF4-FFF2-40B4-BE49-F238E27FC236}">
                <a16:creationId xmlns:a16="http://schemas.microsoft.com/office/drawing/2014/main" id="{25A43A4B-3E45-E112-4BF0-8B24B97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170355" y="13577979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AFC4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5" name="act3-card">
            <a:extLst xmlns:a="http://schemas.openxmlformats.org/drawingml/2006/main">
              <a:ext uri="{FF2B5EF4-FFF2-40B4-BE49-F238E27FC236}">
                <a16:creationId xmlns:a16="http://schemas.microsoft.com/office/drawing/2014/main" id="{EE639307-038F-0299-B8A0-5FC67CCB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56055" y="13454154"/>
            <a:ext cx="4405408" cy="2967419"/>
          </a:xfrm>
          <a:prstGeom xmlns:a="http://schemas.openxmlformats.org/drawingml/2006/main" prst="roundRect">
            <a:avLst>
              <a:gd name="adj" fmla="val 2568"/>
            </a:avLst>
          </a:prstGeom>
          <a:solidFill xmlns:a="http://schemas.openxmlformats.org/drawingml/2006/main">
            <a:srgbClr val="DDECF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6" name="act3-title">
            <a:extLst xmlns:a="http://schemas.openxmlformats.org/drawingml/2006/main">
              <a:ext uri="{FF2B5EF4-FFF2-40B4-BE49-F238E27FC236}">
                <a16:creationId xmlns:a16="http://schemas.microsoft.com/office/drawing/2014/main" id="{195D1714-53E9-DEBD-8450-FEA51597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46555" y="13549404"/>
            <a:ext cx="402440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900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CONTINUE</a:t>
            </a:r>
          </a:p>
        </p:txBody>
      </p:sp>
      <p:sp>
        <p:nvSpPr>
          <p:cNvPr id="437" name="act3-scenario">
            <a:extLst xmlns:a="http://schemas.openxmlformats.org/drawingml/2006/main">
              <a:ext uri="{FF2B5EF4-FFF2-40B4-BE49-F238E27FC236}">
                <a16:creationId xmlns:a16="http://schemas.microsoft.com/office/drawing/2014/main" id="{7C448909-B1D0-0534-88C6-76176BB5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65605" y="14120904"/>
            <a:ext cx="3986308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No sustained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defRPr>
            </a:pPr>
            <a:r>
              <a:rPr sz="2325" b="0">
                <a:solidFill>
                  <a:srgbClr val="26333C"/>
                </a:solidFill>
                <a:latin typeface="Noto Sans"/>
                <a:ea typeface="Noto Sans"/>
                <a:cs typeface="Noto Sans"/>
              </a:rPr>
              <a:t>interest in interaction</a:t>
            </a:r>
          </a:p>
        </p:txBody>
      </p:sp>
      <p:sp>
        <p:nvSpPr>
          <p:cNvPr id="438" name="act3-response">
            <a:extLst xmlns:a="http://schemas.openxmlformats.org/drawingml/2006/main">
              <a:ext uri="{FF2B5EF4-FFF2-40B4-BE49-F238E27FC236}">
                <a16:creationId xmlns:a16="http://schemas.microsoft.com/office/drawing/2014/main" id="{37F3887F-69BD-C288-7BDF-F8DB801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208455" y="15968754"/>
            <a:ext cx="410060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22577A"/>
                </a:solidFill>
                <a:latin typeface="Noto Sans"/>
                <a:ea typeface="Noto Sans"/>
                <a:cs typeface="Noto Sans"/>
              </a:rPr>
              <a:t>Stay on the route</a:t>
            </a:r>
          </a:p>
        </p:txBody>
      </p:sp>
      <p:sp>
        <p:nvSpPr>
          <p:cNvPr id="439" name="act3-robot-body">
            <a:extLst xmlns:a="http://schemas.openxmlformats.org/drawingml/2006/main">
              <a:ext uri="{FF2B5EF4-FFF2-40B4-BE49-F238E27FC236}">
                <a16:creationId xmlns:a16="http://schemas.microsoft.com/office/drawing/2014/main" id="{65C1FBC5-93E5-EAB3-60A5-ED0DE777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94230" y="15340104"/>
            <a:ext cx="476250" cy="447675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28575">
            <a:solidFill>
              <a:srgbClr val="22577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0" name="act3-robot-head">
            <a:extLst xmlns:a="http://schemas.openxmlformats.org/drawingml/2006/main">
              <a:ext uri="{FF2B5EF4-FFF2-40B4-BE49-F238E27FC236}">
                <a16:creationId xmlns:a16="http://schemas.microsoft.com/office/drawing/2014/main" id="{83E8CC3E-B2B0-B03E-6FC1-19BE13FD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646605" y="15073404"/>
            <a:ext cx="57150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1" name="act3-robot-eye1">
            <a:extLst xmlns:a="http://schemas.openxmlformats.org/drawingml/2006/main">
              <a:ext uri="{FF2B5EF4-FFF2-40B4-BE49-F238E27FC236}">
                <a16:creationId xmlns:a16="http://schemas.microsoft.com/office/drawing/2014/main" id="{365192AE-D090-3010-266E-DCC757C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60905" y="1518770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2" name="act3-robot-eye2">
            <a:extLst xmlns:a="http://schemas.openxmlformats.org/drawingml/2006/main">
              <a:ext uri="{FF2B5EF4-FFF2-40B4-BE49-F238E27FC236}">
                <a16:creationId xmlns:a16="http://schemas.microsoft.com/office/drawing/2014/main" id="{89D57BD1-5D40-9085-5B39-907D388F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999030" y="15187704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8B9D1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3" name="act3-robot-wheel1">
            <a:extLst xmlns:a="http://schemas.openxmlformats.org/drawingml/2006/main">
              <a:ext uri="{FF2B5EF4-FFF2-40B4-BE49-F238E27FC236}">
                <a16:creationId xmlns:a16="http://schemas.microsoft.com/office/drawing/2014/main" id="{84E2208D-2229-0923-E7A0-F384DE68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713280" y="1574015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4" name="act3-robot-wheel2">
            <a:extLst xmlns:a="http://schemas.openxmlformats.org/drawingml/2006/main">
              <a:ext uri="{FF2B5EF4-FFF2-40B4-BE49-F238E27FC236}">
                <a16:creationId xmlns:a16="http://schemas.microsoft.com/office/drawing/2014/main" id="{5B96D755-14FD-9F2B-BCBF-4BDB25A2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027605" y="1574015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5" name="act3-person-head">
            <a:extLst xmlns:a="http://schemas.openxmlformats.org/drawingml/2006/main">
              <a:ext uri="{FF2B5EF4-FFF2-40B4-BE49-F238E27FC236}">
                <a16:creationId xmlns:a16="http://schemas.microsoft.com/office/drawing/2014/main" id="{568DDCE2-3AC1-FA89-AA02-CEA697D6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61205" y="14844804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3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6" name="act3-person-body">
            <a:extLst xmlns:a="http://schemas.openxmlformats.org/drawingml/2006/main">
              <a:ext uri="{FF2B5EF4-FFF2-40B4-BE49-F238E27FC236}">
                <a16:creationId xmlns:a16="http://schemas.microsoft.com/office/drawing/2014/main" id="{91B29772-D7A0-8E10-E344-F436E200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85030" y="15159129"/>
            <a:ext cx="9525" cy="323850"/>
          </a:xfrm>
          <a:custGeom xmlns:a="http://schemas.openxmlformats.org/drawingml/2006/main">
            <a:rect l="0" t="0" r="0" b="0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7" name="act3-person-arms">
            <a:extLst xmlns:a="http://schemas.openxmlformats.org/drawingml/2006/main">
              <a:ext uri="{FF2B5EF4-FFF2-40B4-BE49-F238E27FC236}">
                <a16:creationId xmlns:a16="http://schemas.microsoft.com/office/drawing/2014/main" id="{09E654A1-6E5A-F645-8D23-4FCB2120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085005" y="15197229"/>
            <a:ext cx="400050" cy="142875"/>
          </a:xfrm>
          <a:custGeom xmlns:a="http://schemas.openxmlformats.org/drawingml/2006/main">
            <a:rect l="0" t="0" r="0" b="0"/>
            <a:pathLst>
              <a:path w="400050" h="142875">
                <a:moveTo>
                  <a:pt x="0" y="142875"/>
                </a:moveTo>
                <a:lnTo>
                  <a:pt x="200025" y="0"/>
                </a:lnTo>
                <a:lnTo>
                  <a:pt x="400050" y="14287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8" name="act3-person-legs">
            <a:extLst xmlns:a="http://schemas.openxmlformats.org/drawingml/2006/main">
              <a:ext uri="{FF2B5EF4-FFF2-40B4-BE49-F238E27FC236}">
                <a16:creationId xmlns:a16="http://schemas.microsoft.com/office/drawing/2014/main" id="{85836B04-F29B-08D3-6A89-0DE5CA68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104055" y="15463929"/>
            <a:ext cx="361950" cy="266700"/>
          </a:xfrm>
          <a:custGeom xmlns:a="http://schemas.openxmlformats.org/drawingml/2006/main">
            <a:rect l="0" t="0" r="0" b="0"/>
            <a:pathLst>
              <a:path w="361950" h="266700">
                <a:moveTo>
                  <a:pt x="0" y="266700"/>
                </a:moveTo>
                <a:lnTo>
                  <a:pt x="180975" y="0"/>
                </a:lnTo>
                <a:lnTo>
                  <a:pt x="36195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2633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9" name="act3-robot-motion">
            <a:extLst xmlns:a="http://schemas.openxmlformats.org/drawingml/2006/main">
              <a:ext uri="{FF2B5EF4-FFF2-40B4-BE49-F238E27FC236}">
                <a16:creationId xmlns:a16="http://schemas.microsoft.com/office/drawing/2014/main" id="{A650A836-6899-4883-FBEC-3CAE8B0D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380030" y="15616329"/>
            <a:ext cx="16097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0" name="act3-person-motion">
            <a:extLst xmlns:a="http://schemas.openxmlformats.org/drawingml/2006/main">
              <a:ext uri="{FF2B5EF4-FFF2-40B4-BE49-F238E27FC236}">
                <a16:creationId xmlns:a16="http://schemas.microsoft.com/office/drawing/2014/main" id="{D45EEB6E-87BF-B50E-5A25-C2FED56F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608880" y="15197229"/>
            <a:ext cx="5048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1" name="branch-from-policies">
            <a:extLst xmlns:a="http://schemas.openxmlformats.org/drawingml/2006/main">
              <a:ext uri="{FF2B5EF4-FFF2-40B4-BE49-F238E27FC236}">
                <a16:creationId xmlns:a16="http://schemas.microsoft.com/office/drawing/2014/main" id="{288ACAE2-8EBA-9E98-67B3-0CC8AB74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807" y="12509083"/>
            <a:ext cx="9525" cy="552450"/>
          </a:xfrm>
          <a:custGeom xmlns:a="http://schemas.openxmlformats.org/drawingml/2006/main">
            <a:rect l="0" t="0" r="0" b="0"/>
            <a:pathLst>
              <a:path w="9525" h="552450">
                <a:moveTo>
                  <a:pt x="0" y="0"/>
                </a:moveTo>
                <a:lnTo>
                  <a:pt x="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25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2" name="branch-output-bus">
            <a:extLst xmlns:a="http://schemas.openxmlformats.org/drawingml/2006/main">
              <a:ext uri="{FF2B5EF4-FFF2-40B4-BE49-F238E27FC236}">
                <a16:creationId xmlns:a16="http://schemas.microsoft.com/office/drawing/2014/main" id="{22FA2478-4FB1-7E3F-A207-1CC5A2E5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160" y="13061533"/>
            <a:ext cx="15073598" cy="9525"/>
          </a:xfrm>
          <a:custGeom xmlns:a="http://schemas.openxmlformats.org/drawingml/2006/main">
            <a:rect l="0" t="0" r="0" b="0"/>
            <a:pathLst>
              <a:path w="15073598" h="9525">
                <a:moveTo>
                  <a:pt x="0" y="0"/>
                </a:moveTo>
                <a:lnTo>
                  <a:pt x="150735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25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3" name="branch-drop-0">
            <a:extLst xmlns:a="http://schemas.openxmlformats.org/drawingml/2006/main">
              <a:ext uri="{FF2B5EF4-FFF2-40B4-BE49-F238E27FC236}">
                <a16:creationId xmlns:a16="http://schemas.microsoft.com/office/drawing/2014/main" id="{374ED51E-4672-7E96-E812-9DD54994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160" y="13061533"/>
            <a:ext cx="9525" cy="276225"/>
          </a:xfrm>
          <a:custGeom xmlns:a="http://schemas.openxmlformats.org/drawingml/2006/main"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25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4" name="branch-tip-0">
            <a:extLst xmlns:a="http://schemas.openxmlformats.org/drawingml/2006/main">
              <a:ext uri="{FF2B5EF4-FFF2-40B4-BE49-F238E27FC236}">
                <a16:creationId xmlns:a16="http://schemas.microsoft.com/office/drawing/2014/main" id="{BAC1C7D5-65EA-CF16-4B0F-D8B40D64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59" y="13314057"/>
            <a:ext cx="762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5" name="branch-drop-1">
            <a:extLst xmlns:a="http://schemas.openxmlformats.org/drawingml/2006/main">
              <a:ext uri="{FF2B5EF4-FFF2-40B4-BE49-F238E27FC236}">
                <a16:creationId xmlns:a16="http://schemas.microsoft.com/office/drawing/2014/main" id="{8F1A8D08-AE47-1788-762F-8812E59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9693" y="13061533"/>
            <a:ext cx="9525" cy="276225"/>
          </a:xfrm>
          <a:custGeom xmlns:a="http://schemas.openxmlformats.org/drawingml/2006/main"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25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6" name="branch-tip-1">
            <a:extLst xmlns:a="http://schemas.openxmlformats.org/drawingml/2006/main">
              <a:ext uri="{FF2B5EF4-FFF2-40B4-BE49-F238E27FC236}">
                <a16:creationId xmlns:a16="http://schemas.microsoft.com/office/drawing/2014/main" id="{0A65E868-EA71-1375-5452-48F7C59A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592" y="13317257"/>
            <a:ext cx="762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7" name="branch-drop-2">
            <a:extLst xmlns:a="http://schemas.openxmlformats.org/drawingml/2006/main">
              <a:ext uri="{FF2B5EF4-FFF2-40B4-BE49-F238E27FC236}">
                <a16:creationId xmlns:a16="http://schemas.microsoft.com/office/drawing/2014/main" id="{FEDC98D6-073B-5665-1201-C291C16A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4226" y="13061533"/>
            <a:ext cx="9525" cy="276225"/>
          </a:xfrm>
          <a:custGeom xmlns:a="http://schemas.openxmlformats.org/drawingml/2006/main"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25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8" name="branch-tip-2">
            <a:extLst xmlns:a="http://schemas.openxmlformats.org/drawingml/2006/main">
              <a:ext uri="{FF2B5EF4-FFF2-40B4-BE49-F238E27FC236}">
                <a16:creationId xmlns:a16="http://schemas.microsoft.com/office/drawing/2014/main" id="{93055169-CF72-F7BF-D447-CC7B49F1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6125" y="13299658"/>
            <a:ext cx="762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9" name="branch-drop-3">
            <a:extLst xmlns:a="http://schemas.openxmlformats.org/drawingml/2006/main">
              <a:ext uri="{FF2B5EF4-FFF2-40B4-BE49-F238E27FC236}">
                <a16:creationId xmlns:a16="http://schemas.microsoft.com/office/drawing/2014/main" id="{2DBC3E2F-7150-9911-D485-21C9C185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8282" y="13057794"/>
            <a:ext cx="9525" cy="276225"/>
          </a:xfrm>
          <a:custGeom xmlns:a="http://schemas.openxmlformats.org/drawingml/2006/main">
            <a:rect l="0" t="0" r="0" b="0"/>
            <a:pathLst>
              <a:path w="952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2577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0" name="branch-tip-3">
            <a:extLst xmlns:a="http://schemas.openxmlformats.org/drawingml/2006/main">
              <a:ext uri="{FF2B5EF4-FFF2-40B4-BE49-F238E27FC236}">
                <a16:creationId xmlns:a16="http://schemas.microsoft.com/office/drawing/2014/main" id="{489B8ABE-0F86-FE34-BB2C-4BECB94C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2432" y="13307185"/>
            <a:ext cx="71700" cy="135347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1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78DDCC3D-E96C-C984-DCFC-33BE6E67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238" y="12681401"/>
            <a:ext cx="2914380" cy="3561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2325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Four possible actions</a:t>
            </a:r>
          </a:p>
        </p:txBody>
      </p:sp>
      <p:sp>
        <p:nvSpPr>
          <p:cNvPr id="463" name="background-tab">
            <a:extLst xmlns:a="http://schemas.openxmlformats.org/drawingml/2006/main">
              <a:ext uri="{FF2B5EF4-FFF2-40B4-BE49-F238E27FC236}">
                <a16:creationId xmlns:a16="http://schemas.microsoft.com/office/drawing/2014/main" id="{EB3E78D4-85CC-434C-1D77-6B9A0544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410" y="9675670"/>
            <a:ext cx="2616937" cy="92948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4" name="background-heading">
            <a:extLst xmlns:a="http://schemas.openxmlformats.org/drawingml/2006/main">
              <a:ext uri="{FF2B5EF4-FFF2-40B4-BE49-F238E27FC236}">
                <a16:creationId xmlns:a16="http://schemas.microsoft.com/office/drawing/2014/main" id="{9C2DA47E-42E9-3BF2-7458-A79A7359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003" y="9717498"/>
            <a:ext cx="4879618" cy="796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0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Pipeline</a:t>
            </a:r>
          </a:p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endParaRPr sz="5000" b="1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465" name="background-tab">
            <a:extLst xmlns:a="http://schemas.openxmlformats.org/drawingml/2006/main">
              <a:ext uri="{FF2B5EF4-FFF2-40B4-BE49-F238E27FC236}">
                <a16:creationId xmlns:a16="http://schemas.microsoft.com/office/drawing/2014/main" id="{98F3330C-770A-9531-3462-2A3253E8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125" y="16682414"/>
            <a:ext cx="2271134" cy="92948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257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6" name="background-heading">
            <a:extLst xmlns:a="http://schemas.openxmlformats.org/drawingml/2006/main">
              <a:ext uri="{FF2B5EF4-FFF2-40B4-BE49-F238E27FC236}">
                <a16:creationId xmlns:a16="http://schemas.microsoft.com/office/drawing/2014/main" id="{A6812C64-0A4F-2DED-29AA-9AF02574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65" y="16691103"/>
            <a:ext cx="4879618" cy="7967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0" b="1">
                <a:solidFill>
                  <a:srgbClr val="FFFFFF"/>
                </a:solidFill>
                <a:latin typeface="Rubik"/>
                <a:ea typeface="Rubik"/>
                <a:cs typeface="Rubik"/>
              </a:defRPr>
            </a:pPr>
            <a:r>
              <a:rPr sz="5000" b="1">
                <a:solidFill>
                  <a:srgbClr val="FFFFFF"/>
                </a:solidFill>
                <a:latin typeface="Rubik"/>
                <a:ea typeface="Rubik"/>
                <a:cs typeface="Rubik"/>
              </a:rPr>
              <a:t>Results</a:t>
            </a:r>
            <a:endParaRPr sz="5000" b="1">
              <a:solidFill>
                <a:srgbClr val="FFFFFF"/>
              </a:solidFill>
              <a:latin typeface="Rubik"/>
              <a:ea typeface="Rubik"/>
              <a:cs typeface="Rubik"/>
            </a:endParaRPr>
          </a:p>
        </p:txBody>
      </p:sp>
      <p:sp>
        <p:nvSpPr>
          <p:cNvPr id="469" name="result-policy-heading">
            <a:extLst xmlns:a="http://schemas.openxmlformats.org/drawingml/2006/main">
              <a:ext uri="{FF2B5EF4-FFF2-40B4-BE49-F238E27FC236}">
                <a16:creationId xmlns:a16="http://schemas.microsoft.com/office/drawing/2014/main" id="{1A45D83F-B67B-497B-85FD-6CB0D328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00" y="17784000"/>
            <a:ext cx="91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First outputs by scenario</a:t>
            </a:r>
          </a:p>
        </p:txBody>
      </p:sp>
      <p:sp>
        <p:nvSpPr>
          <p:cNvPr id="470" name="result-timing-heading">
            <a:extLst xmlns:a="http://schemas.openxmlformats.org/drawingml/2006/main">
              <a:ext uri="{FF2B5EF4-FFF2-40B4-BE49-F238E27FC236}">
                <a16:creationId xmlns:a16="http://schemas.microsoft.com/office/drawing/2014/main" id="{FBDB7653-BD6E-4C9A-A11E-50A119F8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17784000"/>
            <a:ext cx="8532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2577A"/>
                </a:solidFill>
                <a:latin typeface="Rubik"/>
                <a:ea typeface="Rubik"/>
                <a:cs typeface="Rubik"/>
              </a:defRPr>
            </a:pPr>
            <a:r>
              <a:rPr sz="3225" b="1">
                <a:solidFill>
                  <a:srgbClr val="22577A"/>
                </a:solidFill>
                <a:latin typeface="Rubik"/>
                <a:ea typeface="Rubik"/>
                <a:cs typeface="Rubik"/>
              </a:rPr>
              <a:t>Timing and delivery</a:t>
            </a:r>
          </a:p>
        </p:txBody>
      </p:sp>
      <p:graphicFrame>
        <p:nvGraphicFramePr>
          <p:cNvPr id="624" name=""/>
          <p:cNvGraphicFramePr/>
          <p:nvPr/>
        </p:nvGraphicFramePr>
        <p:xfrm>
          <a:off xmlns:a="http://schemas.openxmlformats.org/drawingml/2006/main" x="1332000" y="18504000"/>
          <a:ext xmlns:a="http://schemas.openxmlformats.org/drawingml/2006/main" cx="9576000" cy="496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72000"/>
                <a:gridCol w="2592000"/>
                <a:gridCol w="6012000"/>
              </a:tblGrid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22577A"/>
                          </a:solidFill>
                          <a:latin typeface="Rubik"/>
                          <a:ea typeface="Rubik"/>
                          <a:cs typeface="Rubik"/>
                        </a:rPr>
                        <a:t>Scenario</a:t>
                      </a:r>
                    </a:p>
                  </a:txBody>
                  <a:tcPr marL="91440" marR="91440" marT="45720" marB="45720" anchor="ctr">
                    <a:solidFill>
                      <a:srgbClr val="C3DCE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22577A"/>
                          </a:solidFill>
                          <a:latin typeface="Rubik"/>
                          <a:ea typeface="Rubik"/>
                          <a:cs typeface="Rubik"/>
                        </a:rPr>
                        <a:t>Rules</a:t>
                      </a:r>
                    </a:p>
                  </a:txBody>
                  <a:tcPr marL="91440" marR="91440" marT="45720" marB="45720" anchor="ctr">
                    <a:solidFill>
                      <a:srgbClr val="C3DCE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22577A"/>
                          </a:solidFill>
                          <a:latin typeface="Rubik"/>
                          <a:ea typeface="Rubik"/>
                          <a:cs typeface="Rubik"/>
                        </a:rPr>
                        <a:t>LLM (3 runs)</a:t>
                      </a:r>
                    </a:p>
                  </a:txBody>
                  <a:tcPr marL="91440" marR="91440" marT="45720" marB="45720" anchor="ctr">
                    <a:solidFill>
                      <a:srgbClr val="C3DCE6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S1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 / YIELD / YIELD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S2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 / APPROACH / APPROACH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S3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ENGAGE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ENGAGE / ENGAGE / ENGAGE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S4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YIELD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 / APPROACH / APPROACH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S5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/ CONTINUE / CONTINUE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S6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/ CONTINUE / CONTINUE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S7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/ CONTINUE / CONTINUE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S8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/ CONTINUE / CONTINUE</a:t>
                      </a:r>
                    </a:p>
                  </a:txBody>
                  <a:tcPr marL="91440" marR="91440" marT="45720" marB="45720" anchor="ctr">
                    <a:solidFill>
                      <a:srgbClr val="EAF3F6"/>
                    </a:solidFill>
                  </a:tcPr>
                </a:tc>
              </a:tr>
              <a:tr h="496800"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1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S9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APPROACH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  <a:tc>
                  <a:txBody>
                    <a:bodyPr wrap="none" lIns="38100" tIns="9525" rIns="19050" bIns="9525">
                      <a:noAutofit/>
                    </a:bodyPr>
                    <a:lstStyle/>
                    <a:p>
                      <a:pPr algn="l"/>
                      <a:r>
                        <a:rPr sz="2250" b="0">
                          <a:solidFill>
                            <a:srgbClr val="263642"/>
                          </a:solidFill>
                          <a:latin typeface="Noto Sans"/>
                          <a:ea typeface="Noto Sans"/>
                          <a:cs typeface="Noto Sans"/>
                        </a:rPr>
                        <a:t>CONTINUE / CONTINUE / CONTINUE</a:t>
                      </a:r>
                    </a:p>
                  </a:txBody>
                  <a:tcPr marL="91440" marR="91440" marT="45720" marB="45720" anchor="ctr">
                    <a:solidFill>
                      <a:srgbClr val="DDECF2"/>
                    </a:solidFill>
                  </a:tcPr>
                </a:tc>
              </a:tr>
            </a:tbl>
          </a:graphicData>
        </a:graphic>
      </p:graphicFrame>
      <p:sp>
        <p:nvSpPr>
          <p:cNvPr id="472" name="time-label">
            <a:extLst xmlns:a="http://schemas.openxmlformats.org/drawingml/2006/main">
              <a:ext uri="{FF2B5EF4-FFF2-40B4-BE49-F238E27FC236}">
                <a16:creationId xmlns:a16="http://schemas.microsoft.com/office/drawing/2014/main" id="{3F0DC1B6-4EF0-484E-8E82-00237A41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18576000"/>
            <a:ext cx="86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63642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263642"/>
                </a:solidFill>
                <a:latin typeface="Noto Sans"/>
                <a:ea typeface="Noto Sans"/>
                <a:cs typeface="Noto Sans"/>
              </a:rPr>
              <a:t>Median time to first output</a:t>
            </a:r>
          </a:p>
        </p:txBody>
      </p:sp>
      <p:sp>
        <p:nvSpPr>
          <p:cNvPr id="473" name="rule-time-label">
            <a:extLst xmlns:a="http://schemas.openxmlformats.org/drawingml/2006/main">
              <a:ext uri="{FF2B5EF4-FFF2-40B4-BE49-F238E27FC236}">
                <a16:creationId xmlns:a16="http://schemas.microsoft.com/office/drawing/2014/main" id="{71CED44B-136E-45B3-90EA-B859F1FF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19116000"/>
            <a:ext cx="381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36A77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536A77"/>
                </a:solidFill>
                <a:latin typeface="Rubik"/>
                <a:ea typeface="Rubik"/>
                <a:cs typeface="Rubik"/>
              </a:rPr>
              <a:t>RULES</a:t>
            </a:r>
          </a:p>
        </p:txBody>
      </p:sp>
      <p:sp>
        <p:nvSpPr>
          <p:cNvPr id="474" name="llm-time-label">
            <a:extLst xmlns:a="http://schemas.openxmlformats.org/drawingml/2006/main">
              <a:ext uri="{FF2B5EF4-FFF2-40B4-BE49-F238E27FC236}">
                <a16:creationId xmlns:a16="http://schemas.microsoft.com/office/drawing/2014/main" id="{AAB9F61B-5C81-4C21-805D-E35D7730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00" y="19116000"/>
            <a:ext cx="381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36A77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536A77"/>
                </a:solidFill>
                <a:latin typeface="Rubik"/>
                <a:ea typeface="Rubik"/>
                <a:cs typeface="Rubik"/>
              </a:rPr>
              <a:t>LLM</a:t>
            </a:r>
          </a:p>
        </p:txBody>
      </p:sp>
      <p:sp>
        <p:nvSpPr>
          <p:cNvPr id="475" name="rule-time-value">
            <a:extLst xmlns:a="http://schemas.openxmlformats.org/drawingml/2006/main">
              <a:ext uri="{FF2B5EF4-FFF2-40B4-BE49-F238E27FC236}">
                <a16:creationId xmlns:a16="http://schemas.microsoft.com/office/drawing/2014/main" id="{05C04FD3-4DC4-497F-833B-0FAD0CB3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19476000"/>
            <a:ext cx="3924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15C80"/>
                </a:solidFill>
                <a:latin typeface="Rubik"/>
                <a:ea typeface="Rubik"/>
                <a:cs typeface="Rubik"/>
              </a:defRPr>
            </a:pPr>
            <a:r>
              <a:rPr sz="4800" b="1">
                <a:solidFill>
                  <a:srgbClr val="215C80"/>
                </a:solidFill>
                <a:latin typeface="Rubik"/>
                <a:ea typeface="Rubik"/>
                <a:cs typeface="Rubik"/>
              </a:rPr>
              <a:t>1.09 s</a:t>
            </a:r>
          </a:p>
        </p:txBody>
      </p:sp>
      <p:sp>
        <p:nvSpPr>
          <p:cNvPr id="476" name="llm-time-value">
            <a:extLst xmlns:a="http://schemas.openxmlformats.org/drawingml/2006/main">
              <a:ext uri="{FF2B5EF4-FFF2-40B4-BE49-F238E27FC236}">
                <a16:creationId xmlns:a16="http://schemas.microsoft.com/office/drawing/2014/main" id="{A1461E10-B969-43AF-B572-F22F213E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00" y="19476000"/>
            <a:ext cx="414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15C80"/>
                </a:solidFill>
                <a:latin typeface="Rubik"/>
                <a:ea typeface="Rubik"/>
                <a:cs typeface="Rubik"/>
              </a:defRPr>
            </a:pPr>
            <a:r>
              <a:rPr sz="4800" b="1">
                <a:solidFill>
                  <a:srgbClr val="215C80"/>
                </a:solidFill>
                <a:latin typeface="Rubik"/>
                <a:ea typeface="Rubik"/>
                <a:cs typeface="Rubik"/>
              </a:rPr>
              <a:t>11.46 s</a:t>
            </a:r>
          </a:p>
        </p:txBody>
      </p:sp>
      <p:sp>
        <p:nvSpPr>
          <p:cNvPr id="477" name="accept-label">
            <a:extLst xmlns:a="http://schemas.openxmlformats.org/drawingml/2006/main">
              <a:ext uri="{FF2B5EF4-FFF2-40B4-BE49-F238E27FC236}">
                <a16:creationId xmlns:a16="http://schemas.microsoft.com/office/drawing/2014/main" id="{E0C7F3ED-29EC-4044-BBAD-67E06C83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20880000"/>
            <a:ext cx="864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63642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263642"/>
                </a:solidFill>
                <a:latin typeface="Noto Sans"/>
                <a:ea typeface="Noto Sans"/>
                <a:cs typeface="Noto Sans"/>
              </a:rPr>
              <a:t>Client accepted per repetition</a:t>
            </a:r>
          </a:p>
        </p:txBody>
      </p:sp>
      <p:sp>
        <p:nvSpPr>
          <p:cNvPr id="478" name="rule-accept-label">
            <a:extLst xmlns:a="http://schemas.openxmlformats.org/drawingml/2006/main">
              <a:ext uri="{FF2B5EF4-FFF2-40B4-BE49-F238E27FC236}">
                <a16:creationId xmlns:a16="http://schemas.microsoft.com/office/drawing/2014/main" id="{2925AD5F-8DF8-447A-A25B-F792C6BC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21456000"/>
            <a:ext cx="381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36A77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536A77"/>
                </a:solidFill>
                <a:latin typeface="Rubik"/>
                <a:ea typeface="Rubik"/>
                <a:cs typeface="Rubik"/>
              </a:rPr>
              <a:t>RULES</a:t>
            </a:r>
          </a:p>
        </p:txBody>
      </p:sp>
      <p:sp>
        <p:nvSpPr>
          <p:cNvPr id="479" name="llm-accept-label">
            <a:extLst xmlns:a="http://schemas.openxmlformats.org/drawingml/2006/main">
              <a:ext uri="{FF2B5EF4-FFF2-40B4-BE49-F238E27FC236}">
                <a16:creationId xmlns:a16="http://schemas.microsoft.com/office/drawing/2014/main" id="{5395FB0E-04AE-4991-A23F-1CDDC982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00" y="21456000"/>
            <a:ext cx="3816000" cy="3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536A77"/>
                </a:solidFill>
                <a:latin typeface="Rubik"/>
                <a:ea typeface="Rubik"/>
                <a:cs typeface="Rubik"/>
              </a:defRPr>
            </a:pPr>
            <a:r>
              <a:rPr sz="2175" b="1">
                <a:solidFill>
                  <a:srgbClr val="536A77"/>
                </a:solidFill>
                <a:latin typeface="Rubik"/>
                <a:ea typeface="Rubik"/>
                <a:cs typeface="Rubik"/>
              </a:rPr>
              <a:t>LLM</a:t>
            </a:r>
          </a:p>
        </p:txBody>
      </p:sp>
      <p:sp>
        <p:nvSpPr>
          <p:cNvPr id="480" name="rule-accept-value">
            <a:extLst xmlns:a="http://schemas.openxmlformats.org/drawingml/2006/main">
              <a:ext uri="{FF2B5EF4-FFF2-40B4-BE49-F238E27FC236}">
                <a16:creationId xmlns:a16="http://schemas.microsoft.com/office/drawing/2014/main" id="{2DDECA80-DC6A-457D-BEFA-25C7BC92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21816000"/>
            <a:ext cx="3924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15C80"/>
                </a:solidFill>
                <a:latin typeface="Rubik"/>
                <a:ea typeface="Rubik"/>
                <a:cs typeface="Rubik"/>
              </a:defRPr>
            </a:pPr>
            <a:r>
              <a:rPr sz="4800" b="1">
                <a:solidFill>
                  <a:srgbClr val="215C80"/>
                </a:solidFill>
                <a:latin typeface="Rubik"/>
                <a:ea typeface="Rubik"/>
                <a:cs typeface="Rubik"/>
              </a:rPr>
              <a:t>9/9</a:t>
            </a:r>
          </a:p>
        </p:txBody>
      </p:sp>
      <p:sp>
        <p:nvSpPr>
          <p:cNvPr id="481" name="llm-accept-value">
            <a:extLst xmlns:a="http://schemas.openxmlformats.org/drawingml/2006/main">
              <a:ext uri="{FF2B5EF4-FFF2-40B4-BE49-F238E27FC236}">
                <a16:creationId xmlns:a16="http://schemas.microsoft.com/office/drawing/2014/main" id="{631202E3-5DD5-42B8-A0C5-EC048843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00" y="21816000"/>
            <a:ext cx="414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15C80"/>
                </a:solidFill>
                <a:latin typeface="Rubik"/>
                <a:ea typeface="Rubik"/>
                <a:cs typeface="Rubik"/>
              </a:defRPr>
            </a:pPr>
            <a:r>
              <a:rPr sz="4800" b="1">
                <a:solidFill>
                  <a:srgbClr val="215C80"/>
                </a:solidFill>
                <a:latin typeface="Rubik"/>
                <a:ea typeface="Rubik"/>
                <a:cs typeface="Rubik"/>
              </a:rPr>
              <a:t>1/9</a:t>
            </a:r>
          </a:p>
        </p:txBody>
      </p:sp>
      <p:sp>
        <p:nvSpPr>
          <p:cNvPr id="482" name="state-match">
            <a:extLst xmlns:a="http://schemas.openxmlformats.org/drawingml/2006/main">
              <a:ext uri="{FF2B5EF4-FFF2-40B4-BE49-F238E27FC236}">
                <a16:creationId xmlns:a16="http://schemas.microsoft.com/office/drawing/2014/main" id="{D4F1BF24-6214-473B-BCB3-17FD8C93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00" y="22824000"/>
            <a:ext cx="8532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3642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263642"/>
                </a:solidFill>
                <a:latin typeface="Noto Sans"/>
                <a:ea typeface="Noto Sans"/>
                <a:cs typeface="Noto Sans"/>
              </a:rPr>
              <a:t>Initial SocialState matched in 27/27 paired replays.</a:t>
            </a:r>
          </a:p>
        </p:txBody>
      </p:sp>
      <p:sp>
        <p:nvSpPr>
          <p:cNvPr id="483" name="results-note">
            <a:extLst xmlns:a="http://schemas.openxmlformats.org/drawingml/2006/main">
              <a:ext uri="{FF2B5EF4-FFF2-40B4-BE49-F238E27FC236}">
                <a16:creationId xmlns:a16="http://schemas.microsoft.com/office/drawing/2014/main" id="{7A3E0632-F0FC-436E-852B-119507E8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000" y="23616000"/>
            <a:ext cx="18756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A7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36A77"/>
                </a:solidFill>
                <a:latin typeface="Noto Sans"/>
                <a:ea typeface="Noto Sans"/>
                <a:cs typeface="Noto Sans"/>
              </a:rPr>
              <a:t>First validated output, including CONTINUE. Three replays of nine scenarios. Survey judgments concern video endings, so human alignment is not scored here.</a:t>
            </a:r>
          </a:p>
        </p:txBody>
      </p:sp>
      <p:sp>
        <p:nvSpPr>
          <p:cNvPr id="484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F4F6B5F8-4AA1-4D1D-ADF9-C892B9D5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6028000"/>
            <a:ext cx="18792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63642"/>
                </a:solidFill>
                <a:latin typeface="Noto Sans"/>
                <a:ea typeface="Noto Sans"/>
                <a:cs typeface="Noto Sans"/>
              </a:defRPr>
            </a:pPr>
            <a:r>
              <a:rPr sz="2700" b="0">
                <a:solidFill>
                  <a:srgbClr val="263642"/>
                </a:solidFill>
                <a:latin typeface="Noto Sans"/>
                <a:ea typeface="Noto Sans"/>
                <a:cs typeface="Noto Sans"/>
              </a:rPr>
              <a:t>Both policies produced valid decisions from identical initial evidence. Rules reached the client sooner and were accepted in 9/9 scenarios, compared with 1/9 for the LLM. Further work should align policy decisions with survey video endings and test delivery on new live encounters.</a:t>
            </a:r>
          </a:p>
        </p:txBody>
      </p:sp>
      <p:sp>
        <p:nvSpPr>
          <p:cNvPr id="485" name="conclusion-limitation">
            <a:extLst xmlns:a="http://schemas.openxmlformats.org/drawingml/2006/main">
              <a:ext uri="{FF2B5EF4-FFF2-40B4-BE49-F238E27FC236}">
                <a16:creationId xmlns:a16="http://schemas.microsoft.com/office/drawing/2014/main" id="{FDA58E84-2EA9-45E2-BFF4-D513353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000" y="28008000"/>
            <a:ext cx="1879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A77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36A77"/>
                </a:solidFill>
                <a:latin typeface="Noto Sans"/>
                <a:ea typeface="Noto Sans"/>
                <a:cs typeface="Noto Sans"/>
              </a:rPr>
              <a:t>Offline replay; no robot movement or matched-time human rating of policy outputs.</a:t>
            </a:r>
          </a:p>
        </p:txBody>
      </p:sp>
    </p:spTree>
    <p:extLst>
      <p:ext uri="{BB962C8B-B14F-4D97-AF65-F5344CB8AC3E}">
        <p14:creationId xmlns:p14="http://schemas.microsoft.com/office/powerpoint/2010/main" val="470439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2026-10-11T09:15:09.2860000Z</dcterms:created>
  <dcterms:modified xsi:type="dcterms:W3CDTF">2026-10-11T09:15:09.2860000Z</dcterms:modified>
</coreProperties>
</file>