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1E8"/>
    <a:srgbClr val="21577A"/>
    <a:srgbClr val="DDEC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22"/>
    <p:restoredTop sz="94673"/>
  </p:normalViewPr>
  <p:slideViewPr>
    <p:cSldViewPr snapToGrid="0">
      <p:cViewPr>
        <p:scale>
          <a:sx n="51" d="100"/>
          <a:sy n="51" d="100"/>
        </p:scale>
        <p:origin x="1616" y="-2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NZ" sz="2625" b="1">
                <a:solidFill>
                  <a:srgbClr val="22577A"/>
                </a:solidFill>
                <a:latin typeface="Noto Sans"/>
                <a:ea typeface="Noto Sans"/>
                <a:cs typeface="Noto Sans"/>
              </a:rPr>
              <a:t>Mean decision latency (s)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Mean decision latency (s)</c:v>
          </c:tx>
          <c:spPr>
            <a:solidFill>
              <a:srgbClr val="22577A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C6D5-464B-9D5C-584E4CFB2392}"/>
              </c:ext>
            </c:extLst>
          </c:dPt>
          <c:dPt>
            <c:idx val="1"/>
            <c:invertIfNegative val="0"/>
            <c:bubble3D val="0"/>
            <c:spPr>
              <a:solidFill>
                <a:srgbClr val="A9BCC5"/>
              </a:solidFill>
            </c:spPr>
            <c:extLst>
              <c:ext xmlns:c16="http://schemas.microsoft.com/office/drawing/2014/chart" uri="{C3380CC4-5D6E-409C-BE32-E72D297353CC}">
                <c16:uniqueId val="{00000002-C6D5-464B-9D5C-584E4CFB2392}"/>
              </c:ext>
            </c:extLst>
          </c:dPt>
          <c:cat>
            <c:strRef>
              <c:f>Latency!$A$2:$A$3</c:f>
              <c:strCache>
                <c:ptCount val="2"/>
                <c:pt idx="0">
                  <c:v>Rule-based</c:v>
                </c:pt>
                <c:pt idx="1">
                  <c:v>LLM</c:v>
                </c:pt>
              </c:strCache>
            </c:strRef>
          </c:cat>
          <c:val>
            <c:numRef>
              <c:f>Latency!$B$2:$B$3</c:f>
              <c:numCache>
                <c:formatCode>0.000</c:formatCode>
                <c:ptCount val="2"/>
                <c:pt idx="0">
                  <c:v>1.3</c:v>
                </c:pt>
                <c:pt idx="1">
                  <c:v>5.8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C6D5-464B-9D5C-584E4CFB23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7A9AAB"/>
            </a:solidFill>
          </a:ln>
        </c:spPr>
        <c:txPr>
          <a:bodyPr anchorCtr="1"/>
          <a:lstStyle/>
          <a:p>
            <a:pPr>
              <a:defRPr sz="2325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.000" sourceLinked="1"/>
        <c:majorTickMark val="none"/>
        <c:minorTickMark val="none"/>
        <c:tickLblPos val="none"/>
        <c:spPr>
          <a:ln w="9525">
            <a:solidFill>
              <a:srgbClr val="7A9AAB"/>
            </a:solidFill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DDECF2"/>
        </a:solidFill>
        <a:ln w="0">
          <a:noFill/>
        </a:ln>
      </c:spPr>
    </c:plotArea>
    <c:plotVisOnly val="1"/>
    <c:dispBlanksAs val="gap"/>
    <c:showDLblsOverMax val="1"/>
  </c:chart>
  <c:spPr>
    <a:solidFill>
      <a:srgbClr val="DDECF2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Draft poster for Project 59. Students: Eddie Kim and Jeruh Kim. Supervisor: Ho Seok Ahn. Contact: hkim807@aucklanduni.ac.nz.</a:t>
            </a:r>
          </a:p>
          <a:p>
            <a:endParaRPr dirty="0"/>
          </a:p>
          <a:p>
            <a:r>
              <a:rPr dirty="0"/>
              <a:t>Sources: /Users/</a:t>
            </a:r>
            <a:r>
              <a:rPr dirty="0" err="1"/>
              <a:t>eddiekim</a:t>
            </a:r>
            <a:r>
              <a:rPr dirty="0"/>
              <a:t>/Downloads/Poster Design </a:t>
            </a:r>
            <a:r>
              <a:rPr dirty="0" err="1"/>
              <a:t>Guide.pdf</a:t>
            </a:r>
            <a:r>
              <a:rPr dirty="0"/>
              <a:t> (A1 portrait, required fields, PDF &lt;50 MB). Its 2024 deadline is historical. /Users/</a:t>
            </a:r>
            <a:r>
              <a:rPr dirty="0" err="1"/>
              <a:t>eddiekim</a:t>
            </a:r>
            <a:r>
              <a:rPr dirty="0"/>
              <a:t>/Downloads/Speech_Nilushika2023.pdf. Layout reference: /Users/</a:t>
            </a:r>
            <a:r>
              <a:rPr dirty="0" err="1"/>
              <a:t>eddiekim</a:t>
            </a:r>
            <a:r>
              <a:rPr dirty="0"/>
              <a:t>/Downloads/Poster_77 (1).pdf.</a:t>
            </a:r>
          </a:p>
          <a:p>
            <a:endParaRPr dirty="0"/>
          </a:p>
          <a:p>
            <a:r>
              <a:rPr dirty="0"/>
              <a:t>Survey source: /Users/</a:t>
            </a:r>
            <a:r>
              <a:rPr dirty="0" err="1"/>
              <a:t>eddiekim</a:t>
            </a:r>
            <a:r>
              <a:rPr dirty="0"/>
              <a:t>/Downloads/Human Evaluation of Robot </a:t>
            </a:r>
            <a:r>
              <a:rPr dirty="0" err="1"/>
              <a:t>Behaviour</a:t>
            </a:r>
            <a:r>
              <a:rPr dirty="0"/>
              <a:t> (Responses).xlsx, Form responses 1. Preference counts and all 36 rating means independently verified against config/human-</a:t>
            </a:r>
            <a:r>
              <a:rPr dirty="0" err="1"/>
              <a:t>reference.json</a:t>
            </a:r>
            <a:r>
              <a:rPr dirty="0"/>
              <a:t>. Every preference bar sums to 37. Unable to judge is a survey response, not an action.</a:t>
            </a:r>
          </a:p>
          <a:p>
            <a:endParaRPr dirty="0"/>
          </a:p>
          <a:p>
            <a:r>
              <a:rPr dirty="0"/>
              <a:t>Pipeline source: docs/results/first-action-live-output/</a:t>
            </a:r>
            <a:r>
              <a:rPr dirty="0" err="1"/>
              <a:t>results.csv</a:t>
            </a:r>
            <a:r>
              <a:rPr dirty="0"/>
              <a:t>, </a:t>
            </a:r>
            <a:r>
              <a:rPr dirty="0" err="1"/>
              <a:t>report.md</a:t>
            </a:r>
            <a:r>
              <a:rPr dirty="0"/>
              <a:t>, </a:t>
            </a:r>
            <a:r>
              <a:rPr dirty="0" err="1"/>
              <a:t>verification.json</a:t>
            </a:r>
            <a:r>
              <a:rPr dirty="0"/>
              <a:t>. Nine SDK captures, first valid policy output, identical initial eligible states. qwen2.5:7b, temperature 0, seed 42, warmed model. Times are from replay start, not inference latency. All actions NOT_EXECUTED_OFFLINE.</a:t>
            </a:r>
          </a:p>
          <a:p>
            <a:endParaRPr dirty="0"/>
          </a:p>
          <a:p>
            <a:r>
              <a:rPr dirty="0"/>
              <a:t>Both policies produce outputs in S2,S3,S9. Six no-action cases remain in coverage denominator. LLM outputs fail live-client acceptance (S2 stale observation, S3 gaze not ready, S9 person no longer visible). Acceptance/timings reflect one development replay and may vary.</a:t>
            </a:r>
          </a:p>
          <a:p>
            <a:endParaRPr dirty="0"/>
          </a:p>
          <a:p>
            <a:r>
              <a:rPr dirty="0"/>
              <a:t>The survey clips are trimmed and trim offsets are unavailable. This prevents survey-end human-alignment scoring. Initial survey is completed. Human evaluation of actual completed-system </a:t>
            </a:r>
            <a:r>
              <a:rPr dirty="0" err="1"/>
              <a:t>behaviour</a:t>
            </a:r>
            <a:r>
              <a:rPr dirty="0"/>
              <a:t> is future work. Do not claim VLM/hybrid results or policy superiority.</a:t>
            </a:r>
          </a:p>
          <a:p>
            <a:endParaRPr dirty="0"/>
          </a:p>
          <a:p>
            <a:r>
              <a:rPr dirty="0"/>
              <a:t>Navel product image: https://</a:t>
            </a:r>
            <a:r>
              <a:rPr dirty="0" err="1"/>
              <a:t>navelrobotics.com</a:t>
            </a:r>
            <a:r>
              <a:rPr dirty="0"/>
              <a:t>/wp-content/uploads/2025/02/Navel0157-scaled.jpg via https://</a:t>
            </a:r>
            <a:r>
              <a:rPr dirty="0" err="1"/>
              <a:t>navelrobotics.com</a:t>
            </a:r>
            <a:r>
              <a:rPr dirty="0"/>
              <a:t>/</a:t>
            </a:r>
            <a:r>
              <a:rPr dirty="0" err="1"/>
              <a:t>en</a:t>
            </a:r>
            <a:r>
              <a:rPr dirty="0"/>
              <a:t>/navel-the-new-empathy-robot-for-good-care/. University logo extracted unchanged from supplied exemplar. Official department logo is a labelled draft field. No sponsor confirmed.</a:t>
            </a:r>
          </a:p>
          <a:p>
            <a:endParaRPr dirty="0"/>
          </a:p>
          <a:p>
            <a:r>
              <a:rPr dirty="0"/>
              <a:t>Fonts Rubik and Noto Sans are design selections evoking the robot, not verified official brand 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jkim828@aucklanduni.ac.nz" TargetMode="External"/><Relationship Id="rId5" Type="http://schemas.openxmlformats.org/officeDocument/2006/relationships/hyperlink" Target="mailto:hkim807@aucklanduni.ac.nz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roject">
            <a:extLst>
              <a:ext uri="{FF2B5EF4-FFF2-40B4-BE49-F238E27FC236}">
                <a16:creationId xmlns:a16="http://schemas.microsoft.com/office/drawing/2014/main" id="{2A7EC6C2-59DA-4ACC-AA02-99E5DC361128}"/>
              </a:ext>
            </a:extLst>
          </p:cNvPr>
          <p:cNvSpPr>
            <a:spLocks noGrp="1"/>
          </p:cNvSpPr>
          <p:nvPr/>
        </p:nvSpPr>
        <p:spPr>
          <a:xfrm>
            <a:off x="952500" y="736087"/>
            <a:ext cx="6667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600" b="0">
                <a:solidFill>
                  <a:srgbClr val="22577A"/>
                </a:solidFill>
                <a:latin typeface="Rubik"/>
                <a:ea typeface="Rubik"/>
                <a:cs typeface="Rubik"/>
              </a:defRPr>
            </a:pPr>
            <a:r>
              <a:rPr sz="3600" b="0" dirty="0">
                <a:solidFill>
                  <a:srgbClr val="22577A"/>
                </a:solidFill>
                <a:latin typeface="Rubik"/>
                <a:ea typeface="Rubik"/>
                <a:cs typeface="Rubik"/>
              </a:rPr>
              <a:t>Project 59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8635283-631E-4062-99AB-EA8238BEF1EA}"/>
              </a:ext>
            </a:extLst>
          </p:cNvPr>
          <p:cNvSpPr>
            <a:spLocks noGrp="1"/>
          </p:cNvSpPr>
          <p:nvPr/>
        </p:nvSpPr>
        <p:spPr>
          <a:xfrm>
            <a:off x="952500" y="1178302"/>
            <a:ext cx="15668625" cy="2667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0" b="1">
                <a:solidFill>
                  <a:srgbClr val="26333C"/>
                </a:solidFill>
                <a:latin typeface="Rubik"/>
                <a:ea typeface="Rubik"/>
                <a:cs typeface="Rubik"/>
              </a:defRPr>
            </a:pPr>
            <a:r>
              <a:rPr lang="en-AU" sz="9000" b="1" dirty="0">
                <a:solidFill>
                  <a:srgbClr val="26333C"/>
                </a:solidFill>
                <a:latin typeface="Rubik"/>
                <a:ea typeface="Rubik"/>
                <a:cs typeface="Rubik"/>
              </a:rPr>
              <a:t>Interactive Social Guide Robot</a:t>
            </a:r>
            <a:endParaRPr sz="9000" b="1" dirty="0">
              <a:solidFill>
                <a:srgbClr val="26333C"/>
              </a:solidFill>
              <a:latin typeface="Rubik"/>
              <a:ea typeface="Rubik"/>
              <a:cs typeface="Rubik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232AEDB-F49B-42E1-9285-C681E8351079}"/>
              </a:ext>
            </a:extLst>
          </p:cNvPr>
          <p:cNvSpPr>
            <a:spLocks noGrp="1"/>
          </p:cNvSpPr>
          <p:nvPr/>
        </p:nvSpPr>
        <p:spPr>
          <a:xfrm>
            <a:off x="977686" y="2626807"/>
            <a:ext cx="17208713" cy="1028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600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pPr>
            <a:r>
              <a:rPr lang="en-AU" sz="3600" b="0" dirty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Decision making using</a:t>
            </a:r>
            <a:r>
              <a:rPr sz="3600" b="0" dirty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AU" sz="3600" dirty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a rule-based</a:t>
            </a:r>
            <a:r>
              <a:rPr sz="3600" b="0" dirty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 and </a:t>
            </a:r>
            <a:r>
              <a:rPr lang="en-AU" sz="3600" b="0" dirty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an LLM-integrated navigation pipeline</a:t>
            </a:r>
            <a:endParaRPr sz="3600" b="0" dirty="0">
              <a:solidFill>
                <a:srgbClr val="26333C"/>
              </a:solidFill>
              <a:latin typeface="Noto Sans"/>
              <a:ea typeface="Noto Sans"/>
              <a:cs typeface="Noto Sans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>
          <a:blip r:embed="rId3"/>
          <a:srcRect t="11454" b="10702"/>
          <a:stretch>
            <a:fillRect/>
          </a:stretch>
        </p:blipFill>
        <p:spPr>
          <a:xfrm>
            <a:off x="17979301" y="522392"/>
            <a:ext cx="2770682" cy="3234615"/>
          </a:xfrm>
          <a:prstGeom prst="rect">
            <a:avLst/>
          </a:prstGeom>
        </p:spPr>
      </p:pic>
      <p:sp>
        <p:nvSpPr>
          <p:cNvPr id="5" name="background-shadow">
            <a:extLst>
              <a:ext uri="{FF2B5EF4-FFF2-40B4-BE49-F238E27FC236}">
                <a16:creationId xmlns:a16="http://schemas.microsoft.com/office/drawing/2014/main" id="{FECD6F3E-ABC2-45EC-9C99-11DF547E93FD}"/>
              </a:ext>
            </a:extLst>
          </p:cNvPr>
          <p:cNvSpPr>
            <a:spLocks noGrp="1"/>
          </p:cNvSpPr>
          <p:nvPr/>
        </p:nvSpPr>
        <p:spPr>
          <a:xfrm>
            <a:off x="1069917" y="4290502"/>
            <a:ext cx="9453750" cy="3095625"/>
          </a:xfrm>
          <a:prstGeom prst="roundRect">
            <a:avLst>
              <a:gd name="adj" fmla="val 2462"/>
            </a:avLst>
          </a:prstGeom>
          <a:solidFill>
            <a:srgbClr val="AFC4C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ackground-panel">
            <a:extLst>
              <a:ext uri="{FF2B5EF4-FFF2-40B4-BE49-F238E27FC236}">
                <a16:creationId xmlns:a16="http://schemas.microsoft.com/office/drawing/2014/main" id="{2FD0C7CA-023B-466A-823F-81922E9A0B20}"/>
              </a:ext>
            </a:extLst>
          </p:cNvPr>
          <p:cNvSpPr>
            <a:spLocks noGrp="1"/>
          </p:cNvSpPr>
          <p:nvPr/>
        </p:nvSpPr>
        <p:spPr>
          <a:xfrm>
            <a:off x="927042" y="4138102"/>
            <a:ext cx="9453750" cy="3095625"/>
          </a:xfrm>
          <a:prstGeom prst="roundRect">
            <a:avLst>
              <a:gd name="adj" fmla="val 2462"/>
            </a:avLst>
          </a:prstGeom>
          <a:solidFill>
            <a:srgbClr val="DDECF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background-tab">
            <a:extLst>
              <a:ext uri="{FF2B5EF4-FFF2-40B4-BE49-F238E27FC236}">
                <a16:creationId xmlns:a16="http://schemas.microsoft.com/office/drawing/2014/main" id="{EECFFCBF-D181-43E2-AD94-1FE7BF2B2B96}"/>
              </a:ext>
            </a:extLst>
          </p:cNvPr>
          <p:cNvSpPr>
            <a:spLocks noGrp="1"/>
          </p:cNvSpPr>
          <p:nvPr/>
        </p:nvSpPr>
        <p:spPr>
          <a:xfrm>
            <a:off x="927043" y="3614227"/>
            <a:ext cx="4029006" cy="1000125"/>
          </a:xfrm>
          <a:prstGeom prst="roundRect">
            <a:avLst>
              <a:gd name="adj" fmla="val 7619"/>
            </a:avLst>
          </a:prstGeom>
          <a:solidFill>
            <a:srgbClr val="22577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background-heading">
            <a:extLst>
              <a:ext uri="{FF2B5EF4-FFF2-40B4-BE49-F238E27FC236}">
                <a16:creationId xmlns:a16="http://schemas.microsoft.com/office/drawing/2014/main" id="{AC3D33DA-E183-4976-80EB-79E5D1B8D38E}"/>
              </a:ext>
            </a:extLst>
          </p:cNvPr>
          <p:cNvSpPr>
            <a:spLocks noGrp="1"/>
          </p:cNvSpPr>
          <p:nvPr/>
        </p:nvSpPr>
        <p:spPr>
          <a:xfrm>
            <a:off x="1069917" y="3652327"/>
            <a:ext cx="5476875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Rubik"/>
                <a:ea typeface="Rubik"/>
                <a:cs typeface="Rubik"/>
              </a:defRPr>
            </a:pPr>
            <a:r>
              <a:rPr sz="5500" b="1" dirty="0">
                <a:solidFill>
                  <a:srgbClr val="FFFFFF"/>
                </a:solidFill>
                <a:latin typeface="Rubik"/>
                <a:ea typeface="Rubik"/>
                <a:cs typeface="Rubik"/>
              </a:rPr>
              <a:t>Background</a:t>
            </a:r>
          </a:p>
        </p:txBody>
      </p:sp>
      <p:sp>
        <p:nvSpPr>
          <p:cNvPr id="9" name="background-body">
            <a:extLst>
              <a:ext uri="{FF2B5EF4-FFF2-40B4-BE49-F238E27FC236}">
                <a16:creationId xmlns:a16="http://schemas.microsoft.com/office/drawing/2014/main" id="{ABB59DFD-C7D1-47C5-905B-78D327EA4C19}"/>
              </a:ext>
            </a:extLst>
          </p:cNvPr>
          <p:cNvSpPr>
            <a:spLocks noGrp="1"/>
          </p:cNvSpPr>
          <p:nvPr/>
        </p:nvSpPr>
        <p:spPr>
          <a:xfrm>
            <a:off x="1238387" y="4819239"/>
            <a:ext cx="8787000" cy="2381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600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pPr>
            <a:r>
              <a:rPr sz="3300" b="0" dirty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A guide robot must </a:t>
            </a:r>
            <a:r>
              <a:rPr lang="en-AU" sz="3300" b="0" dirty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recognise</a:t>
            </a:r>
            <a:r>
              <a:rPr sz="3300" b="0" dirty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 interest in interaction</a:t>
            </a:r>
            <a:r>
              <a:rPr lang="en-AU" sz="3300" dirty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 while roaming the laboratory. </a:t>
            </a:r>
            <a:r>
              <a:rPr sz="3300" b="0" dirty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Changing gaze and distance, and missed detections, make this decision difficult.</a:t>
            </a:r>
          </a:p>
        </p:txBody>
      </p:sp>
      <p:sp>
        <p:nvSpPr>
          <p:cNvPr id="10" name="objective-shadow">
            <a:extLst>
              <a:ext uri="{FF2B5EF4-FFF2-40B4-BE49-F238E27FC236}">
                <a16:creationId xmlns:a16="http://schemas.microsoft.com/office/drawing/2014/main" id="{15597DCE-276C-465F-81BF-9FE419D42A64}"/>
              </a:ext>
            </a:extLst>
          </p:cNvPr>
          <p:cNvSpPr>
            <a:spLocks noGrp="1"/>
          </p:cNvSpPr>
          <p:nvPr/>
        </p:nvSpPr>
        <p:spPr>
          <a:xfrm>
            <a:off x="11095167" y="4290502"/>
            <a:ext cx="9453750" cy="3095625"/>
          </a:xfrm>
          <a:prstGeom prst="roundRect">
            <a:avLst>
              <a:gd name="adj" fmla="val 2462"/>
            </a:avLst>
          </a:prstGeom>
          <a:solidFill>
            <a:srgbClr val="AFC4C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objective-panel">
            <a:extLst>
              <a:ext uri="{FF2B5EF4-FFF2-40B4-BE49-F238E27FC236}">
                <a16:creationId xmlns:a16="http://schemas.microsoft.com/office/drawing/2014/main" id="{BA295997-ECD8-4693-981E-0D36C2CD65F3}"/>
              </a:ext>
            </a:extLst>
          </p:cNvPr>
          <p:cNvSpPr>
            <a:spLocks noGrp="1"/>
          </p:cNvSpPr>
          <p:nvPr/>
        </p:nvSpPr>
        <p:spPr>
          <a:xfrm>
            <a:off x="10952292" y="4138102"/>
            <a:ext cx="9453750" cy="3095625"/>
          </a:xfrm>
          <a:prstGeom prst="roundRect">
            <a:avLst>
              <a:gd name="adj" fmla="val 2462"/>
            </a:avLst>
          </a:prstGeom>
          <a:solidFill>
            <a:srgbClr val="DDECF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objective-tab">
            <a:extLst>
              <a:ext uri="{FF2B5EF4-FFF2-40B4-BE49-F238E27FC236}">
                <a16:creationId xmlns:a16="http://schemas.microsoft.com/office/drawing/2014/main" id="{02E29F47-1C3A-42A1-9819-2ECA5A47EDCC}"/>
              </a:ext>
            </a:extLst>
          </p:cNvPr>
          <p:cNvSpPr>
            <a:spLocks noGrp="1"/>
          </p:cNvSpPr>
          <p:nvPr/>
        </p:nvSpPr>
        <p:spPr>
          <a:xfrm>
            <a:off x="10952292" y="3614227"/>
            <a:ext cx="3312348" cy="1000125"/>
          </a:xfrm>
          <a:prstGeom prst="roundRect">
            <a:avLst>
              <a:gd name="adj" fmla="val 7619"/>
            </a:avLst>
          </a:prstGeom>
          <a:solidFill>
            <a:srgbClr val="22577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objective-heading">
            <a:extLst>
              <a:ext uri="{FF2B5EF4-FFF2-40B4-BE49-F238E27FC236}">
                <a16:creationId xmlns:a16="http://schemas.microsoft.com/office/drawing/2014/main" id="{9B130B3E-369B-4BF3-9128-82E43AB9751F}"/>
              </a:ext>
            </a:extLst>
          </p:cNvPr>
          <p:cNvSpPr>
            <a:spLocks noGrp="1"/>
          </p:cNvSpPr>
          <p:nvPr/>
        </p:nvSpPr>
        <p:spPr>
          <a:xfrm>
            <a:off x="11095167" y="3678070"/>
            <a:ext cx="5476875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Rubik"/>
                <a:ea typeface="Rubik"/>
                <a:cs typeface="Rubik"/>
              </a:defRPr>
            </a:pPr>
            <a:r>
              <a:rPr sz="5500" b="1" dirty="0">
                <a:solidFill>
                  <a:srgbClr val="FFFFFF"/>
                </a:solidFill>
                <a:latin typeface="Rubik"/>
                <a:ea typeface="Rubik"/>
                <a:cs typeface="Rubik"/>
              </a:rPr>
              <a:t>Objective</a:t>
            </a:r>
          </a:p>
        </p:txBody>
      </p:sp>
      <p:sp>
        <p:nvSpPr>
          <p:cNvPr id="14" name="objective-body">
            <a:extLst>
              <a:ext uri="{FF2B5EF4-FFF2-40B4-BE49-F238E27FC236}">
                <a16:creationId xmlns:a16="http://schemas.microsoft.com/office/drawing/2014/main" id="{548ACFB3-AE68-4804-911D-F6B919A76514}"/>
              </a:ext>
            </a:extLst>
          </p:cNvPr>
          <p:cNvSpPr>
            <a:spLocks noGrp="1"/>
          </p:cNvSpPr>
          <p:nvPr/>
        </p:nvSpPr>
        <p:spPr>
          <a:xfrm>
            <a:off x="11175629" y="4770644"/>
            <a:ext cx="8787000" cy="2381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600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pPr>
            <a:r>
              <a:rPr lang="en-AU" sz="3300" b="0" dirty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Develop a temporal social-state pipeline for Navel to support a comparison and eva</a:t>
            </a:r>
            <a:r>
              <a:rPr lang="en-AU" sz="3300" dirty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luation</a:t>
            </a:r>
            <a:r>
              <a:rPr lang="en-AU" sz="3300" b="0" dirty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 of rule-based and LLM decisions in navigation scenarios</a:t>
            </a:r>
            <a:endParaRPr sz="3300" b="0" dirty="0">
              <a:solidFill>
                <a:srgbClr val="26333C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15" name="research-question-shadow">
            <a:extLst>
              <a:ext uri="{FF2B5EF4-FFF2-40B4-BE49-F238E27FC236}">
                <a16:creationId xmlns:a16="http://schemas.microsoft.com/office/drawing/2014/main" id="{C5122651-93B6-4D4F-9012-1B81C6B95A0D}"/>
              </a:ext>
            </a:extLst>
          </p:cNvPr>
          <p:cNvSpPr>
            <a:spLocks noGrp="1"/>
          </p:cNvSpPr>
          <p:nvPr/>
        </p:nvSpPr>
        <p:spPr>
          <a:xfrm>
            <a:off x="1059891" y="7852852"/>
            <a:ext cx="19479000" cy="1574041"/>
          </a:xfrm>
          <a:prstGeom prst="roundRect">
            <a:avLst>
              <a:gd name="adj" fmla="val 5517"/>
            </a:avLst>
          </a:prstGeom>
          <a:solidFill>
            <a:srgbClr val="AFC4C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search-question-band">
            <a:extLst>
              <a:ext uri="{FF2B5EF4-FFF2-40B4-BE49-F238E27FC236}">
                <a16:creationId xmlns:a16="http://schemas.microsoft.com/office/drawing/2014/main" id="{3C4C04D3-D612-4B07-A71B-4709BD9CE86C}"/>
              </a:ext>
            </a:extLst>
          </p:cNvPr>
          <p:cNvSpPr>
            <a:spLocks noGrp="1"/>
          </p:cNvSpPr>
          <p:nvPr/>
        </p:nvSpPr>
        <p:spPr>
          <a:xfrm>
            <a:off x="917016" y="7709977"/>
            <a:ext cx="19479000" cy="1574041"/>
          </a:xfrm>
          <a:prstGeom prst="roundRect">
            <a:avLst>
              <a:gd name="adj" fmla="val 5517"/>
            </a:avLst>
          </a:prstGeom>
          <a:solidFill>
            <a:srgbClr val="F3F0E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search-question">
            <a:extLst>
              <a:ext uri="{FF2B5EF4-FFF2-40B4-BE49-F238E27FC236}">
                <a16:creationId xmlns:a16="http://schemas.microsoft.com/office/drawing/2014/main" id="{EECBF27F-9D8C-42F9-8FD0-B76B02911D42}"/>
              </a:ext>
            </a:extLst>
          </p:cNvPr>
          <p:cNvSpPr>
            <a:spLocks noGrp="1"/>
          </p:cNvSpPr>
          <p:nvPr/>
        </p:nvSpPr>
        <p:spPr>
          <a:xfrm>
            <a:off x="2294967" y="7926670"/>
            <a:ext cx="8587371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n-NZ" sz="2500" dirty="0"/>
              <a:t>How can gaze and distance observations over time be structured into a shared social-state representation for rule-based and LLM decision-making?</a:t>
            </a:r>
          </a:p>
        </p:txBody>
      </p:sp>
      <p:sp>
        <p:nvSpPr>
          <p:cNvPr id="37" name="results-shadow">
            <a:extLst>
              <a:ext uri="{FF2B5EF4-FFF2-40B4-BE49-F238E27FC236}">
                <a16:creationId xmlns:a16="http://schemas.microsoft.com/office/drawing/2014/main" id="{16B39896-3D9B-476C-A1F9-067C6B8A3B90}"/>
              </a:ext>
            </a:extLst>
          </p:cNvPr>
          <p:cNvSpPr>
            <a:spLocks noGrp="1"/>
          </p:cNvSpPr>
          <p:nvPr/>
        </p:nvSpPr>
        <p:spPr>
          <a:xfrm>
            <a:off x="1095375" y="17541642"/>
            <a:ext cx="19479000" cy="7172859"/>
          </a:xfrm>
          <a:prstGeom prst="roundRect">
            <a:avLst>
              <a:gd name="adj" fmla="val 947"/>
            </a:avLst>
          </a:prstGeom>
          <a:solidFill>
            <a:srgbClr val="AFC4C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results-panel">
            <a:extLst>
              <a:ext uri="{FF2B5EF4-FFF2-40B4-BE49-F238E27FC236}">
                <a16:creationId xmlns:a16="http://schemas.microsoft.com/office/drawing/2014/main" id="{52D53336-98E2-41E1-A0A9-1FC2CB4D1FD1}"/>
              </a:ext>
            </a:extLst>
          </p:cNvPr>
          <p:cNvSpPr>
            <a:spLocks noGrp="1"/>
          </p:cNvSpPr>
          <p:nvPr/>
        </p:nvSpPr>
        <p:spPr>
          <a:xfrm>
            <a:off x="952500" y="17385605"/>
            <a:ext cx="19479000" cy="7153131"/>
          </a:xfrm>
          <a:prstGeom prst="roundRect">
            <a:avLst>
              <a:gd name="adj" fmla="val 947"/>
            </a:avLst>
          </a:prstGeom>
          <a:solidFill>
            <a:srgbClr val="DDECF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conclusion-shadow">
            <a:extLst>
              <a:ext uri="{FF2B5EF4-FFF2-40B4-BE49-F238E27FC236}">
                <a16:creationId xmlns:a16="http://schemas.microsoft.com/office/drawing/2014/main" id="{1E319BA1-33D2-45ED-8C4A-5C543D6ACF53}"/>
              </a:ext>
            </a:extLst>
          </p:cNvPr>
          <p:cNvSpPr>
            <a:spLocks noGrp="1"/>
          </p:cNvSpPr>
          <p:nvPr/>
        </p:nvSpPr>
        <p:spPr>
          <a:xfrm>
            <a:off x="1095375" y="25629090"/>
            <a:ext cx="19479000" cy="3069230"/>
          </a:xfrm>
          <a:prstGeom prst="roundRect">
            <a:avLst>
              <a:gd name="adj" fmla="val 3200"/>
            </a:avLst>
          </a:prstGeom>
          <a:solidFill>
            <a:srgbClr val="AFC4C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conclusion-panel">
            <a:extLst>
              <a:ext uri="{FF2B5EF4-FFF2-40B4-BE49-F238E27FC236}">
                <a16:creationId xmlns:a16="http://schemas.microsoft.com/office/drawing/2014/main" id="{E74B29A4-38F3-4E43-81A2-503AA2E2D9CA}"/>
              </a:ext>
            </a:extLst>
          </p:cNvPr>
          <p:cNvSpPr>
            <a:spLocks noGrp="1"/>
          </p:cNvSpPr>
          <p:nvPr/>
        </p:nvSpPr>
        <p:spPr>
          <a:xfrm>
            <a:off x="952500" y="25476690"/>
            <a:ext cx="19479000" cy="3069230"/>
          </a:xfrm>
          <a:prstGeom prst="roundRect">
            <a:avLst>
              <a:gd name="adj" fmla="val 3200"/>
            </a:avLst>
          </a:prstGeom>
          <a:solidFill>
            <a:srgbClr val="DDECF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conclusion-tab">
            <a:extLst>
              <a:ext uri="{FF2B5EF4-FFF2-40B4-BE49-F238E27FC236}">
                <a16:creationId xmlns:a16="http://schemas.microsoft.com/office/drawing/2014/main" id="{A7B80AB1-7D28-4B62-8592-297670C2CE7A}"/>
              </a:ext>
            </a:extLst>
          </p:cNvPr>
          <p:cNvSpPr>
            <a:spLocks noGrp="1"/>
          </p:cNvSpPr>
          <p:nvPr/>
        </p:nvSpPr>
        <p:spPr>
          <a:xfrm>
            <a:off x="952500" y="24952815"/>
            <a:ext cx="7864929" cy="1000125"/>
          </a:xfrm>
          <a:prstGeom prst="roundRect">
            <a:avLst>
              <a:gd name="adj" fmla="val 7619"/>
            </a:avLst>
          </a:prstGeom>
          <a:solidFill>
            <a:srgbClr val="22577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conclusion-heading">
            <a:extLst>
              <a:ext uri="{FF2B5EF4-FFF2-40B4-BE49-F238E27FC236}">
                <a16:creationId xmlns:a16="http://schemas.microsoft.com/office/drawing/2014/main" id="{08169525-2540-42A9-992F-A469867FD3E9}"/>
              </a:ext>
            </a:extLst>
          </p:cNvPr>
          <p:cNvSpPr>
            <a:spLocks noGrp="1"/>
          </p:cNvSpPr>
          <p:nvPr/>
        </p:nvSpPr>
        <p:spPr>
          <a:xfrm>
            <a:off x="1111948" y="25028441"/>
            <a:ext cx="10201275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Rubik"/>
                <a:ea typeface="Rubik"/>
                <a:cs typeface="Rubik"/>
              </a:defRPr>
            </a:pPr>
            <a:r>
              <a:rPr sz="5000" b="1" dirty="0">
                <a:solidFill>
                  <a:srgbClr val="FFFFFF"/>
                </a:solidFill>
                <a:latin typeface="Rubik"/>
                <a:ea typeface="Rubik"/>
                <a:cs typeface="Rubik"/>
              </a:rPr>
              <a:t>Conclusion</a:t>
            </a:r>
            <a:r>
              <a:rPr lang="en-NZ" sz="5000" b="1" dirty="0">
                <a:solidFill>
                  <a:srgbClr val="FFFFFF"/>
                </a:solidFill>
                <a:latin typeface="Rubik"/>
                <a:ea typeface="Rubik"/>
                <a:cs typeface="Rubik"/>
              </a:rPr>
              <a:t> and future work</a:t>
            </a:r>
            <a:endParaRPr sz="5000" b="1" dirty="0">
              <a:solidFill>
                <a:srgbClr val="FFFFFF"/>
              </a:solidFill>
              <a:latin typeface="Rubik"/>
              <a:ea typeface="Rubik"/>
              <a:cs typeface="Rubik"/>
            </a:endParaRPr>
          </a:p>
        </p:txBody>
      </p:sp>
      <p:pic>
        <p:nvPicPr>
          <p:cNvPr id="136" name="Picture 1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673572" y="28676558"/>
            <a:ext cx="2900803" cy="1470975"/>
          </a:xfrm>
          <a:prstGeom prst="rect">
            <a:avLst/>
          </a:prstGeom>
        </p:spPr>
      </p:pic>
      <p:sp>
        <p:nvSpPr>
          <p:cNvPr id="66" name="students">
            <a:extLst>
              <a:ext uri="{FF2B5EF4-FFF2-40B4-BE49-F238E27FC236}">
                <a16:creationId xmlns:a16="http://schemas.microsoft.com/office/drawing/2014/main" id="{1789226E-C70C-47AC-A67F-8D3A224EDABE}"/>
              </a:ext>
            </a:extLst>
          </p:cNvPr>
          <p:cNvSpPr>
            <a:spLocks noGrp="1"/>
          </p:cNvSpPr>
          <p:nvPr/>
        </p:nvSpPr>
        <p:spPr>
          <a:xfrm>
            <a:off x="977686" y="28807857"/>
            <a:ext cx="8096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300" b="1">
                <a:solidFill>
                  <a:srgbClr val="26333C"/>
                </a:solidFill>
                <a:latin typeface="Rubik"/>
                <a:ea typeface="Rubik"/>
                <a:cs typeface="Rubik"/>
              </a:defRPr>
            </a:pPr>
            <a:r>
              <a:rPr lang="en-AU" sz="2600" b="1" dirty="0">
                <a:solidFill>
                  <a:srgbClr val="26333C"/>
                </a:solidFill>
                <a:latin typeface="Rubik"/>
                <a:ea typeface="Rubik"/>
                <a:cs typeface="Rubik"/>
              </a:rPr>
              <a:t>By </a:t>
            </a:r>
            <a:r>
              <a:rPr sz="2600" b="1" dirty="0">
                <a:solidFill>
                  <a:srgbClr val="26333C"/>
                </a:solidFill>
                <a:latin typeface="Rubik"/>
                <a:ea typeface="Rubik"/>
                <a:cs typeface="Rubik"/>
              </a:rPr>
              <a:t>Eddie Kim and Jeruh Kim</a:t>
            </a:r>
          </a:p>
        </p:txBody>
      </p:sp>
      <p:sp>
        <p:nvSpPr>
          <p:cNvPr id="68" name="contact">
            <a:extLst>
              <a:ext uri="{FF2B5EF4-FFF2-40B4-BE49-F238E27FC236}">
                <a16:creationId xmlns:a16="http://schemas.microsoft.com/office/drawing/2014/main" id="{045F7B05-C452-42AF-8EB6-B0547F11FC61}"/>
              </a:ext>
            </a:extLst>
          </p:cNvPr>
          <p:cNvSpPr>
            <a:spLocks noGrp="1"/>
          </p:cNvSpPr>
          <p:nvPr/>
        </p:nvSpPr>
        <p:spPr>
          <a:xfrm>
            <a:off x="957171" y="29227538"/>
            <a:ext cx="8286750" cy="73173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000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pPr>
            <a:r>
              <a:rPr lang="en-AU" sz="2000" b="0" dirty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Contact: </a:t>
            </a:r>
            <a:r>
              <a:rPr sz="2000" b="0" dirty="0">
                <a:solidFill>
                  <a:srgbClr val="26333C"/>
                </a:solidFill>
                <a:latin typeface="Noto Sans"/>
                <a:ea typeface="Noto Sans"/>
                <a:cs typeface="Noto Sans"/>
                <a:hlinkClick r:id="rId5"/>
              </a:rPr>
              <a:t>hkim807@aucklanduni.ac.nz</a:t>
            </a:r>
            <a:r>
              <a:rPr lang="en-AU" sz="2000" b="0" dirty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AU" sz="2000" b="0" dirty="0">
                <a:solidFill>
                  <a:srgbClr val="26333C"/>
                </a:solidFill>
                <a:latin typeface="Noto Sans"/>
                <a:ea typeface="Noto Sans"/>
                <a:cs typeface="Noto Sans"/>
                <a:hlinkClick r:id="rId6"/>
              </a:rPr>
              <a:t>jkim828@aucklanduni.ac.nz</a:t>
            </a:r>
            <a:r>
              <a:rPr lang="en-AU" sz="2000" b="0" dirty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 </a:t>
            </a:r>
          </a:p>
          <a:p>
            <a:pPr algn="l">
              <a:defRPr sz="3000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pPr>
            <a:r>
              <a:rPr lang="en-NZ" sz="2000" dirty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Supervisor: Ho Seok Ahn</a:t>
            </a:r>
            <a:endParaRPr sz="2000" b="0" dirty="0">
              <a:solidFill>
                <a:srgbClr val="26333C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4" name="background-tab">
            <a:extLst>
              <a:ext uri="{FF2B5EF4-FFF2-40B4-BE49-F238E27FC236}">
                <a16:creationId xmlns:a16="http://schemas.microsoft.com/office/drawing/2014/main" id="{4DC686D0-FD66-E695-903F-DBB2764932E5}"/>
              </a:ext>
            </a:extLst>
          </p:cNvPr>
          <p:cNvSpPr>
            <a:spLocks noGrp="1"/>
          </p:cNvSpPr>
          <p:nvPr/>
        </p:nvSpPr>
        <p:spPr>
          <a:xfrm>
            <a:off x="1147138" y="8116156"/>
            <a:ext cx="970183" cy="755527"/>
          </a:xfrm>
          <a:prstGeom prst="roundRect">
            <a:avLst>
              <a:gd name="adj" fmla="val 7619"/>
            </a:avLst>
          </a:prstGeom>
          <a:solidFill>
            <a:srgbClr val="22577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background-heading">
            <a:extLst>
              <a:ext uri="{FF2B5EF4-FFF2-40B4-BE49-F238E27FC236}">
                <a16:creationId xmlns:a16="http://schemas.microsoft.com/office/drawing/2014/main" id="{352AAAC6-9D43-EA5F-DDFE-62794622B9F7}"/>
              </a:ext>
            </a:extLst>
          </p:cNvPr>
          <p:cNvSpPr>
            <a:spLocks noGrp="1"/>
          </p:cNvSpPr>
          <p:nvPr/>
        </p:nvSpPr>
        <p:spPr>
          <a:xfrm>
            <a:off x="1218576" y="8184568"/>
            <a:ext cx="1078739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Rubik"/>
                <a:ea typeface="Rubik"/>
                <a:cs typeface="Rubik"/>
              </a:defRPr>
            </a:pPr>
            <a:r>
              <a:rPr lang="en-AU" sz="3000" b="1" dirty="0">
                <a:solidFill>
                  <a:srgbClr val="FFFFFF"/>
                </a:solidFill>
                <a:latin typeface="Rubik"/>
                <a:ea typeface="Rubik"/>
                <a:cs typeface="Rubik"/>
              </a:rPr>
              <a:t>RQ1</a:t>
            </a:r>
            <a:endParaRPr sz="3000" b="1" dirty="0">
              <a:solidFill>
                <a:srgbClr val="FFFFFF"/>
              </a:solidFill>
              <a:latin typeface="Rubik"/>
              <a:ea typeface="Rubik"/>
              <a:cs typeface="Rubik"/>
            </a:endParaRPr>
          </a:p>
        </p:txBody>
      </p:sp>
      <p:sp>
        <p:nvSpPr>
          <p:cNvPr id="33" name="research-question">
            <a:extLst>
              <a:ext uri="{FF2B5EF4-FFF2-40B4-BE49-F238E27FC236}">
                <a16:creationId xmlns:a16="http://schemas.microsoft.com/office/drawing/2014/main" id="{79B7BB87-8241-45FB-5478-123C5E677BAB}"/>
              </a:ext>
            </a:extLst>
          </p:cNvPr>
          <p:cNvSpPr>
            <a:spLocks noGrp="1"/>
          </p:cNvSpPr>
          <p:nvPr/>
        </p:nvSpPr>
        <p:spPr>
          <a:xfrm>
            <a:off x="12101605" y="7896431"/>
            <a:ext cx="8587371" cy="1066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n-NZ" sz="2500" dirty="0"/>
              <a:t>How well can an LLM’s decisions align with human preferences and appropriateness ratings, compared with those of a rule-based policy using the same representation?</a:t>
            </a:r>
          </a:p>
        </p:txBody>
      </p:sp>
      <p:sp>
        <p:nvSpPr>
          <p:cNvPr id="56" name="background-tab">
            <a:extLst>
              <a:ext uri="{FF2B5EF4-FFF2-40B4-BE49-F238E27FC236}">
                <a16:creationId xmlns:a16="http://schemas.microsoft.com/office/drawing/2014/main" id="{1A56FC65-5CF6-D7C9-598C-6A6C5F554BDF}"/>
              </a:ext>
            </a:extLst>
          </p:cNvPr>
          <p:cNvSpPr>
            <a:spLocks noGrp="1"/>
          </p:cNvSpPr>
          <p:nvPr/>
        </p:nvSpPr>
        <p:spPr>
          <a:xfrm>
            <a:off x="10951428" y="8089005"/>
            <a:ext cx="970183" cy="755527"/>
          </a:xfrm>
          <a:prstGeom prst="roundRect">
            <a:avLst>
              <a:gd name="adj" fmla="val 7619"/>
            </a:avLst>
          </a:prstGeom>
          <a:solidFill>
            <a:srgbClr val="22577A"/>
          </a:solidFill>
          <a:ln w="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5" name="background-heading">
            <a:extLst>
              <a:ext uri="{FF2B5EF4-FFF2-40B4-BE49-F238E27FC236}">
                <a16:creationId xmlns:a16="http://schemas.microsoft.com/office/drawing/2014/main" id="{516CABBB-5A18-2479-88E9-55CF1340C30C}"/>
              </a:ext>
            </a:extLst>
          </p:cNvPr>
          <p:cNvSpPr>
            <a:spLocks noGrp="1"/>
          </p:cNvSpPr>
          <p:nvPr/>
        </p:nvSpPr>
        <p:spPr>
          <a:xfrm>
            <a:off x="11022866" y="8157417"/>
            <a:ext cx="1078739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Rubik"/>
                <a:ea typeface="Rubik"/>
                <a:cs typeface="Rubik"/>
              </a:defRPr>
            </a:pPr>
            <a:r>
              <a:rPr lang="en-AU" sz="3000" b="1" dirty="0">
                <a:solidFill>
                  <a:srgbClr val="FFFFFF"/>
                </a:solidFill>
                <a:latin typeface="Rubik"/>
                <a:ea typeface="Rubik"/>
                <a:cs typeface="Rubik"/>
              </a:rPr>
              <a:t>RQ2</a:t>
            </a:r>
            <a:endParaRPr sz="3000" b="1" dirty="0">
              <a:solidFill>
                <a:srgbClr val="FFFFFF"/>
              </a:solidFill>
              <a:latin typeface="Rubik"/>
              <a:ea typeface="Rubik"/>
              <a:cs typeface="Rubik"/>
            </a:endParaRPr>
          </a:p>
        </p:txBody>
      </p:sp>
      <p:sp>
        <p:nvSpPr>
          <p:cNvPr id="357" name="research-question-shadow">
            <a:extLst>
              <a:ext uri="{FF2B5EF4-FFF2-40B4-BE49-F238E27FC236}">
                <a16:creationId xmlns:a16="http://schemas.microsoft.com/office/drawing/2014/main" id="{BD4A0381-D257-E45A-15E5-AE98B4CEA5F9}"/>
              </a:ext>
            </a:extLst>
          </p:cNvPr>
          <p:cNvSpPr>
            <a:spLocks noGrp="1"/>
          </p:cNvSpPr>
          <p:nvPr/>
        </p:nvSpPr>
        <p:spPr>
          <a:xfrm>
            <a:off x="16200085" y="10800657"/>
            <a:ext cx="4405406" cy="1795466"/>
          </a:xfrm>
          <a:prstGeom prst="roundRect">
            <a:avLst>
              <a:gd name="adj" fmla="val 5517"/>
            </a:avLst>
          </a:prstGeom>
          <a:solidFill>
            <a:srgbClr val="AFC4C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8" name="research-question-shadow">
            <a:extLst>
              <a:ext uri="{FF2B5EF4-FFF2-40B4-BE49-F238E27FC236}">
                <a16:creationId xmlns:a16="http://schemas.microsoft.com/office/drawing/2014/main" id="{CDE99999-45B2-122E-9C8D-6FDE7CC5FFAD}"/>
              </a:ext>
            </a:extLst>
          </p:cNvPr>
          <p:cNvSpPr>
            <a:spLocks noGrp="1"/>
          </p:cNvSpPr>
          <p:nvPr/>
        </p:nvSpPr>
        <p:spPr>
          <a:xfrm>
            <a:off x="11160039" y="10806418"/>
            <a:ext cx="4405406" cy="1795466"/>
          </a:xfrm>
          <a:prstGeom prst="roundRect">
            <a:avLst>
              <a:gd name="adj" fmla="val 5517"/>
            </a:avLst>
          </a:prstGeom>
          <a:solidFill>
            <a:srgbClr val="AFC4C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9" name="research-question-shadow">
            <a:extLst>
              <a:ext uri="{FF2B5EF4-FFF2-40B4-BE49-F238E27FC236}">
                <a16:creationId xmlns:a16="http://schemas.microsoft.com/office/drawing/2014/main" id="{39CC27E7-236C-4983-86D1-0D96B5FAEEFF}"/>
              </a:ext>
            </a:extLst>
          </p:cNvPr>
          <p:cNvSpPr>
            <a:spLocks noGrp="1"/>
          </p:cNvSpPr>
          <p:nvPr/>
        </p:nvSpPr>
        <p:spPr>
          <a:xfrm>
            <a:off x="6138252" y="10812179"/>
            <a:ext cx="4405406" cy="1795466"/>
          </a:xfrm>
          <a:prstGeom prst="roundRect">
            <a:avLst>
              <a:gd name="adj" fmla="val 5517"/>
            </a:avLst>
          </a:prstGeom>
          <a:solidFill>
            <a:srgbClr val="AFC4C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0" name="research-question-shadow">
            <a:extLst>
              <a:ext uri="{FF2B5EF4-FFF2-40B4-BE49-F238E27FC236}">
                <a16:creationId xmlns:a16="http://schemas.microsoft.com/office/drawing/2014/main" id="{0E1EA1C5-544D-6711-925E-67945F8F2751}"/>
              </a:ext>
            </a:extLst>
          </p:cNvPr>
          <p:cNvSpPr>
            <a:spLocks noGrp="1"/>
          </p:cNvSpPr>
          <p:nvPr/>
        </p:nvSpPr>
        <p:spPr>
          <a:xfrm>
            <a:off x="1116465" y="10818118"/>
            <a:ext cx="4405406" cy="1795466"/>
          </a:xfrm>
          <a:prstGeom prst="roundRect">
            <a:avLst>
              <a:gd name="adj" fmla="val 5517"/>
            </a:avLst>
          </a:prstGeom>
          <a:solidFill>
            <a:srgbClr val="AFC4C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1" name="pipeline-0">
            <a:extLst>
              <a:ext uri="{FF2B5EF4-FFF2-40B4-BE49-F238E27FC236}">
                <a16:creationId xmlns:a16="http://schemas.microsoft.com/office/drawing/2014/main" id="{52FD9C5F-37DF-6D82-7739-834B35F4C1FF}"/>
              </a:ext>
            </a:extLst>
          </p:cNvPr>
          <p:cNvSpPr>
            <a:spLocks noGrp="1"/>
          </p:cNvSpPr>
          <p:nvPr/>
        </p:nvSpPr>
        <p:spPr>
          <a:xfrm>
            <a:off x="992640" y="10722869"/>
            <a:ext cx="4405406" cy="1765544"/>
          </a:xfrm>
          <a:prstGeom prst="roundRect">
            <a:avLst>
              <a:gd name="adj" fmla="val 4545"/>
            </a:avLst>
          </a:prstGeom>
          <a:solidFill>
            <a:srgbClr val="F3F0E7"/>
          </a:solidFill>
          <a:ln w="1905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62" name="pipeline-title-0">
            <a:extLst>
              <a:ext uri="{FF2B5EF4-FFF2-40B4-BE49-F238E27FC236}">
                <a16:creationId xmlns:a16="http://schemas.microsoft.com/office/drawing/2014/main" id="{C1A03CDE-D40A-80BD-647D-856C31436D5B}"/>
              </a:ext>
            </a:extLst>
          </p:cNvPr>
          <p:cNvSpPr>
            <a:spLocks noGrp="1"/>
          </p:cNvSpPr>
          <p:nvPr/>
        </p:nvSpPr>
        <p:spPr>
          <a:xfrm>
            <a:off x="1238005" y="10801004"/>
            <a:ext cx="3986306" cy="54571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3900" b="1">
                <a:solidFill>
                  <a:srgbClr val="22577A"/>
                </a:solidFill>
                <a:latin typeface="Rubik"/>
                <a:ea typeface="Rubik"/>
                <a:cs typeface="Rubik"/>
              </a:defRPr>
            </a:pPr>
            <a:r>
              <a:rPr sz="3600" b="1" dirty="0">
                <a:solidFill>
                  <a:srgbClr val="22577A"/>
                </a:solidFill>
                <a:latin typeface="Rubik"/>
                <a:ea typeface="Rubik"/>
                <a:cs typeface="Rubik"/>
              </a:rPr>
              <a:t>Navel </a:t>
            </a:r>
            <a:r>
              <a:rPr lang="en-AU" sz="3600" b="1" dirty="0">
                <a:solidFill>
                  <a:srgbClr val="22577A"/>
                </a:solidFill>
                <a:latin typeface="Rubik"/>
                <a:ea typeface="Rubik"/>
                <a:cs typeface="Rubik"/>
              </a:rPr>
              <a:t>S</a:t>
            </a:r>
            <a:r>
              <a:rPr sz="3600" b="1" dirty="0" err="1">
                <a:solidFill>
                  <a:srgbClr val="22577A"/>
                </a:solidFill>
                <a:latin typeface="Rubik"/>
                <a:ea typeface="Rubik"/>
                <a:cs typeface="Rubik"/>
              </a:rPr>
              <a:t>ensors</a:t>
            </a:r>
            <a:endParaRPr sz="3600" b="1" dirty="0">
              <a:solidFill>
                <a:srgbClr val="22577A"/>
              </a:solidFill>
              <a:latin typeface="Rubik"/>
              <a:ea typeface="Rubik"/>
              <a:cs typeface="Rubik"/>
            </a:endParaRPr>
          </a:p>
        </p:txBody>
      </p:sp>
      <p:sp>
        <p:nvSpPr>
          <p:cNvPr id="363" name="pipeline-1">
            <a:extLst>
              <a:ext uri="{FF2B5EF4-FFF2-40B4-BE49-F238E27FC236}">
                <a16:creationId xmlns:a16="http://schemas.microsoft.com/office/drawing/2014/main" id="{544601CF-7E25-1E5F-606F-A445FE3EF79C}"/>
              </a:ext>
            </a:extLst>
          </p:cNvPr>
          <p:cNvSpPr>
            <a:spLocks noGrp="1"/>
          </p:cNvSpPr>
          <p:nvPr/>
        </p:nvSpPr>
        <p:spPr>
          <a:xfrm>
            <a:off x="6017171" y="10722869"/>
            <a:ext cx="4405406" cy="1765544"/>
          </a:xfrm>
          <a:prstGeom prst="roundRect">
            <a:avLst>
              <a:gd name="adj" fmla="val 4545"/>
            </a:avLst>
          </a:prstGeom>
          <a:solidFill>
            <a:srgbClr val="F3F0E7"/>
          </a:solidFill>
          <a:ln w="1905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4" name="pipeline-title-1">
            <a:extLst>
              <a:ext uri="{FF2B5EF4-FFF2-40B4-BE49-F238E27FC236}">
                <a16:creationId xmlns:a16="http://schemas.microsoft.com/office/drawing/2014/main" id="{A1A36CE3-133A-6938-4533-B2AA05B3FCA0}"/>
              </a:ext>
            </a:extLst>
          </p:cNvPr>
          <p:cNvSpPr>
            <a:spLocks noGrp="1"/>
          </p:cNvSpPr>
          <p:nvPr/>
        </p:nvSpPr>
        <p:spPr>
          <a:xfrm>
            <a:off x="6225692" y="10818941"/>
            <a:ext cx="3986306" cy="54571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3900" b="1">
                <a:solidFill>
                  <a:srgbClr val="22577A"/>
                </a:solidFill>
                <a:latin typeface="Rubik"/>
                <a:ea typeface="Rubik"/>
                <a:cs typeface="Rubik"/>
              </a:defRPr>
            </a:pPr>
            <a:r>
              <a:rPr sz="3600" b="1" dirty="0">
                <a:solidFill>
                  <a:srgbClr val="22577A"/>
                </a:solidFill>
                <a:latin typeface="Rubik"/>
                <a:ea typeface="Rubik"/>
                <a:cs typeface="Rubik"/>
              </a:rPr>
              <a:t>Track </a:t>
            </a:r>
            <a:r>
              <a:rPr lang="en-AU" sz="3600" b="1" dirty="0">
                <a:solidFill>
                  <a:srgbClr val="22577A"/>
                </a:solidFill>
                <a:latin typeface="Rubik"/>
                <a:ea typeface="Rubik"/>
                <a:cs typeface="Rubik"/>
              </a:rPr>
              <a:t>H</a:t>
            </a:r>
            <a:r>
              <a:rPr sz="3600" b="1" dirty="0" err="1">
                <a:solidFill>
                  <a:srgbClr val="22577A"/>
                </a:solidFill>
                <a:latin typeface="Rubik"/>
                <a:ea typeface="Rubik"/>
                <a:cs typeface="Rubik"/>
              </a:rPr>
              <a:t>istory</a:t>
            </a:r>
            <a:endParaRPr sz="3600" b="1" dirty="0">
              <a:solidFill>
                <a:srgbClr val="22577A"/>
              </a:solidFill>
              <a:latin typeface="Rubik"/>
              <a:ea typeface="Rubik"/>
              <a:cs typeface="Rubik"/>
            </a:endParaRPr>
          </a:p>
        </p:txBody>
      </p:sp>
      <p:sp>
        <p:nvSpPr>
          <p:cNvPr id="365" name="pipeline-2">
            <a:extLst>
              <a:ext uri="{FF2B5EF4-FFF2-40B4-BE49-F238E27FC236}">
                <a16:creationId xmlns:a16="http://schemas.microsoft.com/office/drawing/2014/main" id="{D07B250D-7997-24BF-E94C-575F0E841A26}"/>
              </a:ext>
            </a:extLst>
          </p:cNvPr>
          <p:cNvSpPr>
            <a:spLocks noGrp="1"/>
          </p:cNvSpPr>
          <p:nvPr/>
        </p:nvSpPr>
        <p:spPr>
          <a:xfrm>
            <a:off x="11041703" y="10722869"/>
            <a:ext cx="4405406" cy="1765544"/>
          </a:xfrm>
          <a:prstGeom prst="roundRect">
            <a:avLst>
              <a:gd name="adj" fmla="val 4545"/>
            </a:avLst>
          </a:prstGeom>
          <a:solidFill>
            <a:srgbClr val="F3F0E7"/>
          </a:solidFill>
          <a:ln w="19050"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66" name="pipeline-title-2">
            <a:extLst>
              <a:ext uri="{FF2B5EF4-FFF2-40B4-BE49-F238E27FC236}">
                <a16:creationId xmlns:a16="http://schemas.microsoft.com/office/drawing/2014/main" id="{4CC46A1F-4280-C82B-FEEA-60DE4E6DA595}"/>
              </a:ext>
            </a:extLst>
          </p:cNvPr>
          <p:cNvSpPr>
            <a:spLocks noGrp="1"/>
          </p:cNvSpPr>
          <p:nvPr/>
        </p:nvSpPr>
        <p:spPr>
          <a:xfrm>
            <a:off x="11250224" y="10818941"/>
            <a:ext cx="3986306" cy="54571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3900" b="1">
                <a:solidFill>
                  <a:srgbClr val="22577A"/>
                </a:solidFill>
                <a:latin typeface="Rubik"/>
                <a:ea typeface="Rubik"/>
                <a:cs typeface="Rubik"/>
              </a:defRPr>
            </a:pPr>
            <a:r>
              <a:rPr lang="en-AU" sz="3600" b="1" dirty="0">
                <a:solidFill>
                  <a:srgbClr val="22577A"/>
                </a:solidFill>
                <a:latin typeface="Rubik"/>
                <a:ea typeface="Rubik"/>
                <a:cs typeface="Rubik"/>
              </a:rPr>
              <a:t>Shared </a:t>
            </a:r>
            <a:r>
              <a:rPr sz="3600" b="1" dirty="0">
                <a:solidFill>
                  <a:srgbClr val="22577A"/>
                </a:solidFill>
                <a:latin typeface="Rubik"/>
                <a:ea typeface="Rubik"/>
                <a:cs typeface="Rubik"/>
              </a:rPr>
              <a:t>Social </a:t>
            </a:r>
            <a:r>
              <a:rPr lang="en-AU" sz="3600" b="1" dirty="0">
                <a:solidFill>
                  <a:srgbClr val="22577A"/>
                </a:solidFill>
                <a:latin typeface="Rubik"/>
                <a:ea typeface="Rubik"/>
                <a:cs typeface="Rubik"/>
              </a:rPr>
              <a:t>S</a:t>
            </a:r>
            <a:r>
              <a:rPr sz="3600" b="1" dirty="0" err="1">
                <a:solidFill>
                  <a:srgbClr val="22577A"/>
                </a:solidFill>
                <a:latin typeface="Rubik"/>
                <a:ea typeface="Rubik"/>
                <a:cs typeface="Rubik"/>
              </a:rPr>
              <a:t>tate</a:t>
            </a:r>
            <a:endParaRPr sz="3600" b="1" dirty="0">
              <a:solidFill>
                <a:srgbClr val="22577A"/>
              </a:solidFill>
              <a:latin typeface="Rubik"/>
              <a:ea typeface="Rubik"/>
              <a:cs typeface="Rubik"/>
            </a:endParaRPr>
          </a:p>
        </p:txBody>
      </p:sp>
      <p:sp>
        <p:nvSpPr>
          <p:cNvPr id="367" name="pipeline-body-2">
            <a:extLst>
              <a:ext uri="{FF2B5EF4-FFF2-40B4-BE49-F238E27FC236}">
                <a16:creationId xmlns:a16="http://schemas.microsoft.com/office/drawing/2014/main" id="{C4676CFB-668A-81CB-12BA-CE607EFFBF1C}"/>
              </a:ext>
            </a:extLst>
          </p:cNvPr>
          <p:cNvSpPr>
            <a:spLocks noGrp="1"/>
          </p:cNvSpPr>
          <p:nvPr/>
        </p:nvSpPr>
        <p:spPr>
          <a:xfrm>
            <a:off x="11227257" y="11367295"/>
            <a:ext cx="4024406" cy="96302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3600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pPr>
            <a:r>
              <a:rPr lang="en-NZ" sz="2000" b="0" dirty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A structured summary of the social context </a:t>
            </a:r>
            <a:r>
              <a:rPr lang="en-NZ" sz="2000" dirty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and available </a:t>
            </a:r>
            <a:r>
              <a:rPr lang="en-NZ" sz="2000" b="0" dirty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evidence</a:t>
            </a:r>
          </a:p>
        </p:txBody>
      </p:sp>
      <p:sp>
        <p:nvSpPr>
          <p:cNvPr id="368" name="pipeline-3">
            <a:extLst>
              <a:ext uri="{FF2B5EF4-FFF2-40B4-BE49-F238E27FC236}">
                <a16:creationId xmlns:a16="http://schemas.microsoft.com/office/drawing/2014/main" id="{E6894EDB-6B9A-C257-9B74-65647AB2F368}"/>
              </a:ext>
            </a:extLst>
          </p:cNvPr>
          <p:cNvSpPr>
            <a:spLocks noGrp="1"/>
          </p:cNvSpPr>
          <p:nvPr/>
        </p:nvSpPr>
        <p:spPr>
          <a:xfrm>
            <a:off x="16066234" y="10722869"/>
            <a:ext cx="4405406" cy="1765544"/>
          </a:xfrm>
          <a:prstGeom prst="roundRect">
            <a:avLst>
              <a:gd name="adj" fmla="val 4545"/>
            </a:avLst>
          </a:prstGeom>
          <a:solidFill>
            <a:srgbClr val="F3F0E7"/>
          </a:solidFill>
          <a:ln w="1905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9" name="pipeline-title-3">
            <a:extLst>
              <a:ext uri="{FF2B5EF4-FFF2-40B4-BE49-F238E27FC236}">
                <a16:creationId xmlns:a16="http://schemas.microsoft.com/office/drawing/2014/main" id="{BCF85DA8-1647-F6D7-E841-25E92DDA8A15}"/>
              </a:ext>
            </a:extLst>
          </p:cNvPr>
          <p:cNvSpPr>
            <a:spLocks noGrp="1"/>
          </p:cNvSpPr>
          <p:nvPr/>
        </p:nvSpPr>
        <p:spPr>
          <a:xfrm>
            <a:off x="16199436" y="10818941"/>
            <a:ext cx="3986306" cy="54571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3900" b="1">
                <a:solidFill>
                  <a:srgbClr val="22577A"/>
                </a:solidFill>
                <a:latin typeface="Rubik"/>
                <a:ea typeface="Rubik"/>
                <a:cs typeface="Rubik"/>
              </a:defRPr>
            </a:pPr>
            <a:r>
              <a:rPr lang="en-AU" sz="3600" b="1" dirty="0">
                <a:solidFill>
                  <a:srgbClr val="22577A"/>
                </a:solidFill>
                <a:latin typeface="Rubik"/>
                <a:ea typeface="Rubik"/>
                <a:cs typeface="Rubik"/>
              </a:rPr>
              <a:t>Decision Policies</a:t>
            </a:r>
            <a:endParaRPr sz="3600" b="1" dirty="0">
              <a:solidFill>
                <a:srgbClr val="22577A"/>
              </a:solidFill>
              <a:latin typeface="Rubik"/>
              <a:ea typeface="Rubik"/>
              <a:cs typeface="Rubik"/>
            </a:endParaRPr>
          </a:p>
        </p:txBody>
      </p:sp>
      <p:sp>
        <p:nvSpPr>
          <p:cNvPr id="370" name="pipeline-body-3">
            <a:extLst>
              <a:ext uri="{FF2B5EF4-FFF2-40B4-BE49-F238E27FC236}">
                <a16:creationId xmlns:a16="http://schemas.microsoft.com/office/drawing/2014/main" id="{A01B8B75-3A4F-43D4-05D7-9158BA9B2FBE}"/>
              </a:ext>
            </a:extLst>
          </p:cNvPr>
          <p:cNvSpPr>
            <a:spLocks noGrp="1"/>
          </p:cNvSpPr>
          <p:nvPr/>
        </p:nvSpPr>
        <p:spPr>
          <a:xfrm>
            <a:off x="16251788" y="11400633"/>
            <a:ext cx="4024406" cy="96302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3600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pPr>
            <a:r>
              <a:rPr lang="en-AU" sz="2000" dirty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Rule-based and LLM policies select an action from the same social state</a:t>
            </a:r>
            <a:endParaRPr sz="2000" b="0" dirty="0">
              <a:solidFill>
                <a:srgbClr val="26333C"/>
              </a:solidFill>
              <a:latin typeface="Noto Sans"/>
              <a:ea typeface="Noto Sans"/>
              <a:cs typeface="Noto Sans"/>
            </a:endParaRPr>
          </a:p>
        </p:txBody>
      </p:sp>
      <p:cxnSp>
        <p:nvCxnSpPr>
          <p:cNvPr id="371" name="Straight Arrow Connector 370">
            <a:extLst>
              <a:ext uri="{FF2B5EF4-FFF2-40B4-BE49-F238E27FC236}">
                <a16:creationId xmlns:a16="http://schemas.microsoft.com/office/drawing/2014/main" id="{414D25CE-E4FD-075A-8C47-24D500CF19E3}"/>
              </a:ext>
            </a:extLst>
          </p:cNvPr>
          <p:cNvCxnSpPr>
            <a:stCxn id="361" idx="3"/>
            <a:endCxn id="363" idx="1"/>
          </p:cNvCxnSpPr>
          <p:nvPr/>
        </p:nvCxnSpPr>
        <p:spPr>
          <a:xfrm>
            <a:off x="5398046" y="11605641"/>
            <a:ext cx="619125" cy="0"/>
          </a:xfrm>
          <a:prstGeom prst="straightConnector1">
            <a:avLst/>
          </a:prstGeom>
          <a:ln w="47625">
            <a:solidFill>
              <a:srgbClr val="22577A"/>
            </a:solidFill>
            <a:tailEnd type="arrow" w="med" len="med"/>
          </a:ln>
        </p:spPr>
      </p:cxnSp>
      <p:cxnSp>
        <p:nvCxnSpPr>
          <p:cNvPr id="372" name="Straight Arrow Connector 371">
            <a:extLst>
              <a:ext uri="{FF2B5EF4-FFF2-40B4-BE49-F238E27FC236}">
                <a16:creationId xmlns:a16="http://schemas.microsoft.com/office/drawing/2014/main" id="{878DA958-DCC0-BB78-3093-E06E98BC3943}"/>
              </a:ext>
            </a:extLst>
          </p:cNvPr>
          <p:cNvCxnSpPr>
            <a:stCxn id="363" idx="3"/>
            <a:endCxn id="365" idx="1"/>
          </p:cNvCxnSpPr>
          <p:nvPr/>
        </p:nvCxnSpPr>
        <p:spPr>
          <a:xfrm>
            <a:off x="10422577" y="11605641"/>
            <a:ext cx="619126" cy="0"/>
          </a:xfrm>
          <a:prstGeom prst="straightConnector1">
            <a:avLst/>
          </a:prstGeom>
          <a:ln w="47625">
            <a:solidFill>
              <a:srgbClr val="22577A"/>
            </a:solidFill>
            <a:tailEnd type="arrow" w="med" len="med"/>
          </a:ln>
        </p:spPr>
      </p:cxnSp>
      <p:cxnSp>
        <p:nvCxnSpPr>
          <p:cNvPr id="373" name="Straight Arrow Connector 372">
            <a:extLst>
              <a:ext uri="{FF2B5EF4-FFF2-40B4-BE49-F238E27FC236}">
                <a16:creationId xmlns:a16="http://schemas.microsoft.com/office/drawing/2014/main" id="{61F78EC6-6536-352B-F1B3-D4C5C7130994}"/>
              </a:ext>
            </a:extLst>
          </p:cNvPr>
          <p:cNvCxnSpPr>
            <a:stCxn id="365" idx="3"/>
            <a:endCxn id="368" idx="1"/>
          </p:cNvCxnSpPr>
          <p:nvPr/>
        </p:nvCxnSpPr>
        <p:spPr>
          <a:xfrm>
            <a:off x="15447109" y="11605641"/>
            <a:ext cx="619125" cy="0"/>
          </a:xfrm>
          <a:prstGeom prst="straightConnector1">
            <a:avLst/>
          </a:prstGeom>
          <a:ln w="47625">
            <a:solidFill>
              <a:srgbClr val="22577A"/>
            </a:solidFill>
            <a:tailEnd type="arrow" w="med" len="med"/>
          </a:ln>
        </p:spPr>
      </p:cxnSp>
      <p:sp>
        <p:nvSpPr>
          <p:cNvPr id="374" name="pipeline-body-0">
            <a:extLst>
              <a:ext uri="{FF2B5EF4-FFF2-40B4-BE49-F238E27FC236}">
                <a16:creationId xmlns:a16="http://schemas.microsoft.com/office/drawing/2014/main" id="{4D69C053-BAB7-B904-179C-E84134610EC6}"/>
              </a:ext>
            </a:extLst>
          </p:cNvPr>
          <p:cNvSpPr>
            <a:spLocks noGrp="1"/>
          </p:cNvSpPr>
          <p:nvPr/>
        </p:nvSpPr>
        <p:spPr>
          <a:xfrm>
            <a:off x="1238005" y="11489593"/>
            <a:ext cx="3968512" cy="91978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3600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pPr>
            <a:r>
              <a:rPr lang="en-AU" sz="2000" dirty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Person detections, social cues and robot movement data</a:t>
            </a:r>
            <a:endParaRPr sz="2400" dirty="0">
              <a:solidFill>
                <a:srgbClr val="26333C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375" name="pipeline-body-0">
            <a:extLst>
              <a:ext uri="{FF2B5EF4-FFF2-40B4-BE49-F238E27FC236}">
                <a16:creationId xmlns:a16="http://schemas.microsoft.com/office/drawing/2014/main" id="{567B4D40-3385-F4F4-DF6C-CA9402ED8A40}"/>
              </a:ext>
            </a:extLst>
          </p:cNvPr>
          <p:cNvSpPr>
            <a:spLocks noGrp="1"/>
          </p:cNvSpPr>
          <p:nvPr/>
        </p:nvSpPr>
        <p:spPr>
          <a:xfrm>
            <a:off x="6426911" y="11387987"/>
            <a:ext cx="3588804" cy="91978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3600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pPr>
            <a:r>
              <a:rPr lang="en-AU" sz="2000" dirty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Person histories, changes in attention and distance, and observation quality</a:t>
            </a:r>
            <a:endParaRPr sz="2400" dirty="0">
              <a:solidFill>
                <a:srgbClr val="26333C"/>
              </a:solidFill>
              <a:latin typeface="Noto Sans"/>
              <a:ea typeface="Noto Sans"/>
              <a:cs typeface="Noto Sans"/>
            </a:endParaRPr>
          </a:p>
        </p:txBody>
      </p:sp>
      <p:grpSp>
        <p:nvGrpSpPr>
          <p:cNvPr id="376" name="Action card 1">
            <a:extLst>
              <a:ext uri="{FF2B5EF4-FFF2-40B4-BE49-F238E27FC236}">
                <a16:creationId xmlns:a16="http://schemas.microsoft.com/office/drawing/2014/main" id="{2CFA8117-BE23-93F9-37D3-7682F30C8D19}"/>
              </a:ext>
            </a:extLst>
          </p:cNvPr>
          <p:cNvGrpSpPr/>
          <p:nvPr/>
        </p:nvGrpSpPr>
        <p:grpSpPr>
          <a:xfrm>
            <a:off x="977686" y="13495667"/>
            <a:ext cx="4524375" cy="3095625"/>
            <a:chOff x="973169" y="13194220"/>
            <a:chExt cx="4524375" cy="3095625"/>
          </a:xfrm>
        </p:grpSpPr>
        <p:sp>
          <p:nvSpPr>
            <p:cNvPr id="377" name="act0-shadow">
              <a:extLst>
                <a:ext uri="{FF2B5EF4-FFF2-40B4-BE49-F238E27FC236}">
                  <a16:creationId xmlns:a16="http://schemas.microsoft.com/office/drawing/2014/main" id="{BE61CC25-39AA-7DCD-89F3-07DC947635FE}"/>
                </a:ext>
              </a:extLst>
            </p:cNvPr>
            <p:cNvSpPr>
              <a:spLocks noGrp="1"/>
            </p:cNvSpPr>
            <p:nvPr/>
          </p:nvSpPr>
          <p:spPr>
            <a:xfrm>
              <a:off x="1087469" y="13318046"/>
              <a:ext cx="4405408" cy="2967419"/>
            </a:xfrm>
            <a:prstGeom prst="roundRect">
              <a:avLst>
                <a:gd name="adj" fmla="val 2568"/>
              </a:avLst>
            </a:prstGeom>
            <a:solidFill>
              <a:srgbClr val="AFC4CC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8" name="act0-card">
              <a:extLst>
                <a:ext uri="{FF2B5EF4-FFF2-40B4-BE49-F238E27FC236}">
                  <a16:creationId xmlns:a16="http://schemas.microsoft.com/office/drawing/2014/main" id="{621F68D1-D42B-7B94-873C-10C63ADBB749}"/>
                </a:ext>
              </a:extLst>
            </p:cNvPr>
            <p:cNvSpPr>
              <a:spLocks noGrp="1"/>
            </p:cNvSpPr>
            <p:nvPr/>
          </p:nvSpPr>
          <p:spPr>
            <a:xfrm>
              <a:off x="973169" y="13194221"/>
              <a:ext cx="4405408" cy="2967419"/>
            </a:xfrm>
            <a:prstGeom prst="roundRect">
              <a:avLst>
                <a:gd name="adj" fmla="val 2568"/>
              </a:avLst>
            </a:prstGeom>
            <a:solidFill>
              <a:srgbClr val="DDECF2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9" name="act0-title">
              <a:extLst>
                <a:ext uri="{FF2B5EF4-FFF2-40B4-BE49-F238E27FC236}">
                  <a16:creationId xmlns:a16="http://schemas.microsoft.com/office/drawing/2014/main" id="{26F66578-0488-F9B6-747A-C8D71AFD562F}"/>
                </a:ext>
              </a:extLst>
            </p:cNvPr>
            <p:cNvSpPr>
              <a:spLocks noGrp="1"/>
            </p:cNvSpPr>
            <p:nvPr/>
          </p:nvSpPr>
          <p:spPr>
            <a:xfrm>
              <a:off x="1163669" y="13289471"/>
              <a:ext cx="4024408" cy="55245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Autofit/>
            </a:bodyPr>
            <a:lstStyle/>
            <a:p>
              <a:pPr algn="ctr">
                <a:defRPr sz="3900" b="1">
                  <a:solidFill>
                    <a:srgbClr val="22577A"/>
                  </a:solidFill>
                  <a:latin typeface="Rubik"/>
                  <a:ea typeface="Rubik"/>
                  <a:cs typeface="Rubik"/>
                </a:defRPr>
              </a:pPr>
              <a:r>
                <a:rPr sz="3900" b="1">
                  <a:solidFill>
                    <a:srgbClr val="22577A"/>
                  </a:solidFill>
                  <a:latin typeface="Rubik"/>
                  <a:ea typeface="Rubik"/>
                  <a:cs typeface="Rubik"/>
                </a:rPr>
                <a:t>APPROACH</a:t>
              </a:r>
            </a:p>
          </p:txBody>
        </p:sp>
        <p:sp>
          <p:nvSpPr>
            <p:cNvPr id="380" name="act0-scenario">
              <a:extLst>
                <a:ext uri="{FF2B5EF4-FFF2-40B4-BE49-F238E27FC236}">
                  <a16:creationId xmlns:a16="http://schemas.microsoft.com/office/drawing/2014/main" id="{14030255-686D-4DCB-818F-AC35DD779E96}"/>
                </a:ext>
              </a:extLst>
            </p:cNvPr>
            <p:cNvSpPr>
              <a:spLocks noGrp="1"/>
            </p:cNvSpPr>
            <p:nvPr/>
          </p:nvSpPr>
          <p:spPr>
            <a:xfrm>
              <a:off x="1182719" y="13860971"/>
              <a:ext cx="3986308" cy="66675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Autofit/>
            </a:bodyPr>
            <a:lstStyle/>
            <a:p>
              <a:pPr algn="ctr">
                <a:defRPr sz="2325" b="0">
                  <a:solidFill>
                    <a:srgbClr val="26333C"/>
                  </a:solidFill>
                  <a:latin typeface="Noto Sans"/>
                  <a:ea typeface="Noto Sans"/>
                  <a:cs typeface="Noto Sans"/>
                </a:defRPr>
              </a:pPr>
              <a:r>
                <a:rPr sz="2325" b="0">
                  <a:solidFill>
                    <a:srgbClr val="26333C"/>
                  </a:solidFill>
                  <a:latin typeface="Noto Sans"/>
                  <a:ea typeface="Noto Sans"/>
                  <a:cs typeface="Noto Sans"/>
                </a:rPr>
                <a:t>Interested person</a:t>
              </a:r>
            </a:p>
            <a:p>
              <a:pPr algn="ctr">
                <a:defRPr sz="2325" b="0">
                  <a:solidFill>
                    <a:srgbClr val="26333C"/>
                  </a:solidFill>
                  <a:latin typeface="Noto Sans"/>
                  <a:ea typeface="Noto Sans"/>
                  <a:cs typeface="Noto Sans"/>
                </a:defRPr>
              </a:pPr>
              <a:r>
                <a:rPr sz="2325" b="0">
                  <a:solidFill>
                    <a:srgbClr val="26333C"/>
                  </a:solidFill>
                  <a:latin typeface="Noto Sans"/>
                  <a:ea typeface="Noto Sans"/>
                  <a:cs typeface="Noto Sans"/>
                </a:rPr>
                <a:t>farther away</a:t>
              </a:r>
            </a:p>
          </p:txBody>
        </p:sp>
        <p:sp>
          <p:nvSpPr>
            <p:cNvPr id="381" name="act0-response">
              <a:extLst>
                <a:ext uri="{FF2B5EF4-FFF2-40B4-BE49-F238E27FC236}">
                  <a16:creationId xmlns:a16="http://schemas.microsoft.com/office/drawing/2014/main" id="{5D487130-AA78-F12D-DC7E-762E0281DFA7}"/>
                </a:ext>
              </a:extLst>
            </p:cNvPr>
            <p:cNvSpPr>
              <a:spLocks noGrp="1"/>
            </p:cNvSpPr>
            <p:nvPr/>
          </p:nvSpPr>
          <p:spPr>
            <a:xfrm>
              <a:off x="1125569" y="15708821"/>
              <a:ext cx="4100608" cy="40005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Autofit/>
            </a:bodyPr>
            <a:lstStyle/>
            <a:p>
              <a:pPr algn="ctr">
                <a:defRPr sz="2550" b="1">
                  <a:solidFill>
                    <a:srgbClr val="22577A"/>
                  </a:solidFill>
                  <a:latin typeface="Noto Sans"/>
                  <a:ea typeface="Noto Sans"/>
                  <a:cs typeface="Noto Sans"/>
                </a:defRPr>
              </a:pPr>
              <a:r>
                <a:rPr sz="2550" b="1">
                  <a:solidFill>
                    <a:srgbClr val="22577A"/>
                  </a:solidFill>
                  <a:latin typeface="Noto Sans"/>
                  <a:ea typeface="Noto Sans"/>
                  <a:cs typeface="Noto Sans"/>
                </a:rPr>
                <a:t>Move closer</a:t>
              </a:r>
            </a:p>
          </p:txBody>
        </p:sp>
        <p:sp>
          <p:nvSpPr>
            <p:cNvPr id="382" name="act0-robot-body">
              <a:extLst>
                <a:ext uri="{FF2B5EF4-FFF2-40B4-BE49-F238E27FC236}">
                  <a16:creationId xmlns:a16="http://schemas.microsoft.com/office/drawing/2014/main" id="{7CE25FA2-9653-671F-3331-A469D3483DBF}"/>
                </a:ext>
              </a:extLst>
            </p:cNvPr>
            <p:cNvSpPr>
              <a:spLocks noGrp="1"/>
            </p:cNvSpPr>
            <p:nvPr/>
          </p:nvSpPr>
          <p:spPr>
            <a:xfrm>
              <a:off x="1592294" y="14984921"/>
              <a:ext cx="476250" cy="447675"/>
            </a:xfrm>
            <a:prstGeom prst="roundRect">
              <a:avLst>
                <a:gd name="adj" fmla="val 17021"/>
              </a:avLst>
            </a:prstGeom>
            <a:solidFill>
              <a:srgbClr val="F3F0E7"/>
            </a:solidFill>
            <a:ln w="28575">
              <a:solidFill>
                <a:srgbClr val="22577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3" name="act0-robot-head">
              <a:extLst>
                <a:ext uri="{FF2B5EF4-FFF2-40B4-BE49-F238E27FC236}">
                  <a16:creationId xmlns:a16="http://schemas.microsoft.com/office/drawing/2014/main" id="{43439257-A776-3028-09A5-CEB2580AD543}"/>
                </a:ext>
              </a:extLst>
            </p:cNvPr>
            <p:cNvSpPr>
              <a:spLocks noGrp="1"/>
            </p:cNvSpPr>
            <p:nvPr/>
          </p:nvSpPr>
          <p:spPr>
            <a:xfrm>
              <a:off x="1544669" y="14718221"/>
              <a:ext cx="571500" cy="352425"/>
            </a:xfrm>
            <a:prstGeom prst="roundRect">
              <a:avLst>
                <a:gd name="adj" fmla="val 21622"/>
              </a:avLst>
            </a:prstGeom>
            <a:solidFill>
              <a:srgbClr val="22577A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4" name="act0-robot-eye1">
              <a:extLst>
                <a:ext uri="{FF2B5EF4-FFF2-40B4-BE49-F238E27FC236}">
                  <a16:creationId xmlns:a16="http://schemas.microsoft.com/office/drawing/2014/main" id="{0187F02C-A398-6734-62AD-1DDA6E2163E1}"/>
                </a:ext>
              </a:extLst>
            </p:cNvPr>
            <p:cNvSpPr>
              <a:spLocks noGrp="1"/>
            </p:cNvSpPr>
            <p:nvPr/>
          </p:nvSpPr>
          <p:spPr>
            <a:xfrm>
              <a:off x="1658969" y="14832521"/>
              <a:ext cx="104775" cy="104775"/>
            </a:xfrm>
            <a:prstGeom prst="ellipse">
              <a:avLst/>
            </a:prstGeom>
            <a:solidFill>
              <a:srgbClr val="78B9D1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5" name="act0-robot-eye2">
              <a:extLst>
                <a:ext uri="{FF2B5EF4-FFF2-40B4-BE49-F238E27FC236}">
                  <a16:creationId xmlns:a16="http://schemas.microsoft.com/office/drawing/2014/main" id="{2E4AFD80-91AE-F90F-4F72-08D79CEC6BAF}"/>
                </a:ext>
              </a:extLst>
            </p:cNvPr>
            <p:cNvSpPr>
              <a:spLocks noGrp="1"/>
            </p:cNvSpPr>
            <p:nvPr/>
          </p:nvSpPr>
          <p:spPr>
            <a:xfrm>
              <a:off x="1897094" y="14832521"/>
              <a:ext cx="104775" cy="104775"/>
            </a:xfrm>
            <a:prstGeom prst="ellipse">
              <a:avLst/>
            </a:prstGeom>
            <a:solidFill>
              <a:srgbClr val="78B9D1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6" name="act0-robot-wheel1">
              <a:extLst>
                <a:ext uri="{FF2B5EF4-FFF2-40B4-BE49-F238E27FC236}">
                  <a16:creationId xmlns:a16="http://schemas.microsoft.com/office/drawing/2014/main" id="{4542F496-92B7-0326-A95B-0708A743BCC6}"/>
                </a:ext>
              </a:extLst>
            </p:cNvPr>
            <p:cNvSpPr>
              <a:spLocks noGrp="1"/>
            </p:cNvSpPr>
            <p:nvPr/>
          </p:nvSpPr>
          <p:spPr>
            <a:xfrm>
              <a:off x="1611344" y="15384971"/>
              <a:ext cx="123825" cy="123825"/>
            </a:xfrm>
            <a:prstGeom prst="ellipse">
              <a:avLst/>
            </a:prstGeom>
            <a:solidFill>
              <a:srgbClr val="22577A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7" name="act0-robot-wheel2">
              <a:extLst>
                <a:ext uri="{FF2B5EF4-FFF2-40B4-BE49-F238E27FC236}">
                  <a16:creationId xmlns:a16="http://schemas.microsoft.com/office/drawing/2014/main" id="{0E667826-8D67-9827-454E-7785A83AE39F}"/>
                </a:ext>
              </a:extLst>
            </p:cNvPr>
            <p:cNvSpPr>
              <a:spLocks noGrp="1"/>
            </p:cNvSpPr>
            <p:nvPr/>
          </p:nvSpPr>
          <p:spPr>
            <a:xfrm>
              <a:off x="1925669" y="15384971"/>
              <a:ext cx="123825" cy="123825"/>
            </a:xfrm>
            <a:prstGeom prst="ellipse">
              <a:avLst/>
            </a:prstGeom>
            <a:solidFill>
              <a:srgbClr val="22577A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8" name="act0-person-head">
              <a:extLst>
                <a:ext uri="{FF2B5EF4-FFF2-40B4-BE49-F238E27FC236}">
                  <a16:creationId xmlns:a16="http://schemas.microsoft.com/office/drawing/2014/main" id="{9C223051-8FAF-D093-D0E2-82F252030E78}"/>
                </a:ext>
              </a:extLst>
            </p:cNvPr>
            <p:cNvSpPr>
              <a:spLocks noGrp="1"/>
            </p:cNvSpPr>
            <p:nvPr/>
          </p:nvSpPr>
          <p:spPr>
            <a:xfrm>
              <a:off x="4240244" y="14689646"/>
              <a:ext cx="247650" cy="247650"/>
            </a:xfrm>
            <a:prstGeom prst="ellipse">
              <a:avLst/>
            </a:prstGeom>
            <a:solidFill>
              <a:srgbClr val="26333C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9" name="act0-person-body">
              <a:extLst>
                <a:ext uri="{FF2B5EF4-FFF2-40B4-BE49-F238E27FC236}">
                  <a16:creationId xmlns:a16="http://schemas.microsoft.com/office/drawing/2014/main" id="{C2D0C002-2851-19F8-AC5C-DEB79B43C82E}"/>
                </a:ext>
              </a:extLst>
            </p:cNvPr>
            <p:cNvSpPr>
              <a:spLocks noGrp="1"/>
            </p:cNvSpPr>
            <p:nvPr/>
          </p:nvSpPr>
          <p:spPr>
            <a:xfrm>
              <a:off x="4364069" y="15003971"/>
              <a:ext cx="9525" cy="323850"/>
            </a:xfrm>
            <a:custGeom>
              <a:avLst/>
              <a:gdLst/>
              <a:ahLst/>
              <a:cxnLst/>
              <a:rect l="0" t="0" r="0" b="0"/>
              <a:pathLst>
                <a:path w="9525" h="323850">
                  <a:moveTo>
                    <a:pt x="0" y="0"/>
                  </a:moveTo>
                  <a:lnTo>
                    <a:pt x="0" y="323850"/>
                  </a:lnTo>
                </a:path>
              </a:pathLst>
            </a:custGeom>
            <a:noFill/>
            <a:ln w="76200">
              <a:solidFill>
                <a:srgbClr val="26333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0" name="act0-person-arms">
              <a:extLst>
                <a:ext uri="{FF2B5EF4-FFF2-40B4-BE49-F238E27FC236}">
                  <a16:creationId xmlns:a16="http://schemas.microsoft.com/office/drawing/2014/main" id="{1DA909F3-713E-7A46-7BF0-677C86ED3C72}"/>
                </a:ext>
              </a:extLst>
            </p:cNvPr>
            <p:cNvSpPr>
              <a:spLocks noGrp="1"/>
            </p:cNvSpPr>
            <p:nvPr/>
          </p:nvSpPr>
          <p:spPr>
            <a:xfrm>
              <a:off x="4164044" y="15042071"/>
              <a:ext cx="400050" cy="142875"/>
            </a:xfrm>
            <a:custGeom>
              <a:avLst/>
              <a:gdLst/>
              <a:ahLst/>
              <a:cxnLst/>
              <a:rect l="0" t="0" r="0" b="0"/>
              <a:pathLst>
                <a:path w="400050" h="142875">
                  <a:moveTo>
                    <a:pt x="0" y="142875"/>
                  </a:moveTo>
                  <a:lnTo>
                    <a:pt x="200025" y="0"/>
                  </a:lnTo>
                  <a:lnTo>
                    <a:pt x="400050" y="142875"/>
                  </a:lnTo>
                </a:path>
              </a:pathLst>
            </a:custGeom>
            <a:noFill/>
            <a:ln w="66675">
              <a:solidFill>
                <a:srgbClr val="26333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1" name="act0-person-legs">
              <a:extLst>
                <a:ext uri="{FF2B5EF4-FFF2-40B4-BE49-F238E27FC236}">
                  <a16:creationId xmlns:a16="http://schemas.microsoft.com/office/drawing/2014/main" id="{BD1CB725-DEBE-438B-CBEF-DE61CFE5DE66}"/>
                </a:ext>
              </a:extLst>
            </p:cNvPr>
            <p:cNvSpPr>
              <a:spLocks noGrp="1"/>
            </p:cNvSpPr>
            <p:nvPr/>
          </p:nvSpPr>
          <p:spPr>
            <a:xfrm>
              <a:off x="4183094" y="15308771"/>
              <a:ext cx="361950" cy="266700"/>
            </a:xfrm>
            <a:custGeom>
              <a:avLst/>
              <a:gdLst/>
              <a:ahLst/>
              <a:cxnLst/>
              <a:rect l="0" t="0" r="0" b="0"/>
              <a:pathLst>
                <a:path w="361950" h="266700">
                  <a:moveTo>
                    <a:pt x="0" y="266700"/>
                  </a:moveTo>
                  <a:lnTo>
                    <a:pt x="180975" y="0"/>
                  </a:lnTo>
                  <a:lnTo>
                    <a:pt x="361950" y="266700"/>
                  </a:lnTo>
                </a:path>
              </a:pathLst>
            </a:custGeom>
            <a:noFill/>
            <a:ln w="66675">
              <a:solidFill>
                <a:srgbClr val="26333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2" name="act0-attention">
              <a:extLst>
                <a:ext uri="{FF2B5EF4-FFF2-40B4-BE49-F238E27FC236}">
                  <a16:creationId xmlns:a16="http://schemas.microsoft.com/office/drawing/2014/main" id="{F1E1A575-325F-F63C-F2EB-114B1D8DAD2D}"/>
                </a:ext>
              </a:extLst>
            </p:cNvPr>
            <p:cNvSpPr>
              <a:spLocks noGrp="1"/>
            </p:cNvSpPr>
            <p:nvPr/>
          </p:nvSpPr>
          <p:spPr>
            <a:xfrm>
              <a:off x="2163794" y="14870621"/>
              <a:ext cx="1981200" cy="9525"/>
            </a:xfrm>
            <a:custGeom>
              <a:avLst/>
              <a:gdLst/>
              <a:ahLst/>
              <a:cxnLst/>
              <a:rect l="0" t="0" r="0" b="0"/>
              <a:pathLst>
                <a:path w="1981200" h="9525">
                  <a:moveTo>
                    <a:pt x="0" y="0"/>
                  </a:moveTo>
                  <a:lnTo>
                    <a:pt x="1981200" y="0"/>
                  </a:lnTo>
                </a:path>
              </a:pathLst>
            </a:custGeom>
            <a:noFill/>
            <a:ln w="33338">
              <a:solidFill>
                <a:srgbClr val="437E9D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3" name="act0-attention-tip">
              <a:extLst>
                <a:ext uri="{FF2B5EF4-FFF2-40B4-BE49-F238E27FC236}">
                  <a16:creationId xmlns:a16="http://schemas.microsoft.com/office/drawing/2014/main" id="{4012D0B4-C7E3-B69C-900C-30C185D10847}"/>
                </a:ext>
              </a:extLst>
            </p:cNvPr>
            <p:cNvSpPr>
              <a:spLocks noGrp="1"/>
            </p:cNvSpPr>
            <p:nvPr/>
          </p:nvSpPr>
          <p:spPr>
            <a:xfrm>
              <a:off x="2154269" y="14822996"/>
              <a:ext cx="114300" cy="95250"/>
            </a:xfrm>
            <a:prstGeom prst="leftArrow">
              <a:avLst/>
            </a:prstGeom>
            <a:solidFill>
              <a:srgbClr val="437E9D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4" name="act0-motion">
              <a:extLst>
                <a:ext uri="{FF2B5EF4-FFF2-40B4-BE49-F238E27FC236}">
                  <a16:creationId xmlns:a16="http://schemas.microsoft.com/office/drawing/2014/main" id="{74DA0BBC-60C1-B9B0-FA25-036CAA67BDD3}"/>
                </a:ext>
              </a:extLst>
            </p:cNvPr>
            <p:cNvSpPr>
              <a:spLocks noGrp="1"/>
            </p:cNvSpPr>
            <p:nvPr/>
          </p:nvSpPr>
          <p:spPr>
            <a:xfrm>
              <a:off x="2297144" y="15203996"/>
              <a:ext cx="1485900" cy="200025"/>
            </a:xfrm>
            <a:prstGeom prst="rightArrow">
              <a:avLst/>
            </a:prstGeom>
            <a:solidFill>
              <a:srgbClr val="22577A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5" name="Action card 2">
            <a:extLst>
              <a:ext uri="{FF2B5EF4-FFF2-40B4-BE49-F238E27FC236}">
                <a16:creationId xmlns:a16="http://schemas.microsoft.com/office/drawing/2014/main" id="{5ACE2774-747C-A612-6F25-A5BE06D1E39F}"/>
              </a:ext>
            </a:extLst>
          </p:cNvPr>
          <p:cNvGrpSpPr/>
          <p:nvPr/>
        </p:nvGrpSpPr>
        <p:grpSpPr>
          <a:xfrm>
            <a:off x="6002219" y="13495667"/>
            <a:ext cx="4524375" cy="3095625"/>
            <a:chOff x="5997702" y="13194220"/>
            <a:chExt cx="4524375" cy="3095625"/>
          </a:xfrm>
        </p:grpSpPr>
        <p:sp>
          <p:nvSpPr>
            <p:cNvPr id="396" name="act1-shadow">
              <a:extLst>
                <a:ext uri="{FF2B5EF4-FFF2-40B4-BE49-F238E27FC236}">
                  <a16:creationId xmlns:a16="http://schemas.microsoft.com/office/drawing/2014/main" id="{29371963-ED11-8B3B-6BF2-684A3AB8D963}"/>
                </a:ext>
              </a:extLst>
            </p:cNvPr>
            <p:cNvSpPr>
              <a:spLocks noGrp="1"/>
            </p:cNvSpPr>
            <p:nvPr/>
          </p:nvSpPr>
          <p:spPr>
            <a:xfrm>
              <a:off x="6112002" y="13318046"/>
              <a:ext cx="4405408" cy="2967419"/>
            </a:xfrm>
            <a:prstGeom prst="roundRect">
              <a:avLst>
                <a:gd name="adj" fmla="val 2568"/>
              </a:avLst>
            </a:prstGeom>
            <a:solidFill>
              <a:srgbClr val="AFC4CC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7" name="act1-card">
              <a:extLst>
                <a:ext uri="{FF2B5EF4-FFF2-40B4-BE49-F238E27FC236}">
                  <a16:creationId xmlns:a16="http://schemas.microsoft.com/office/drawing/2014/main" id="{A71B9387-548E-EC67-10AE-4E74366D8427}"/>
                </a:ext>
              </a:extLst>
            </p:cNvPr>
            <p:cNvSpPr>
              <a:spLocks noGrp="1"/>
            </p:cNvSpPr>
            <p:nvPr/>
          </p:nvSpPr>
          <p:spPr>
            <a:xfrm>
              <a:off x="5997702" y="13194221"/>
              <a:ext cx="4405408" cy="2967419"/>
            </a:xfrm>
            <a:prstGeom prst="roundRect">
              <a:avLst>
                <a:gd name="adj" fmla="val 2568"/>
              </a:avLst>
            </a:prstGeom>
            <a:solidFill>
              <a:srgbClr val="DDECF2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8" name="act1-title">
              <a:extLst>
                <a:ext uri="{FF2B5EF4-FFF2-40B4-BE49-F238E27FC236}">
                  <a16:creationId xmlns:a16="http://schemas.microsoft.com/office/drawing/2014/main" id="{EFC5748E-BC87-1B99-7A0C-DD7B7D4B783D}"/>
                </a:ext>
              </a:extLst>
            </p:cNvPr>
            <p:cNvSpPr>
              <a:spLocks noGrp="1"/>
            </p:cNvSpPr>
            <p:nvPr/>
          </p:nvSpPr>
          <p:spPr>
            <a:xfrm>
              <a:off x="6188202" y="13289471"/>
              <a:ext cx="4024408" cy="55245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Autofit/>
            </a:bodyPr>
            <a:lstStyle/>
            <a:p>
              <a:pPr algn="ctr">
                <a:defRPr sz="3900" b="1">
                  <a:solidFill>
                    <a:srgbClr val="22577A"/>
                  </a:solidFill>
                  <a:latin typeface="Rubik"/>
                  <a:ea typeface="Rubik"/>
                  <a:cs typeface="Rubik"/>
                </a:defRPr>
              </a:pPr>
              <a:r>
                <a:rPr sz="3900" b="1">
                  <a:solidFill>
                    <a:srgbClr val="22577A"/>
                  </a:solidFill>
                  <a:latin typeface="Rubik"/>
                  <a:ea typeface="Rubik"/>
                  <a:cs typeface="Rubik"/>
                </a:rPr>
                <a:t>ENGAGE</a:t>
              </a:r>
            </a:p>
          </p:txBody>
        </p:sp>
        <p:sp>
          <p:nvSpPr>
            <p:cNvPr id="399" name="act1-scenario">
              <a:extLst>
                <a:ext uri="{FF2B5EF4-FFF2-40B4-BE49-F238E27FC236}">
                  <a16:creationId xmlns:a16="http://schemas.microsoft.com/office/drawing/2014/main" id="{49158BF8-CF7D-FCBC-C627-65E4F9398A9D}"/>
                </a:ext>
              </a:extLst>
            </p:cNvPr>
            <p:cNvSpPr>
              <a:spLocks noGrp="1"/>
            </p:cNvSpPr>
            <p:nvPr/>
          </p:nvSpPr>
          <p:spPr>
            <a:xfrm>
              <a:off x="6207252" y="13860971"/>
              <a:ext cx="3986308" cy="66675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Autofit/>
            </a:bodyPr>
            <a:lstStyle/>
            <a:p>
              <a:pPr algn="ctr">
                <a:defRPr sz="2325" b="0">
                  <a:solidFill>
                    <a:srgbClr val="26333C"/>
                  </a:solidFill>
                  <a:latin typeface="Noto Sans"/>
                  <a:ea typeface="Noto Sans"/>
                  <a:cs typeface="Noto Sans"/>
                </a:defRPr>
              </a:pPr>
              <a:r>
                <a:rPr sz="2325" b="0">
                  <a:solidFill>
                    <a:srgbClr val="26333C"/>
                  </a:solidFill>
                  <a:latin typeface="Noto Sans"/>
                  <a:ea typeface="Noto Sans"/>
                  <a:cs typeface="Noto Sans"/>
                </a:rPr>
                <a:t>Interested person</a:t>
              </a:r>
            </a:p>
            <a:p>
              <a:pPr algn="ctr">
                <a:defRPr sz="2325" b="0">
                  <a:solidFill>
                    <a:srgbClr val="26333C"/>
                  </a:solidFill>
                  <a:latin typeface="Noto Sans"/>
                  <a:ea typeface="Noto Sans"/>
                  <a:cs typeface="Noto Sans"/>
                </a:defRPr>
              </a:pPr>
              <a:r>
                <a:rPr sz="2325" b="0">
                  <a:solidFill>
                    <a:srgbClr val="26333C"/>
                  </a:solidFill>
                  <a:latin typeface="Noto Sans"/>
                  <a:ea typeface="Noto Sans"/>
                  <a:cs typeface="Noto Sans"/>
                </a:rPr>
                <a:t>already nearby</a:t>
              </a:r>
            </a:p>
          </p:txBody>
        </p:sp>
        <p:sp>
          <p:nvSpPr>
            <p:cNvPr id="400" name="act1-response">
              <a:extLst>
                <a:ext uri="{FF2B5EF4-FFF2-40B4-BE49-F238E27FC236}">
                  <a16:creationId xmlns:a16="http://schemas.microsoft.com/office/drawing/2014/main" id="{BEBBE361-3768-A770-3F58-C8D3A4A836C8}"/>
                </a:ext>
              </a:extLst>
            </p:cNvPr>
            <p:cNvSpPr>
              <a:spLocks noGrp="1"/>
            </p:cNvSpPr>
            <p:nvPr/>
          </p:nvSpPr>
          <p:spPr>
            <a:xfrm>
              <a:off x="6150102" y="15708821"/>
              <a:ext cx="4100608" cy="40005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Autofit/>
            </a:bodyPr>
            <a:lstStyle/>
            <a:p>
              <a:pPr algn="ctr">
                <a:defRPr sz="2550" b="1">
                  <a:solidFill>
                    <a:srgbClr val="22577A"/>
                  </a:solidFill>
                  <a:latin typeface="Noto Sans"/>
                  <a:ea typeface="Noto Sans"/>
                  <a:cs typeface="Noto Sans"/>
                </a:defRPr>
              </a:pPr>
              <a:r>
                <a:rPr sz="2550" b="1">
                  <a:solidFill>
                    <a:srgbClr val="22577A"/>
                  </a:solidFill>
                  <a:latin typeface="Noto Sans"/>
                  <a:ea typeface="Noto Sans"/>
                  <a:cs typeface="Noto Sans"/>
                </a:rPr>
                <a:t>Stop and greet</a:t>
              </a:r>
            </a:p>
          </p:txBody>
        </p:sp>
        <p:sp>
          <p:nvSpPr>
            <p:cNvPr id="401" name="act1-robot-body">
              <a:extLst>
                <a:ext uri="{FF2B5EF4-FFF2-40B4-BE49-F238E27FC236}">
                  <a16:creationId xmlns:a16="http://schemas.microsoft.com/office/drawing/2014/main" id="{E8A6057B-F508-5A27-9187-D9CEB04F7048}"/>
                </a:ext>
              </a:extLst>
            </p:cNvPr>
            <p:cNvSpPr>
              <a:spLocks noGrp="1"/>
            </p:cNvSpPr>
            <p:nvPr/>
          </p:nvSpPr>
          <p:spPr>
            <a:xfrm>
              <a:off x="7407402" y="15042071"/>
              <a:ext cx="476250" cy="447675"/>
            </a:xfrm>
            <a:prstGeom prst="roundRect">
              <a:avLst>
                <a:gd name="adj" fmla="val 17021"/>
              </a:avLst>
            </a:prstGeom>
            <a:solidFill>
              <a:srgbClr val="F3F0E7"/>
            </a:solidFill>
            <a:ln w="28575">
              <a:solidFill>
                <a:srgbClr val="22577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2" name="act1-robot-head">
              <a:extLst>
                <a:ext uri="{FF2B5EF4-FFF2-40B4-BE49-F238E27FC236}">
                  <a16:creationId xmlns:a16="http://schemas.microsoft.com/office/drawing/2014/main" id="{E6F62136-A9BC-CD62-8B90-F2D91D236EE7}"/>
                </a:ext>
              </a:extLst>
            </p:cNvPr>
            <p:cNvSpPr>
              <a:spLocks noGrp="1"/>
            </p:cNvSpPr>
            <p:nvPr/>
          </p:nvSpPr>
          <p:spPr>
            <a:xfrm>
              <a:off x="7359777" y="14775371"/>
              <a:ext cx="571500" cy="352425"/>
            </a:xfrm>
            <a:prstGeom prst="roundRect">
              <a:avLst>
                <a:gd name="adj" fmla="val 21622"/>
              </a:avLst>
            </a:prstGeom>
            <a:solidFill>
              <a:srgbClr val="22577A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3" name="act1-robot-eye1">
              <a:extLst>
                <a:ext uri="{FF2B5EF4-FFF2-40B4-BE49-F238E27FC236}">
                  <a16:creationId xmlns:a16="http://schemas.microsoft.com/office/drawing/2014/main" id="{E4E57E03-855D-671D-44C0-B2D91F222ECA}"/>
                </a:ext>
              </a:extLst>
            </p:cNvPr>
            <p:cNvSpPr>
              <a:spLocks noGrp="1"/>
            </p:cNvSpPr>
            <p:nvPr/>
          </p:nvSpPr>
          <p:spPr>
            <a:xfrm>
              <a:off x="7474077" y="14889671"/>
              <a:ext cx="104775" cy="104775"/>
            </a:xfrm>
            <a:prstGeom prst="ellipse">
              <a:avLst/>
            </a:prstGeom>
            <a:solidFill>
              <a:srgbClr val="78B9D1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4" name="act1-robot-eye2">
              <a:extLst>
                <a:ext uri="{FF2B5EF4-FFF2-40B4-BE49-F238E27FC236}">
                  <a16:creationId xmlns:a16="http://schemas.microsoft.com/office/drawing/2014/main" id="{D8983F63-BF52-C40A-AC37-3B4AAEDEDC5A}"/>
                </a:ext>
              </a:extLst>
            </p:cNvPr>
            <p:cNvSpPr>
              <a:spLocks noGrp="1"/>
            </p:cNvSpPr>
            <p:nvPr/>
          </p:nvSpPr>
          <p:spPr>
            <a:xfrm>
              <a:off x="7712202" y="14889671"/>
              <a:ext cx="104775" cy="104775"/>
            </a:xfrm>
            <a:prstGeom prst="ellipse">
              <a:avLst/>
            </a:prstGeom>
            <a:solidFill>
              <a:srgbClr val="78B9D1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5" name="act1-robot-wheel1">
              <a:extLst>
                <a:ext uri="{FF2B5EF4-FFF2-40B4-BE49-F238E27FC236}">
                  <a16:creationId xmlns:a16="http://schemas.microsoft.com/office/drawing/2014/main" id="{BBA2EF9E-869D-03BF-99E9-926B5334A297}"/>
                </a:ext>
              </a:extLst>
            </p:cNvPr>
            <p:cNvSpPr>
              <a:spLocks noGrp="1"/>
            </p:cNvSpPr>
            <p:nvPr/>
          </p:nvSpPr>
          <p:spPr>
            <a:xfrm>
              <a:off x="7426452" y="15442121"/>
              <a:ext cx="123825" cy="123825"/>
            </a:xfrm>
            <a:prstGeom prst="ellipse">
              <a:avLst/>
            </a:prstGeom>
            <a:solidFill>
              <a:srgbClr val="22577A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6" name="act1-robot-wheel2">
              <a:extLst>
                <a:ext uri="{FF2B5EF4-FFF2-40B4-BE49-F238E27FC236}">
                  <a16:creationId xmlns:a16="http://schemas.microsoft.com/office/drawing/2014/main" id="{84BE4D95-3D3D-EDA7-9DD6-FEE89A18E8F5}"/>
                </a:ext>
              </a:extLst>
            </p:cNvPr>
            <p:cNvSpPr>
              <a:spLocks noGrp="1"/>
            </p:cNvSpPr>
            <p:nvPr/>
          </p:nvSpPr>
          <p:spPr>
            <a:xfrm>
              <a:off x="7740777" y="15442121"/>
              <a:ext cx="123825" cy="123825"/>
            </a:xfrm>
            <a:prstGeom prst="ellipse">
              <a:avLst/>
            </a:prstGeom>
            <a:solidFill>
              <a:srgbClr val="22577A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7" name="act1-person-head">
              <a:extLst>
                <a:ext uri="{FF2B5EF4-FFF2-40B4-BE49-F238E27FC236}">
                  <a16:creationId xmlns:a16="http://schemas.microsoft.com/office/drawing/2014/main" id="{436C26F7-988B-946A-8949-47D0CB4F5AD4}"/>
                </a:ext>
              </a:extLst>
            </p:cNvPr>
            <p:cNvSpPr>
              <a:spLocks noGrp="1"/>
            </p:cNvSpPr>
            <p:nvPr/>
          </p:nvSpPr>
          <p:spPr>
            <a:xfrm>
              <a:off x="8693277" y="14689646"/>
              <a:ext cx="247650" cy="247650"/>
            </a:xfrm>
            <a:prstGeom prst="ellipse">
              <a:avLst/>
            </a:prstGeom>
            <a:solidFill>
              <a:srgbClr val="26333C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8" name="act1-person-body">
              <a:extLst>
                <a:ext uri="{FF2B5EF4-FFF2-40B4-BE49-F238E27FC236}">
                  <a16:creationId xmlns:a16="http://schemas.microsoft.com/office/drawing/2014/main" id="{345F2D2A-C94A-F2A9-57FB-BD7172740437}"/>
                </a:ext>
              </a:extLst>
            </p:cNvPr>
            <p:cNvSpPr>
              <a:spLocks noGrp="1"/>
            </p:cNvSpPr>
            <p:nvPr/>
          </p:nvSpPr>
          <p:spPr>
            <a:xfrm>
              <a:off x="8817102" y="15003971"/>
              <a:ext cx="9525" cy="323850"/>
            </a:xfrm>
            <a:custGeom>
              <a:avLst/>
              <a:gdLst/>
              <a:ahLst/>
              <a:cxnLst/>
              <a:rect l="0" t="0" r="0" b="0"/>
              <a:pathLst>
                <a:path w="9525" h="323850">
                  <a:moveTo>
                    <a:pt x="0" y="0"/>
                  </a:moveTo>
                  <a:lnTo>
                    <a:pt x="0" y="323850"/>
                  </a:lnTo>
                </a:path>
              </a:pathLst>
            </a:custGeom>
            <a:noFill/>
            <a:ln w="76200">
              <a:solidFill>
                <a:srgbClr val="26333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" name="act1-person-arms">
              <a:extLst>
                <a:ext uri="{FF2B5EF4-FFF2-40B4-BE49-F238E27FC236}">
                  <a16:creationId xmlns:a16="http://schemas.microsoft.com/office/drawing/2014/main" id="{E63D8685-B0FA-7974-DDE2-61C77C27BD53}"/>
                </a:ext>
              </a:extLst>
            </p:cNvPr>
            <p:cNvSpPr>
              <a:spLocks noGrp="1"/>
            </p:cNvSpPr>
            <p:nvPr/>
          </p:nvSpPr>
          <p:spPr>
            <a:xfrm>
              <a:off x="8617077" y="15042071"/>
              <a:ext cx="400050" cy="142875"/>
            </a:xfrm>
            <a:custGeom>
              <a:avLst/>
              <a:gdLst/>
              <a:ahLst/>
              <a:cxnLst/>
              <a:rect l="0" t="0" r="0" b="0"/>
              <a:pathLst>
                <a:path w="400050" h="142875">
                  <a:moveTo>
                    <a:pt x="0" y="142875"/>
                  </a:moveTo>
                  <a:lnTo>
                    <a:pt x="200025" y="0"/>
                  </a:lnTo>
                  <a:lnTo>
                    <a:pt x="400050" y="142875"/>
                  </a:lnTo>
                </a:path>
              </a:pathLst>
            </a:custGeom>
            <a:noFill/>
            <a:ln w="66675">
              <a:solidFill>
                <a:srgbClr val="26333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" name="act1-person-legs">
              <a:extLst>
                <a:ext uri="{FF2B5EF4-FFF2-40B4-BE49-F238E27FC236}">
                  <a16:creationId xmlns:a16="http://schemas.microsoft.com/office/drawing/2014/main" id="{27FF330E-0D95-7F60-A4D9-646C591DC8BE}"/>
                </a:ext>
              </a:extLst>
            </p:cNvPr>
            <p:cNvSpPr>
              <a:spLocks noGrp="1"/>
            </p:cNvSpPr>
            <p:nvPr/>
          </p:nvSpPr>
          <p:spPr>
            <a:xfrm>
              <a:off x="8636127" y="15308771"/>
              <a:ext cx="361950" cy="266700"/>
            </a:xfrm>
            <a:custGeom>
              <a:avLst/>
              <a:gdLst/>
              <a:ahLst/>
              <a:cxnLst/>
              <a:rect l="0" t="0" r="0" b="0"/>
              <a:pathLst>
                <a:path w="361950" h="266700">
                  <a:moveTo>
                    <a:pt x="0" y="266700"/>
                  </a:moveTo>
                  <a:lnTo>
                    <a:pt x="180975" y="0"/>
                  </a:lnTo>
                  <a:lnTo>
                    <a:pt x="361950" y="266700"/>
                  </a:lnTo>
                </a:path>
              </a:pathLst>
            </a:custGeom>
            <a:noFill/>
            <a:ln w="66675">
              <a:solidFill>
                <a:srgbClr val="26333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" name="act1-attention">
              <a:extLst>
                <a:ext uri="{FF2B5EF4-FFF2-40B4-BE49-F238E27FC236}">
                  <a16:creationId xmlns:a16="http://schemas.microsoft.com/office/drawing/2014/main" id="{96738C24-4BE7-F5BF-118F-0458C9185D69}"/>
                </a:ext>
              </a:extLst>
            </p:cNvPr>
            <p:cNvSpPr>
              <a:spLocks noGrp="1"/>
            </p:cNvSpPr>
            <p:nvPr/>
          </p:nvSpPr>
          <p:spPr>
            <a:xfrm>
              <a:off x="7969377" y="14880146"/>
              <a:ext cx="619125" cy="9525"/>
            </a:xfrm>
            <a:custGeom>
              <a:avLst/>
              <a:gdLst/>
              <a:ahLst/>
              <a:cxnLst/>
              <a:rect l="0" t="0" r="0" b="0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33338">
              <a:solidFill>
                <a:srgbClr val="437E9D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" name="act1-attention-tip">
              <a:extLst>
                <a:ext uri="{FF2B5EF4-FFF2-40B4-BE49-F238E27FC236}">
                  <a16:creationId xmlns:a16="http://schemas.microsoft.com/office/drawing/2014/main" id="{6F6A9144-86E3-9182-0158-47BD683EAAD9}"/>
                </a:ext>
              </a:extLst>
            </p:cNvPr>
            <p:cNvSpPr>
              <a:spLocks noGrp="1"/>
            </p:cNvSpPr>
            <p:nvPr/>
          </p:nvSpPr>
          <p:spPr>
            <a:xfrm>
              <a:off x="7959852" y="14832521"/>
              <a:ext cx="114300" cy="95250"/>
            </a:xfrm>
            <a:prstGeom prst="leftArrow">
              <a:avLst/>
            </a:prstGeom>
            <a:solidFill>
              <a:srgbClr val="437E9D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" name="act1-speech">
              <a:extLst>
                <a:ext uri="{FF2B5EF4-FFF2-40B4-BE49-F238E27FC236}">
                  <a16:creationId xmlns:a16="http://schemas.microsoft.com/office/drawing/2014/main" id="{693DC47E-EF56-2B54-0782-2420D1ACEEE5}"/>
                </a:ext>
              </a:extLst>
            </p:cNvPr>
            <p:cNvSpPr>
              <a:spLocks noGrp="1"/>
            </p:cNvSpPr>
            <p:nvPr/>
          </p:nvSpPr>
          <p:spPr>
            <a:xfrm>
              <a:off x="6397752" y="14575346"/>
              <a:ext cx="1123950" cy="419100"/>
            </a:xfrm>
            <a:prstGeom prst="wedgeRoundRectCallout">
              <a:avLst/>
            </a:prstGeom>
            <a:solidFill>
              <a:srgbClr val="FFFFFF"/>
            </a:solidFill>
            <a:ln w="19050">
              <a:solidFill>
                <a:srgbClr val="22577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" name="act1-speech-text">
              <a:extLst>
                <a:ext uri="{FF2B5EF4-FFF2-40B4-BE49-F238E27FC236}">
                  <a16:creationId xmlns:a16="http://schemas.microsoft.com/office/drawing/2014/main" id="{98ECF4E5-855D-3C63-2D58-80CF27991AC8}"/>
                </a:ext>
              </a:extLst>
            </p:cNvPr>
            <p:cNvSpPr>
              <a:spLocks noGrp="1"/>
            </p:cNvSpPr>
            <p:nvPr/>
          </p:nvSpPr>
          <p:spPr>
            <a:xfrm>
              <a:off x="6464427" y="14603921"/>
              <a:ext cx="971550" cy="32385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Autofit/>
            </a:bodyPr>
            <a:lstStyle/>
            <a:p>
              <a:pPr algn="ctr">
                <a:defRPr sz="1875" b="0">
                  <a:solidFill>
                    <a:srgbClr val="22577A"/>
                  </a:solidFill>
                  <a:latin typeface="Noto Sans"/>
                  <a:ea typeface="Noto Sans"/>
                  <a:cs typeface="Noto Sans"/>
                </a:defRPr>
              </a:pPr>
              <a:r>
                <a:rPr sz="1875" b="0">
                  <a:solidFill>
                    <a:srgbClr val="22577A"/>
                  </a:solidFill>
                  <a:latin typeface="Noto Sans"/>
                  <a:ea typeface="Noto Sans"/>
                  <a:cs typeface="Noto Sans"/>
                </a:rPr>
                <a:t>Hello!</a:t>
              </a:r>
            </a:p>
          </p:txBody>
        </p:sp>
      </p:grpSp>
      <p:grpSp>
        <p:nvGrpSpPr>
          <p:cNvPr id="415" name="Action card 3">
            <a:extLst>
              <a:ext uri="{FF2B5EF4-FFF2-40B4-BE49-F238E27FC236}">
                <a16:creationId xmlns:a16="http://schemas.microsoft.com/office/drawing/2014/main" id="{19759AA2-AB4A-6207-4959-405F94918785}"/>
              </a:ext>
            </a:extLst>
          </p:cNvPr>
          <p:cNvGrpSpPr/>
          <p:nvPr/>
        </p:nvGrpSpPr>
        <p:grpSpPr>
          <a:xfrm>
            <a:off x="11026752" y="13495667"/>
            <a:ext cx="4524375" cy="3095625"/>
            <a:chOff x="11022235" y="13194220"/>
            <a:chExt cx="4524375" cy="3095625"/>
          </a:xfrm>
        </p:grpSpPr>
        <p:sp>
          <p:nvSpPr>
            <p:cNvPr id="416" name="act2-shadow">
              <a:extLst>
                <a:ext uri="{FF2B5EF4-FFF2-40B4-BE49-F238E27FC236}">
                  <a16:creationId xmlns:a16="http://schemas.microsoft.com/office/drawing/2014/main" id="{623233E3-482D-74FB-4B91-27D1A2BFDEF0}"/>
                </a:ext>
              </a:extLst>
            </p:cNvPr>
            <p:cNvSpPr>
              <a:spLocks noGrp="1"/>
            </p:cNvSpPr>
            <p:nvPr/>
          </p:nvSpPr>
          <p:spPr>
            <a:xfrm>
              <a:off x="11136535" y="13318046"/>
              <a:ext cx="4405408" cy="2967419"/>
            </a:xfrm>
            <a:prstGeom prst="roundRect">
              <a:avLst>
                <a:gd name="adj" fmla="val 2568"/>
              </a:avLst>
            </a:prstGeom>
            <a:solidFill>
              <a:srgbClr val="AFC4CC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7" name="act2-card">
              <a:extLst>
                <a:ext uri="{FF2B5EF4-FFF2-40B4-BE49-F238E27FC236}">
                  <a16:creationId xmlns:a16="http://schemas.microsoft.com/office/drawing/2014/main" id="{843359C9-5228-DFF3-4D9D-895058BD0371}"/>
                </a:ext>
              </a:extLst>
            </p:cNvPr>
            <p:cNvSpPr>
              <a:spLocks noGrp="1"/>
            </p:cNvSpPr>
            <p:nvPr/>
          </p:nvSpPr>
          <p:spPr>
            <a:xfrm>
              <a:off x="11022235" y="13194221"/>
              <a:ext cx="4405408" cy="2967419"/>
            </a:xfrm>
            <a:prstGeom prst="roundRect">
              <a:avLst>
                <a:gd name="adj" fmla="val 2568"/>
              </a:avLst>
            </a:prstGeom>
            <a:solidFill>
              <a:srgbClr val="DDECF2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8" name="act2-title">
              <a:extLst>
                <a:ext uri="{FF2B5EF4-FFF2-40B4-BE49-F238E27FC236}">
                  <a16:creationId xmlns:a16="http://schemas.microsoft.com/office/drawing/2014/main" id="{764417C4-C582-F867-0CA4-8B8B14644A0B}"/>
                </a:ext>
              </a:extLst>
            </p:cNvPr>
            <p:cNvSpPr>
              <a:spLocks noGrp="1"/>
            </p:cNvSpPr>
            <p:nvPr/>
          </p:nvSpPr>
          <p:spPr>
            <a:xfrm>
              <a:off x="11212735" y="13289471"/>
              <a:ext cx="4024408" cy="55245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Autofit/>
            </a:bodyPr>
            <a:lstStyle/>
            <a:p>
              <a:pPr algn="ctr">
                <a:defRPr sz="3900" b="1">
                  <a:solidFill>
                    <a:srgbClr val="22577A"/>
                  </a:solidFill>
                  <a:latin typeface="Rubik"/>
                  <a:ea typeface="Rubik"/>
                  <a:cs typeface="Rubik"/>
                </a:defRPr>
              </a:pPr>
              <a:r>
                <a:rPr sz="3900" b="1">
                  <a:solidFill>
                    <a:srgbClr val="22577A"/>
                  </a:solidFill>
                  <a:latin typeface="Rubik"/>
                  <a:ea typeface="Rubik"/>
                  <a:cs typeface="Rubik"/>
                </a:rPr>
                <a:t>YIELD</a:t>
              </a:r>
            </a:p>
          </p:txBody>
        </p:sp>
        <p:sp>
          <p:nvSpPr>
            <p:cNvPr id="419" name="act2-scenario">
              <a:extLst>
                <a:ext uri="{FF2B5EF4-FFF2-40B4-BE49-F238E27FC236}">
                  <a16:creationId xmlns:a16="http://schemas.microsoft.com/office/drawing/2014/main" id="{AEAB8182-2EC5-898F-742C-5D47536845E6}"/>
                </a:ext>
              </a:extLst>
            </p:cNvPr>
            <p:cNvSpPr>
              <a:spLocks noGrp="1"/>
            </p:cNvSpPr>
            <p:nvPr/>
          </p:nvSpPr>
          <p:spPr>
            <a:xfrm>
              <a:off x="11231785" y="13860971"/>
              <a:ext cx="3986308" cy="66675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Autofit/>
            </a:bodyPr>
            <a:lstStyle/>
            <a:p>
              <a:pPr algn="ctr">
                <a:defRPr sz="2325" b="0">
                  <a:solidFill>
                    <a:srgbClr val="26333C"/>
                  </a:solidFill>
                  <a:latin typeface="Noto Sans"/>
                  <a:ea typeface="Noto Sans"/>
                  <a:cs typeface="Noto Sans"/>
                </a:defRPr>
              </a:pPr>
              <a:r>
                <a:rPr sz="2325" b="0" dirty="0">
                  <a:solidFill>
                    <a:srgbClr val="26333C"/>
                  </a:solidFill>
                  <a:latin typeface="Noto Sans"/>
                  <a:ea typeface="Noto Sans"/>
                  <a:cs typeface="Noto Sans"/>
                </a:rPr>
                <a:t>Person needs</a:t>
              </a:r>
            </a:p>
            <a:p>
              <a:pPr algn="ctr">
                <a:defRPr sz="2325" b="0">
                  <a:solidFill>
                    <a:srgbClr val="26333C"/>
                  </a:solidFill>
                  <a:latin typeface="Noto Sans"/>
                  <a:ea typeface="Noto Sans"/>
                  <a:cs typeface="Noto Sans"/>
                </a:defRPr>
              </a:pPr>
              <a:r>
                <a:rPr sz="2325" b="0" dirty="0">
                  <a:solidFill>
                    <a:srgbClr val="26333C"/>
                  </a:solidFill>
                  <a:latin typeface="Noto Sans"/>
                  <a:ea typeface="Noto Sans"/>
                  <a:cs typeface="Noto Sans"/>
                </a:rPr>
                <a:t>room to pass</a:t>
              </a:r>
            </a:p>
          </p:txBody>
        </p:sp>
        <p:sp>
          <p:nvSpPr>
            <p:cNvPr id="420" name="act2-response">
              <a:extLst>
                <a:ext uri="{FF2B5EF4-FFF2-40B4-BE49-F238E27FC236}">
                  <a16:creationId xmlns:a16="http://schemas.microsoft.com/office/drawing/2014/main" id="{6851A825-0E09-7A72-DC8B-1647AA74F975}"/>
                </a:ext>
              </a:extLst>
            </p:cNvPr>
            <p:cNvSpPr>
              <a:spLocks noGrp="1"/>
            </p:cNvSpPr>
            <p:nvPr/>
          </p:nvSpPr>
          <p:spPr>
            <a:xfrm>
              <a:off x="11174635" y="15708821"/>
              <a:ext cx="4100608" cy="40005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Autofit/>
            </a:bodyPr>
            <a:lstStyle/>
            <a:p>
              <a:pPr algn="ctr">
                <a:defRPr sz="2550" b="1">
                  <a:solidFill>
                    <a:srgbClr val="22577A"/>
                  </a:solidFill>
                  <a:latin typeface="Noto Sans"/>
                  <a:ea typeface="Noto Sans"/>
                  <a:cs typeface="Noto Sans"/>
                </a:defRPr>
              </a:pPr>
              <a:r>
                <a:rPr sz="2550" b="1">
                  <a:solidFill>
                    <a:srgbClr val="22577A"/>
                  </a:solidFill>
                  <a:latin typeface="Noto Sans"/>
                  <a:ea typeface="Noto Sans"/>
                  <a:cs typeface="Noto Sans"/>
                </a:rPr>
                <a:t>Give room to pass</a:t>
              </a:r>
            </a:p>
          </p:txBody>
        </p:sp>
        <p:sp>
          <p:nvSpPr>
            <p:cNvPr id="421" name="act2-person-head">
              <a:extLst>
                <a:ext uri="{FF2B5EF4-FFF2-40B4-BE49-F238E27FC236}">
                  <a16:creationId xmlns:a16="http://schemas.microsoft.com/office/drawing/2014/main" id="{F2E9F92B-7B16-6621-0B63-B69896209FFA}"/>
                </a:ext>
              </a:extLst>
            </p:cNvPr>
            <p:cNvSpPr>
              <a:spLocks noGrp="1"/>
            </p:cNvSpPr>
            <p:nvPr/>
          </p:nvSpPr>
          <p:spPr>
            <a:xfrm>
              <a:off x="11755660" y="14575346"/>
              <a:ext cx="247650" cy="247650"/>
            </a:xfrm>
            <a:prstGeom prst="ellipse">
              <a:avLst/>
            </a:prstGeom>
            <a:solidFill>
              <a:srgbClr val="26333C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2" name="act2-person-body">
              <a:extLst>
                <a:ext uri="{FF2B5EF4-FFF2-40B4-BE49-F238E27FC236}">
                  <a16:creationId xmlns:a16="http://schemas.microsoft.com/office/drawing/2014/main" id="{1040677C-6CB3-C33A-4B15-F8F6BF761E2B}"/>
                </a:ext>
              </a:extLst>
            </p:cNvPr>
            <p:cNvSpPr>
              <a:spLocks noGrp="1"/>
            </p:cNvSpPr>
            <p:nvPr/>
          </p:nvSpPr>
          <p:spPr>
            <a:xfrm>
              <a:off x="11879485" y="14889671"/>
              <a:ext cx="9525" cy="323850"/>
            </a:xfrm>
            <a:custGeom>
              <a:avLst/>
              <a:gdLst/>
              <a:ahLst/>
              <a:cxnLst/>
              <a:rect l="0" t="0" r="0" b="0"/>
              <a:pathLst>
                <a:path w="9525" h="323850">
                  <a:moveTo>
                    <a:pt x="0" y="0"/>
                  </a:moveTo>
                  <a:lnTo>
                    <a:pt x="0" y="323850"/>
                  </a:lnTo>
                </a:path>
              </a:pathLst>
            </a:custGeom>
            <a:noFill/>
            <a:ln w="76200">
              <a:solidFill>
                <a:srgbClr val="26333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3" name="act2-person-arms">
              <a:extLst>
                <a:ext uri="{FF2B5EF4-FFF2-40B4-BE49-F238E27FC236}">
                  <a16:creationId xmlns:a16="http://schemas.microsoft.com/office/drawing/2014/main" id="{1EC42C35-1930-1704-49DE-89DFD45915A7}"/>
                </a:ext>
              </a:extLst>
            </p:cNvPr>
            <p:cNvSpPr>
              <a:spLocks noGrp="1"/>
            </p:cNvSpPr>
            <p:nvPr/>
          </p:nvSpPr>
          <p:spPr>
            <a:xfrm>
              <a:off x="11679460" y="14927771"/>
              <a:ext cx="400050" cy="142875"/>
            </a:xfrm>
            <a:custGeom>
              <a:avLst/>
              <a:gdLst/>
              <a:ahLst/>
              <a:cxnLst/>
              <a:rect l="0" t="0" r="0" b="0"/>
              <a:pathLst>
                <a:path w="400050" h="142875">
                  <a:moveTo>
                    <a:pt x="0" y="142875"/>
                  </a:moveTo>
                  <a:lnTo>
                    <a:pt x="200025" y="0"/>
                  </a:lnTo>
                  <a:lnTo>
                    <a:pt x="400050" y="142875"/>
                  </a:lnTo>
                </a:path>
              </a:pathLst>
            </a:custGeom>
            <a:noFill/>
            <a:ln w="66675">
              <a:solidFill>
                <a:srgbClr val="26333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" name="act2-person-legs">
              <a:extLst>
                <a:ext uri="{FF2B5EF4-FFF2-40B4-BE49-F238E27FC236}">
                  <a16:creationId xmlns:a16="http://schemas.microsoft.com/office/drawing/2014/main" id="{34E3FCBE-858D-40EA-0DEC-F7313363D593}"/>
                </a:ext>
              </a:extLst>
            </p:cNvPr>
            <p:cNvSpPr>
              <a:spLocks noGrp="1"/>
            </p:cNvSpPr>
            <p:nvPr/>
          </p:nvSpPr>
          <p:spPr>
            <a:xfrm>
              <a:off x="11698510" y="15194471"/>
              <a:ext cx="361950" cy="266700"/>
            </a:xfrm>
            <a:custGeom>
              <a:avLst/>
              <a:gdLst/>
              <a:ahLst/>
              <a:cxnLst/>
              <a:rect l="0" t="0" r="0" b="0"/>
              <a:pathLst>
                <a:path w="361950" h="266700">
                  <a:moveTo>
                    <a:pt x="0" y="266700"/>
                  </a:moveTo>
                  <a:lnTo>
                    <a:pt x="180975" y="0"/>
                  </a:lnTo>
                  <a:lnTo>
                    <a:pt x="361950" y="266700"/>
                  </a:lnTo>
                </a:path>
              </a:pathLst>
            </a:custGeom>
            <a:noFill/>
            <a:ln w="66675">
              <a:solidFill>
                <a:srgbClr val="26333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" name="act2-person-motion">
              <a:extLst>
                <a:ext uri="{FF2B5EF4-FFF2-40B4-BE49-F238E27FC236}">
                  <a16:creationId xmlns:a16="http://schemas.microsoft.com/office/drawing/2014/main" id="{6E440535-4389-C32D-7C15-C6EA31877391}"/>
                </a:ext>
              </a:extLst>
            </p:cNvPr>
            <p:cNvSpPr>
              <a:spLocks noGrp="1"/>
            </p:cNvSpPr>
            <p:nvPr/>
          </p:nvSpPr>
          <p:spPr>
            <a:xfrm>
              <a:off x="12336685" y="14975396"/>
              <a:ext cx="1438275" cy="190500"/>
            </a:xfrm>
            <a:prstGeom prst="rightArrow">
              <a:avLst/>
            </a:prstGeom>
            <a:solidFill>
              <a:srgbClr val="22577A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" name="act2-robot-body">
              <a:extLst>
                <a:ext uri="{FF2B5EF4-FFF2-40B4-BE49-F238E27FC236}">
                  <a16:creationId xmlns:a16="http://schemas.microsoft.com/office/drawing/2014/main" id="{67BF2CA5-1106-330E-CE88-9974B4A7F486}"/>
                </a:ext>
              </a:extLst>
            </p:cNvPr>
            <p:cNvSpPr>
              <a:spLocks noGrp="1"/>
            </p:cNvSpPr>
            <p:nvPr/>
          </p:nvSpPr>
          <p:spPr>
            <a:xfrm>
              <a:off x="14155960" y="15227999"/>
              <a:ext cx="400050" cy="376047"/>
            </a:xfrm>
            <a:prstGeom prst="roundRect">
              <a:avLst>
                <a:gd name="adj" fmla="val 20263"/>
              </a:avLst>
            </a:prstGeom>
            <a:solidFill>
              <a:srgbClr val="F3F0E7"/>
            </a:solidFill>
            <a:ln w="24003">
              <a:solidFill>
                <a:srgbClr val="22577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" name="act2-robot-head">
              <a:extLst>
                <a:ext uri="{FF2B5EF4-FFF2-40B4-BE49-F238E27FC236}">
                  <a16:creationId xmlns:a16="http://schemas.microsoft.com/office/drawing/2014/main" id="{20467B59-2F59-F950-0865-4C1ED3A7AC0B}"/>
                </a:ext>
              </a:extLst>
            </p:cNvPr>
            <p:cNvSpPr>
              <a:spLocks noGrp="1"/>
            </p:cNvSpPr>
            <p:nvPr/>
          </p:nvSpPr>
          <p:spPr>
            <a:xfrm>
              <a:off x="14115955" y="15003971"/>
              <a:ext cx="480060" cy="296037"/>
            </a:xfrm>
            <a:prstGeom prst="roundRect">
              <a:avLst>
                <a:gd name="adj" fmla="val 25740"/>
              </a:avLst>
            </a:prstGeom>
            <a:solidFill>
              <a:srgbClr val="22577A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8" name="act2-robot-eye1">
              <a:extLst>
                <a:ext uri="{FF2B5EF4-FFF2-40B4-BE49-F238E27FC236}">
                  <a16:creationId xmlns:a16="http://schemas.microsoft.com/office/drawing/2014/main" id="{929EC4E3-A505-5D62-A2C9-911566492ECC}"/>
                </a:ext>
              </a:extLst>
            </p:cNvPr>
            <p:cNvSpPr>
              <a:spLocks noGrp="1"/>
            </p:cNvSpPr>
            <p:nvPr/>
          </p:nvSpPr>
          <p:spPr>
            <a:xfrm>
              <a:off x="14211967" y="15099983"/>
              <a:ext cx="88011" cy="88011"/>
            </a:xfrm>
            <a:prstGeom prst="ellipse">
              <a:avLst/>
            </a:prstGeom>
            <a:solidFill>
              <a:srgbClr val="78B9D1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9" name="act2-robot-eye2">
              <a:extLst>
                <a:ext uri="{FF2B5EF4-FFF2-40B4-BE49-F238E27FC236}">
                  <a16:creationId xmlns:a16="http://schemas.microsoft.com/office/drawing/2014/main" id="{7E72C053-D494-EF50-4D83-A1F6F5A6628C}"/>
                </a:ext>
              </a:extLst>
            </p:cNvPr>
            <p:cNvSpPr>
              <a:spLocks noGrp="1"/>
            </p:cNvSpPr>
            <p:nvPr/>
          </p:nvSpPr>
          <p:spPr>
            <a:xfrm>
              <a:off x="14411992" y="15099983"/>
              <a:ext cx="88011" cy="88011"/>
            </a:xfrm>
            <a:prstGeom prst="ellipse">
              <a:avLst/>
            </a:prstGeom>
            <a:solidFill>
              <a:srgbClr val="78B9D1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0" name="act2-robot-wheel1">
              <a:extLst>
                <a:ext uri="{FF2B5EF4-FFF2-40B4-BE49-F238E27FC236}">
                  <a16:creationId xmlns:a16="http://schemas.microsoft.com/office/drawing/2014/main" id="{66E85D46-08C6-D68C-0506-BC273FC4CB75}"/>
                </a:ext>
              </a:extLst>
            </p:cNvPr>
            <p:cNvSpPr>
              <a:spLocks noGrp="1"/>
            </p:cNvSpPr>
            <p:nvPr/>
          </p:nvSpPr>
          <p:spPr>
            <a:xfrm>
              <a:off x="14171962" y="15564041"/>
              <a:ext cx="104013" cy="104013"/>
            </a:xfrm>
            <a:prstGeom prst="ellipse">
              <a:avLst/>
            </a:prstGeom>
            <a:solidFill>
              <a:srgbClr val="22577A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1" name="act2-robot-wheel2">
              <a:extLst>
                <a:ext uri="{FF2B5EF4-FFF2-40B4-BE49-F238E27FC236}">
                  <a16:creationId xmlns:a16="http://schemas.microsoft.com/office/drawing/2014/main" id="{AB4913DD-DBCA-EAB5-D68F-44F74872FB0E}"/>
                </a:ext>
              </a:extLst>
            </p:cNvPr>
            <p:cNvSpPr>
              <a:spLocks noGrp="1"/>
            </p:cNvSpPr>
            <p:nvPr/>
          </p:nvSpPr>
          <p:spPr>
            <a:xfrm>
              <a:off x="14435995" y="15564041"/>
              <a:ext cx="104013" cy="104013"/>
            </a:xfrm>
            <a:prstGeom prst="ellipse">
              <a:avLst/>
            </a:prstGeom>
            <a:solidFill>
              <a:srgbClr val="22577A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2" name="act2-robot-motion">
              <a:extLst>
                <a:ext uri="{FF2B5EF4-FFF2-40B4-BE49-F238E27FC236}">
                  <a16:creationId xmlns:a16="http://schemas.microsoft.com/office/drawing/2014/main" id="{C48A601B-CB2E-E1A8-5D26-FC3CCE3B45DF}"/>
                </a:ext>
              </a:extLst>
            </p:cNvPr>
            <p:cNvSpPr>
              <a:spLocks noGrp="1"/>
            </p:cNvSpPr>
            <p:nvPr/>
          </p:nvSpPr>
          <p:spPr>
            <a:xfrm>
              <a:off x="14260735" y="14603921"/>
              <a:ext cx="190500" cy="333375"/>
            </a:xfrm>
            <a:prstGeom prst="downArrow">
              <a:avLst/>
            </a:prstGeom>
            <a:solidFill>
              <a:srgbClr val="22577A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33" name="Action card 4">
            <a:extLst>
              <a:ext uri="{FF2B5EF4-FFF2-40B4-BE49-F238E27FC236}">
                <a16:creationId xmlns:a16="http://schemas.microsoft.com/office/drawing/2014/main" id="{6D2656F1-C853-6011-3DEB-6A0353B09703}"/>
              </a:ext>
            </a:extLst>
          </p:cNvPr>
          <p:cNvGrpSpPr/>
          <p:nvPr/>
        </p:nvGrpSpPr>
        <p:grpSpPr>
          <a:xfrm>
            <a:off x="16051285" y="13495667"/>
            <a:ext cx="4524375" cy="3095625"/>
            <a:chOff x="16046768" y="13194220"/>
            <a:chExt cx="4524375" cy="3095625"/>
          </a:xfrm>
        </p:grpSpPr>
        <p:sp>
          <p:nvSpPr>
            <p:cNvPr id="434" name="act3-shadow">
              <a:extLst>
                <a:ext uri="{FF2B5EF4-FFF2-40B4-BE49-F238E27FC236}">
                  <a16:creationId xmlns:a16="http://schemas.microsoft.com/office/drawing/2014/main" id="{25A43A4B-3E45-E112-4BF0-8B24B9715587}"/>
                </a:ext>
              </a:extLst>
            </p:cNvPr>
            <p:cNvSpPr>
              <a:spLocks noGrp="1"/>
            </p:cNvSpPr>
            <p:nvPr/>
          </p:nvSpPr>
          <p:spPr>
            <a:xfrm>
              <a:off x="16161068" y="13318046"/>
              <a:ext cx="4405408" cy="2967419"/>
            </a:xfrm>
            <a:prstGeom prst="roundRect">
              <a:avLst>
                <a:gd name="adj" fmla="val 2568"/>
              </a:avLst>
            </a:prstGeom>
            <a:solidFill>
              <a:srgbClr val="AFC4CC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5" name="act3-card">
              <a:extLst>
                <a:ext uri="{FF2B5EF4-FFF2-40B4-BE49-F238E27FC236}">
                  <a16:creationId xmlns:a16="http://schemas.microsoft.com/office/drawing/2014/main" id="{EE639307-038F-0299-B8A0-5FC67CCB105F}"/>
                </a:ext>
              </a:extLst>
            </p:cNvPr>
            <p:cNvSpPr>
              <a:spLocks noGrp="1"/>
            </p:cNvSpPr>
            <p:nvPr/>
          </p:nvSpPr>
          <p:spPr>
            <a:xfrm>
              <a:off x="16046768" y="13194221"/>
              <a:ext cx="4405408" cy="2967419"/>
            </a:xfrm>
            <a:prstGeom prst="roundRect">
              <a:avLst>
                <a:gd name="adj" fmla="val 2568"/>
              </a:avLst>
            </a:prstGeom>
            <a:solidFill>
              <a:srgbClr val="DDECF2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6" name="act3-title">
              <a:extLst>
                <a:ext uri="{FF2B5EF4-FFF2-40B4-BE49-F238E27FC236}">
                  <a16:creationId xmlns:a16="http://schemas.microsoft.com/office/drawing/2014/main" id="{195D1714-53E9-DEBD-8450-FEA515977571}"/>
                </a:ext>
              </a:extLst>
            </p:cNvPr>
            <p:cNvSpPr>
              <a:spLocks noGrp="1"/>
            </p:cNvSpPr>
            <p:nvPr/>
          </p:nvSpPr>
          <p:spPr>
            <a:xfrm>
              <a:off x="16237268" y="13289471"/>
              <a:ext cx="4024408" cy="55245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Autofit/>
            </a:bodyPr>
            <a:lstStyle/>
            <a:p>
              <a:pPr algn="ctr">
                <a:defRPr sz="3900" b="1">
                  <a:solidFill>
                    <a:srgbClr val="22577A"/>
                  </a:solidFill>
                  <a:latin typeface="Rubik"/>
                  <a:ea typeface="Rubik"/>
                  <a:cs typeface="Rubik"/>
                </a:defRPr>
              </a:pPr>
              <a:r>
                <a:rPr sz="3900" b="1">
                  <a:solidFill>
                    <a:srgbClr val="22577A"/>
                  </a:solidFill>
                  <a:latin typeface="Rubik"/>
                  <a:ea typeface="Rubik"/>
                  <a:cs typeface="Rubik"/>
                </a:rPr>
                <a:t>CONTINUE</a:t>
              </a:r>
            </a:p>
          </p:txBody>
        </p:sp>
        <p:sp>
          <p:nvSpPr>
            <p:cNvPr id="437" name="act3-scenario">
              <a:extLst>
                <a:ext uri="{FF2B5EF4-FFF2-40B4-BE49-F238E27FC236}">
                  <a16:creationId xmlns:a16="http://schemas.microsoft.com/office/drawing/2014/main" id="{7C448909-B1D0-0534-88C6-76176BB5CBB4}"/>
                </a:ext>
              </a:extLst>
            </p:cNvPr>
            <p:cNvSpPr>
              <a:spLocks noGrp="1"/>
            </p:cNvSpPr>
            <p:nvPr/>
          </p:nvSpPr>
          <p:spPr>
            <a:xfrm>
              <a:off x="16256318" y="13860971"/>
              <a:ext cx="3986308" cy="66675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Autofit/>
            </a:bodyPr>
            <a:lstStyle/>
            <a:p>
              <a:pPr algn="ctr">
                <a:defRPr sz="2325" b="0">
                  <a:solidFill>
                    <a:srgbClr val="26333C"/>
                  </a:solidFill>
                  <a:latin typeface="Noto Sans"/>
                  <a:ea typeface="Noto Sans"/>
                  <a:cs typeface="Noto Sans"/>
                </a:defRPr>
              </a:pPr>
              <a:r>
                <a:rPr sz="2325" b="0" dirty="0">
                  <a:solidFill>
                    <a:srgbClr val="26333C"/>
                  </a:solidFill>
                  <a:latin typeface="Noto Sans"/>
                  <a:ea typeface="Noto Sans"/>
                  <a:cs typeface="Noto Sans"/>
                </a:rPr>
                <a:t>No sustained</a:t>
              </a:r>
            </a:p>
            <a:p>
              <a:pPr algn="ctr">
                <a:defRPr sz="2325" b="0">
                  <a:solidFill>
                    <a:srgbClr val="26333C"/>
                  </a:solidFill>
                  <a:latin typeface="Noto Sans"/>
                  <a:ea typeface="Noto Sans"/>
                  <a:cs typeface="Noto Sans"/>
                </a:defRPr>
              </a:pPr>
              <a:r>
                <a:rPr sz="2325" b="0" dirty="0">
                  <a:solidFill>
                    <a:srgbClr val="26333C"/>
                  </a:solidFill>
                  <a:latin typeface="Noto Sans"/>
                  <a:ea typeface="Noto Sans"/>
                  <a:cs typeface="Noto Sans"/>
                </a:rPr>
                <a:t>interest in interaction</a:t>
              </a:r>
            </a:p>
          </p:txBody>
        </p:sp>
        <p:sp>
          <p:nvSpPr>
            <p:cNvPr id="438" name="act3-response">
              <a:extLst>
                <a:ext uri="{FF2B5EF4-FFF2-40B4-BE49-F238E27FC236}">
                  <a16:creationId xmlns:a16="http://schemas.microsoft.com/office/drawing/2014/main" id="{37F3887F-69BD-C288-7BDF-F8DB801DC311}"/>
                </a:ext>
              </a:extLst>
            </p:cNvPr>
            <p:cNvSpPr>
              <a:spLocks noGrp="1"/>
            </p:cNvSpPr>
            <p:nvPr/>
          </p:nvSpPr>
          <p:spPr>
            <a:xfrm>
              <a:off x="16199168" y="15708821"/>
              <a:ext cx="4100608" cy="40005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ctr">
              <a:noAutofit/>
            </a:bodyPr>
            <a:lstStyle/>
            <a:p>
              <a:pPr algn="ctr">
                <a:defRPr sz="2550" b="1">
                  <a:solidFill>
                    <a:srgbClr val="22577A"/>
                  </a:solidFill>
                  <a:latin typeface="Noto Sans"/>
                  <a:ea typeface="Noto Sans"/>
                  <a:cs typeface="Noto Sans"/>
                </a:defRPr>
              </a:pPr>
              <a:r>
                <a:rPr sz="2550" b="1">
                  <a:solidFill>
                    <a:srgbClr val="22577A"/>
                  </a:solidFill>
                  <a:latin typeface="Noto Sans"/>
                  <a:ea typeface="Noto Sans"/>
                  <a:cs typeface="Noto Sans"/>
                </a:rPr>
                <a:t>Stay on the route</a:t>
              </a:r>
            </a:p>
          </p:txBody>
        </p:sp>
        <p:sp>
          <p:nvSpPr>
            <p:cNvPr id="439" name="act3-robot-body">
              <a:extLst>
                <a:ext uri="{FF2B5EF4-FFF2-40B4-BE49-F238E27FC236}">
                  <a16:creationId xmlns:a16="http://schemas.microsoft.com/office/drawing/2014/main" id="{65C1FBC5-93E5-EAB3-60A5-ED0DE7773360}"/>
                </a:ext>
              </a:extLst>
            </p:cNvPr>
            <p:cNvSpPr>
              <a:spLocks noGrp="1"/>
            </p:cNvSpPr>
            <p:nvPr/>
          </p:nvSpPr>
          <p:spPr>
            <a:xfrm>
              <a:off x="16684943" y="15080171"/>
              <a:ext cx="476250" cy="447675"/>
            </a:xfrm>
            <a:prstGeom prst="roundRect">
              <a:avLst>
                <a:gd name="adj" fmla="val 17021"/>
              </a:avLst>
            </a:prstGeom>
            <a:solidFill>
              <a:srgbClr val="F3F0E7"/>
            </a:solidFill>
            <a:ln w="28575">
              <a:solidFill>
                <a:srgbClr val="22577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0" name="act3-robot-head">
              <a:extLst>
                <a:ext uri="{FF2B5EF4-FFF2-40B4-BE49-F238E27FC236}">
                  <a16:creationId xmlns:a16="http://schemas.microsoft.com/office/drawing/2014/main" id="{83E8CC3E-B2B0-B03E-6FC1-19BE13FD230A}"/>
                </a:ext>
              </a:extLst>
            </p:cNvPr>
            <p:cNvSpPr>
              <a:spLocks noGrp="1"/>
            </p:cNvSpPr>
            <p:nvPr/>
          </p:nvSpPr>
          <p:spPr>
            <a:xfrm>
              <a:off x="16637318" y="14813471"/>
              <a:ext cx="571500" cy="352425"/>
            </a:xfrm>
            <a:prstGeom prst="roundRect">
              <a:avLst>
                <a:gd name="adj" fmla="val 21622"/>
              </a:avLst>
            </a:prstGeom>
            <a:solidFill>
              <a:srgbClr val="22577A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1" name="act3-robot-eye1">
              <a:extLst>
                <a:ext uri="{FF2B5EF4-FFF2-40B4-BE49-F238E27FC236}">
                  <a16:creationId xmlns:a16="http://schemas.microsoft.com/office/drawing/2014/main" id="{365192AE-D090-3010-266E-DCC757C519F0}"/>
                </a:ext>
              </a:extLst>
            </p:cNvPr>
            <p:cNvSpPr>
              <a:spLocks noGrp="1"/>
            </p:cNvSpPr>
            <p:nvPr/>
          </p:nvSpPr>
          <p:spPr>
            <a:xfrm>
              <a:off x="16751618" y="14927771"/>
              <a:ext cx="104775" cy="104775"/>
            </a:xfrm>
            <a:prstGeom prst="ellipse">
              <a:avLst/>
            </a:prstGeom>
            <a:solidFill>
              <a:srgbClr val="78B9D1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2" name="act3-robot-eye2">
              <a:extLst>
                <a:ext uri="{FF2B5EF4-FFF2-40B4-BE49-F238E27FC236}">
                  <a16:creationId xmlns:a16="http://schemas.microsoft.com/office/drawing/2014/main" id="{89D57BD1-5D40-9085-5B39-907D388F20D3}"/>
                </a:ext>
              </a:extLst>
            </p:cNvPr>
            <p:cNvSpPr>
              <a:spLocks noGrp="1"/>
            </p:cNvSpPr>
            <p:nvPr/>
          </p:nvSpPr>
          <p:spPr>
            <a:xfrm>
              <a:off x="16989743" y="14927771"/>
              <a:ext cx="104775" cy="104775"/>
            </a:xfrm>
            <a:prstGeom prst="ellipse">
              <a:avLst/>
            </a:prstGeom>
            <a:solidFill>
              <a:srgbClr val="78B9D1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3" name="act3-robot-wheel1">
              <a:extLst>
                <a:ext uri="{FF2B5EF4-FFF2-40B4-BE49-F238E27FC236}">
                  <a16:creationId xmlns:a16="http://schemas.microsoft.com/office/drawing/2014/main" id="{84E2208D-2229-0923-E7A0-F384DE68DF4B}"/>
                </a:ext>
              </a:extLst>
            </p:cNvPr>
            <p:cNvSpPr>
              <a:spLocks noGrp="1"/>
            </p:cNvSpPr>
            <p:nvPr/>
          </p:nvSpPr>
          <p:spPr>
            <a:xfrm>
              <a:off x="16703993" y="15480221"/>
              <a:ext cx="123825" cy="123825"/>
            </a:xfrm>
            <a:prstGeom prst="ellipse">
              <a:avLst/>
            </a:prstGeom>
            <a:solidFill>
              <a:srgbClr val="22577A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4" name="act3-robot-wheel2">
              <a:extLst>
                <a:ext uri="{FF2B5EF4-FFF2-40B4-BE49-F238E27FC236}">
                  <a16:creationId xmlns:a16="http://schemas.microsoft.com/office/drawing/2014/main" id="{5B96D755-14FD-9F2B-BCBF-4BDB25A23EEE}"/>
                </a:ext>
              </a:extLst>
            </p:cNvPr>
            <p:cNvSpPr>
              <a:spLocks noGrp="1"/>
            </p:cNvSpPr>
            <p:nvPr/>
          </p:nvSpPr>
          <p:spPr>
            <a:xfrm>
              <a:off x="17018318" y="15480221"/>
              <a:ext cx="123825" cy="123825"/>
            </a:xfrm>
            <a:prstGeom prst="ellipse">
              <a:avLst/>
            </a:prstGeom>
            <a:solidFill>
              <a:srgbClr val="22577A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5" name="act3-person-head">
              <a:extLst>
                <a:ext uri="{FF2B5EF4-FFF2-40B4-BE49-F238E27FC236}">
                  <a16:creationId xmlns:a16="http://schemas.microsoft.com/office/drawing/2014/main" id="{568DDCE2-3AC1-FA89-AA02-CEA697D64F64}"/>
                </a:ext>
              </a:extLst>
            </p:cNvPr>
            <p:cNvSpPr>
              <a:spLocks noGrp="1"/>
            </p:cNvSpPr>
            <p:nvPr/>
          </p:nvSpPr>
          <p:spPr>
            <a:xfrm>
              <a:off x="19151918" y="14584871"/>
              <a:ext cx="247650" cy="247650"/>
            </a:xfrm>
            <a:prstGeom prst="ellipse">
              <a:avLst/>
            </a:prstGeom>
            <a:solidFill>
              <a:srgbClr val="26333C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6" name="act3-person-body">
              <a:extLst>
                <a:ext uri="{FF2B5EF4-FFF2-40B4-BE49-F238E27FC236}">
                  <a16:creationId xmlns:a16="http://schemas.microsoft.com/office/drawing/2014/main" id="{91B29772-D7A0-8E10-E344-F436E2000988}"/>
                </a:ext>
              </a:extLst>
            </p:cNvPr>
            <p:cNvSpPr>
              <a:spLocks noGrp="1"/>
            </p:cNvSpPr>
            <p:nvPr/>
          </p:nvSpPr>
          <p:spPr>
            <a:xfrm>
              <a:off x="19275743" y="14899196"/>
              <a:ext cx="9525" cy="323850"/>
            </a:xfrm>
            <a:custGeom>
              <a:avLst/>
              <a:gdLst/>
              <a:ahLst/>
              <a:cxnLst/>
              <a:rect l="0" t="0" r="0" b="0"/>
              <a:pathLst>
                <a:path w="9525" h="323850">
                  <a:moveTo>
                    <a:pt x="0" y="0"/>
                  </a:moveTo>
                  <a:lnTo>
                    <a:pt x="0" y="323850"/>
                  </a:lnTo>
                </a:path>
              </a:pathLst>
            </a:custGeom>
            <a:noFill/>
            <a:ln w="76200">
              <a:solidFill>
                <a:srgbClr val="26333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7" name="act3-person-arms">
              <a:extLst>
                <a:ext uri="{FF2B5EF4-FFF2-40B4-BE49-F238E27FC236}">
                  <a16:creationId xmlns:a16="http://schemas.microsoft.com/office/drawing/2014/main" id="{09E654A1-6E5A-F645-8D23-4FCB212027AA}"/>
                </a:ext>
              </a:extLst>
            </p:cNvPr>
            <p:cNvSpPr>
              <a:spLocks noGrp="1"/>
            </p:cNvSpPr>
            <p:nvPr/>
          </p:nvSpPr>
          <p:spPr>
            <a:xfrm>
              <a:off x="19075718" y="14937296"/>
              <a:ext cx="400050" cy="142875"/>
            </a:xfrm>
            <a:custGeom>
              <a:avLst/>
              <a:gdLst/>
              <a:ahLst/>
              <a:cxnLst/>
              <a:rect l="0" t="0" r="0" b="0"/>
              <a:pathLst>
                <a:path w="400050" h="142875">
                  <a:moveTo>
                    <a:pt x="0" y="142875"/>
                  </a:moveTo>
                  <a:lnTo>
                    <a:pt x="200025" y="0"/>
                  </a:lnTo>
                  <a:lnTo>
                    <a:pt x="400050" y="142875"/>
                  </a:lnTo>
                </a:path>
              </a:pathLst>
            </a:custGeom>
            <a:noFill/>
            <a:ln w="66675">
              <a:solidFill>
                <a:srgbClr val="26333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" name="act3-person-legs">
              <a:extLst>
                <a:ext uri="{FF2B5EF4-FFF2-40B4-BE49-F238E27FC236}">
                  <a16:creationId xmlns:a16="http://schemas.microsoft.com/office/drawing/2014/main" id="{85836B04-F29B-08D3-6A89-0DE5CA6876F1}"/>
                </a:ext>
              </a:extLst>
            </p:cNvPr>
            <p:cNvSpPr>
              <a:spLocks noGrp="1"/>
            </p:cNvSpPr>
            <p:nvPr/>
          </p:nvSpPr>
          <p:spPr>
            <a:xfrm>
              <a:off x="19094768" y="15203996"/>
              <a:ext cx="361950" cy="266700"/>
            </a:xfrm>
            <a:custGeom>
              <a:avLst/>
              <a:gdLst/>
              <a:ahLst/>
              <a:cxnLst/>
              <a:rect l="0" t="0" r="0" b="0"/>
              <a:pathLst>
                <a:path w="361950" h="266700">
                  <a:moveTo>
                    <a:pt x="0" y="266700"/>
                  </a:moveTo>
                  <a:lnTo>
                    <a:pt x="180975" y="0"/>
                  </a:lnTo>
                  <a:lnTo>
                    <a:pt x="361950" y="266700"/>
                  </a:lnTo>
                </a:path>
              </a:pathLst>
            </a:custGeom>
            <a:noFill/>
            <a:ln w="66675">
              <a:solidFill>
                <a:srgbClr val="26333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9" name="act3-robot-motion">
              <a:extLst>
                <a:ext uri="{FF2B5EF4-FFF2-40B4-BE49-F238E27FC236}">
                  <a16:creationId xmlns:a16="http://schemas.microsoft.com/office/drawing/2014/main" id="{A650A836-6899-4883-FBEC-3CAE8B0D0EEB}"/>
                </a:ext>
              </a:extLst>
            </p:cNvPr>
            <p:cNvSpPr>
              <a:spLocks noGrp="1"/>
            </p:cNvSpPr>
            <p:nvPr/>
          </p:nvSpPr>
          <p:spPr>
            <a:xfrm>
              <a:off x="17370743" y="15356396"/>
              <a:ext cx="1609725" cy="190500"/>
            </a:xfrm>
            <a:prstGeom prst="rightArrow">
              <a:avLst/>
            </a:prstGeom>
            <a:solidFill>
              <a:srgbClr val="22577A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0" name="act3-person-motion">
              <a:extLst>
                <a:ext uri="{FF2B5EF4-FFF2-40B4-BE49-F238E27FC236}">
                  <a16:creationId xmlns:a16="http://schemas.microsoft.com/office/drawing/2014/main" id="{D45EEB6E-87BF-B50E-5A25-C2FED56FC581}"/>
                </a:ext>
              </a:extLst>
            </p:cNvPr>
            <p:cNvSpPr>
              <a:spLocks noGrp="1"/>
            </p:cNvSpPr>
            <p:nvPr/>
          </p:nvSpPr>
          <p:spPr>
            <a:xfrm>
              <a:off x="19599593" y="14937296"/>
              <a:ext cx="504825" cy="171450"/>
            </a:xfrm>
            <a:prstGeom prst="rightArrow">
              <a:avLst/>
            </a:prstGeom>
            <a:solidFill>
              <a:srgbClr val="22577A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51" name="branch-from-policies">
            <a:extLst>
              <a:ext uri="{FF2B5EF4-FFF2-40B4-BE49-F238E27FC236}">
                <a16:creationId xmlns:a16="http://schemas.microsoft.com/office/drawing/2014/main" id="{288ACAE2-8EBA-9E98-67B3-0CC8AB74162A}"/>
              </a:ext>
            </a:extLst>
          </p:cNvPr>
          <p:cNvSpPr>
            <a:spLocks noGrp="1"/>
          </p:cNvSpPr>
          <p:nvPr/>
        </p:nvSpPr>
        <p:spPr>
          <a:xfrm>
            <a:off x="18264037" y="12550597"/>
            <a:ext cx="9525" cy="552450"/>
          </a:xfrm>
          <a:custGeom>
            <a:avLst/>
            <a:gdLst/>
            <a:ahLst/>
            <a:cxnLst/>
            <a:rect l="0" t="0" r="0" b="0"/>
            <a:pathLst>
              <a:path w="9525" h="552450">
                <a:moveTo>
                  <a:pt x="0" y="0"/>
                </a:moveTo>
                <a:lnTo>
                  <a:pt x="0" y="552450"/>
                </a:lnTo>
              </a:path>
            </a:pathLst>
          </a:custGeom>
          <a:noFill/>
          <a:ln w="38100">
            <a:solidFill>
              <a:srgbClr val="2257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2" name="branch-output-bus">
            <a:extLst>
              <a:ext uri="{FF2B5EF4-FFF2-40B4-BE49-F238E27FC236}">
                <a16:creationId xmlns:a16="http://schemas.microsoft.com/office/drawing/2014/main" id="{22FA2478-4FB1-7E3F-A207-1CC5A2E5E538}"/>
              </a:ext>
            </a:extLst>
          </p:cNvPr>
          <p:cNvSpPr>
            <a:spLocks noGrp="1"/>
          </p:cNvSpPr>
          <p:nvPr/>
        </p:nvSpPr>
        <p:spPr>
          <a:xfrm>
            <a:off x="3180390" y="13103047"/>
            <a:ext cx="15073598" cy="9525"/>
          </a:xfrm>
          <a:custGeom>
            <a:avLst/>
            <a:gdLst/>
            <a:ahLst/>
            <a:cxnLst/>
            <a:rect l="0" t="0" r="0" b="0"/>
            <a:pathLst>
              <a:path w="15073598" h="9525">
                <a:moveTo>
                  <a:pt x="0" y="0"/>
                </a:moveTo>
                <a:lnTo>
                  <a:pt x="15073598" y="0"/>
                </a:lnTo>
              </a:path>
            </a:pathLst>
          </a:custGeom>
          <a:noFill/>
          <a:ln w="38100">
            <a:solidFill>
              <a:srgbClr val="2257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3" name="branch-drop-0">
            <a:extLst>
              <a:ext uri="{FF2B5EF4-FFF2-40B4-BE49-F238E27FC236}">
                <a16:creationId xmlns:a16="http://schemas.microsoft.com/office/drawing/2014/main" id="{374ED51E-4672-7E96-E812-9DD549945405}"/>
              </a:ext>
            </a:extLst>
          </p:cNvPr>
          <p:cNvSpPr>
            <a:spLocks noGrp="1"/>
          </p:cNvSpPr>
          <p:nvPr/>
        </p:nvSpPr>
        <p:spPr>
          <a:xfrm>
            <a:off x="3180390" y="13103047"/>
            <a:ext cx="9525" cy="276225"/>
          </a:xfrm>
          <a:custGeom>
            <a:avLst/>
            <a:gdLst/>
            <a:ahLst/>
            <a:cxnLst/>
            <a:rect l="0" t="0" r="0" b="0"/>
            <a:pathLst>
              <a:path w="9525" h="276225">
                <a:moveTo>
                  <a:pt x="0" y="0"/>
                </a:moveTo>
                <a:lnTo>
                  <a:pt x="0" y="276225"/>
                </a:lnTo>
              </a:path>
            </a:pathLst>
          </a:custGeom>
          <a:noFill/>
          <a:ln w="38100">
            <a:solidFill>
              <a:srgbClr val="2257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4" name="branch-tip-0">
            <a:extLst>
              <a:ext uri="{FF2B5EF4-FFF2-40B4-BE49-F238E27FC236}">
                <a16:creationId xmlns:a16="http://schemas.microsoft.com/office/drawing/2014/main" id="{BAC1C7D5-65EA-CF16-4B0F-D8B40D646E89}"/>
              </a:ext>
            </a:extLst>
          </p:cNvPr>
          <p:cNvSpPr>
            <a:spLocks noGrp="1"/>
          </p:cNvSpPr>
          <p:nvPr/>
        </p:nvSpPr>
        <p:spPr>
          <a:xfrm>
            <a:off x="3142289" y="13355571"/>
            <a:ext cx="76200" cy="133350"/>
          </a:xfrm>
          <a:prstGeom prst="downArrow">
            <a:avLst/>
          </a:prstGeom>
          <a:solidFill>
            <a:srgbClr val="22577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5" name="branch-drop-1">
            <a:extLst>
              <a:ext uri="{FF2B5EF4-FFF2-40B4-BE49-F238E27FC236}">
                <a16:creationId xmlns:a16="http://schemas.microsoft.com/office/drawing/2014/main" id="{8F1A8D08-AE47-1788-762F-8812E5961132}"/>
              </a:ext>
            </a:extLst>
          </p:cNvPr>
          <p:cNvSpPr>
            <a:spLocks noGrp="1"/>
          </p:cNvSpPr>
          <p:nvPr/>
        </p:nvSpPr>
        <p:spPr>
          <a:xfrm>
            <a:off x="8204923" y="13103047"/>
            <a:ext cx="9525" cy="276225"/>
          </a:xfrm>
          <a:custGeom>
            <a:avLst/>
            <a:gdLst/>
            <a:ahLst/>
            <a:cxnLst/>
            <a:rect l="0" t="0" r="0" b="0"/>
            <a:pathLst>
              <a:path w="9525" h="276225">
                <a:moveTo>
                  <a:pt x="0" y="0"/>
                </a:moveTo>
                <a:lnTo>
                  <a:pt x="0" y="276225"/>
                </a:lnTo>
              </a:path>
            </a:pathLst>
          </a:custGeom>
          <a:noFill/>
          <a:ln w="38100">
            <a:solidFill>
              <a:srgbClr val="2257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6" name="branch-tip-1">
            <a:extLst>
              <a:ext uri="{FF2B5EF4-FFF2-40B4-BE49-F238E27FC236}">
                <a16:creationId xmlns:a16="http://schemas.microsoft.com/office/drawing/2014/main" id="{0A65E868-EA71-1375-5452-48F7C59AEB03}"/>
              </a:ext>
            </a:extLst>
          </p:cNvPr>
          <p:cNvSpPr>
            <a:spLocks noGrp="1"/>
          </p:cNvSpPr>
          <p:nvPr/>
        </p:nvSpPr>
        <p:spPr>
          <a:xfrm>
            <a:off x="8166822" y="13358771"/>
            <a:ext cx="76200" cy="133350"/>
          </a:xfrm>
          <a:prstGeom prst="downArrow">
            <a:avLst/>
          </a:prstGeom>
          <a:solidFill>
            <a:srgbClr val="22577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7" name="branch-drop-2">
            <a:extLst>
              <a:ext uri="{FF2B5EF4-FFF2-40B4-BE49-F238E27FC236}">
                <a16:creationId xmlns:a16="http://schemas.microsoft.com/office/drawing/2014/main" id="{FEDC98D6-073B-5665-1201-C291C16AB8A3}"/>
              </a:ext>
            </a:extLst>
          </p:cNvPr>
          <p:cNvSpPr>
            <a:spLocks noGrp="1"/>
          </p:cNvSpPr>
          <p:nvPr/>
        </p:nvSpPr>
        <p:spPr>
          <a:xfrm>
            <a:off x="13229456" y="13103047"/>
            <a:ext cx="9525" cy="276225"/>
          </a:xfrm>
          <a:custGeom>
            <a:avLst/>
            <a:gdLst/>
            <a:ahLst/>
            <a:cxnLst/>
            <a:rect l="0" t="0" r="0" b="0"/>
            <a:pathLst>
              <a:path w="9525" h="276225">
                <a:moveTo>
                  <a:pt x="0" y="0"/>
                </a:moveTo>
                <a:lnTo>
                  <a:pt x="0" y="276225"/>
                </a:lnTo>
              </a:path>
            </a:pathLst>
          </a:custGeom>
          <a:noFill/>
          <a:ln w="38100">
            <a:solidFill>
              <a:srgbClr val="2257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8" name="branch-tip-2">
            <a:extLst>
              <a:ext uri="{FF2B5EF4-FFF2-40B4-BE49-F238E27FC236}">
                <a16:creationId xmlns:a16="http://schemas.microsoft.com/office/drawing/2014/main" id="{93055169-CF72-F7BF-D447-CC7B49F19516}"/>
              </a:ext>
            </a:extLst>
          </p:cNvPr>
          <p:cNvSpPr>
            <a:spLocks noGrp="1"/>
          </p:cNvSpPr>
          <p:nvPr/>
        </p:nvSpPr>
        <p:spPr>
          <a:xfrm>
            <a:off x="13191355" y="13341172"/>
            <a:ext cx="76200" cy="133350"/>
          </a:xfrm>
          <a:prstGeom prst="downArrow">
            <a:avLst/>
          </a:prstGeom>
          <a:solidFill>
            <a:srgbClr val="22577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9" name="branch-drop-3">
            <a:extLst>
              <a:ext uri="{FF2B5EF4-FFF2-40B4-BE49-F238E27FC236}">
                <a16:creationId xmlns:a16="http://schemas.microsoft.com/office/drawing/2014/main" id="{2DBC3E2F-7150-9911-D485-21C9C185D72B}"/>
              </a:ext>
            </a:extLst>
          </p:cNvPr>
          <p:cNvSpPr>
            <a:spLocks noGrp="1"/>
          </p:cNvSpPr>
          <p:nvPr/>
        </p:nvSpPr>
        <p:spPr>
          <a:xfrm>
            <a:off x="18263512" y="13099308"/>
            <a:ext cx="9525" cy="276225"/>
          </a:xfrm>
          <a:custGeom>
            <a:avLst/>
            <a:gdLst/>
            <a:ahLst/>
            <a:cxnLst/>
            <a:rect l="0" t="0" r="0" b="0"/>
            <a:pathLst>
              <a:path w="9525" h="276225">
                <a:moveTo>
                  <a:pt x="0" y="0"/>
                </a:moveTo>
                <a:lnTo>
                  <a:pt x="0" y="276225"/>
                </a:lnTo>
              </a:path>
            </a:pathLst>
          </a:custGeom>
          <a:noFill/>
          <a:ln w="38100">
            <a:solidFill>
              <a:srgbClr val="2257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0" name="branch-tip-3">
            <a:extLst>
              <a:ext uri="{FF2B5EF4-FFF2-40B4-BE49-F238E27FC236}">
                <a16:creationId xmlns:a16="http://schemas.microsoft.com/office/drawing/2014/main" id="{489B8ABE-0F86-FE34-BB2C-4BECB94C5D20}"/>
              </a:ext>
            </a:extLst>
          </p:cNvPr>
          <p:cNvSpPr>
            <a:spLocks noGrp="1"/>
          </p:cNvSpPr>
          <p:nvPr/>
        </p:nvSpPr>
        <p:spPr>
          <a:xfrm>
            <a:off x="18227662" y="13348699"/>
            <a:ext cx="71700" cy="135347"/>
          </a:xfrm>
          <a:prstGeom prst="downArrow">
            <a:avLst/>
          </a:prstGeom>
          <a:solidFill>
            <a:srgbClr val="22577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1" name="branch-label">
            <a:extLst>
              <a:ext uri="{FF2B5EF4-FFF2-40B4-BE49-F238E27FC236}">
                <a16:creationId xmlns:a16="http://schemas.microsoft.com/office/drawing/2014/main" id="{78DDCC3D-E96C-C984-DCFC-33BE6E670B9C}"/>
              </a:ext>
            </a:extLst>
          </p:cNvPr>
          <p:cNvSpPr>
            <a:spLocks noGrp="1"/>
          </p:cNvSpPr>
          <p:nvPr/>
        </p:nvSpPr>
        <p:spPr>
          <a:xfrm>
            <a:off x="9317468" y="12722915"/>
            <a:ext cx="2914380" cy="35617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325" b="1">
                <a:solidFill>
                  <a:srgbClr val="22577A"/>
                </a:solidFill>
                <a:latin typeface="Rubik"/>
                <a:ea typeface="Rubik"/>
                <a:cs typeface="Rubik"/>
              </a:defRPr>
            </a:pPr>
            <a:r>
              <a:rPr sz="2325" b="1" dirty="0">
                <a:solidFill>
                  <a:srgbClr val="22577A"/>
                </a:solidFill>
                <a:latin typeface="Rubik"/>
                <a:ea typeface="Rubik"/>
                <a:cs typeface="Rubik"/>
              </a:rPr>
              <a:t>Four possible actions</a:t>
            </a:r>
          </a:p>
        </p:txBody>
      </p:sp>
      <p:sp>
        <p:nvSpPr>
          <p:cNvPr id="463" name="background-tab">
            <a:extLst>
              <a:ext uri="{FF2B5EF4-FFF2-40B4-BE49-F238E27FC236}">
                <a16:creationId xmlns:a16="http://schemas.microsoft.com/office/drawing/2014/main" id="{EB3E78D4-85CC-434C-1D77-6B9A0544F480}"/>
              </a:ext>
            </a:extLst>
          </p:cNvPr>
          <p:cNvSpPr>
            <a:spLocks noGrp="1"/>
          </p:cNvSpPr>
          <p:nvPr/>
        </p:nvSpPr>
        <p:spPr>
          <a:xfrm>
            <a:off x="997410" y="9675670"/>
            <a:ext cx="2616937" cy="929485"/>
          </a:xfrm>
          <a:prstGeom prst="roundRect">
            <a:avLst>
              <a:gd name="adj" fmla="val 7619"/>
            </a:avLst>
          </a:prstGeom>
          <a:solidFill>
            <a:srgbClr val="22577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4" name="background-heading">
            <a:extLst>
              <a:ext uri="{FF2B5EF4-FFF2-40B4-BE49-F238E27FC236}">
                <a16:creationId xmlns:a16="http://schemas.microsoft.com/office/drawing/2014/main" id="{9C2DA47E-42E9-3BF2-7458-A79A7359195B}"/>
              </a:ext>
            </a:extLst>
          </p:cNvPr>
          <p:cNvSpPr>
            <a:spLocks noGrp="1"/>
          </p:cNvSpPr>
          <p:nvPr/>
        </p:nvSpPr>
        <p:spPr>
          <a:xfrm>
            <a:off x="1095375" y="9717332"/>
            <a:ext cx="4879618" cy="79670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Rubik"/>
                <a:ea typeface="Rubik"/>
                <a:cs typeface="Rubik"/>
              </a:defRPr>
            </a:pPr>
            <a:r>
              <a:rPr lang="en-AU" sz="5000" b="1" dirty="0">
                <a:solidFill>
                  <a:srgbClr val="FFFFFF"/>
                </a:solidFill>
                <a:latin typeface="Rubik"/>
                <a:ea typeface="Rubik"/>
                <a:cs typeface="Rubik"/>
              </a:rPr>
              <a:t>Method</a:t>
            </a:r>
          </a:p>
          <a:p>
            <a:pPr algn="l">
              <a:defRPr sz="6000" b="1">
                <a:solidFill>
                  <a:srgbClr val="FFFFFF"/>
                </a:solidFill>
                <a:latin typeface="Rubik"/>
                <a:ea typeface="Rubik"/>
                <a:cs typeface="Rubik"/>
              </a:defRPr>
            </a:pPr>
            <a:endParaRPr sz="5000" b="1" dirty="0">
              <a:solidFill>
                <a:srgbClr val="FFFFFF"/>
              </a:solidFill>
              <a:latin typeface="Rubik"/>
              <a:ea typeface="Rubik"/>
              <a:cs typeface="Rubik"/>
            </a:endParaRPr>
          </a:p>
        </p:txBody>
      </p:sp>
      <p:sp>
        <p:nvSpPr>
          <p:cNvPr id="465" name="background-tab">
            <a:extLst>
              <a:ext uri="{FF2B5EF4-FFF2-40B4-BE49-F238E27FC236}">
                <a16:creationId xmlns:a16="http://schemas.microsoft.com/office/drawing/2014/main" id="{98F3330C-770A-9531-3462-2A3253E84D5F}"/>
              </a:ext>
            </a:extLst>
          </p:cNvPr>
          <p:cNvSpPr>
            <a:spLocks noGrp="1"/>
          </p:cNvSpPr>
          <p:nvPr/>
        </p:nvSpPr>
        <p:spPr>
          <a:xfrm>
            <a:off x="952125" y="16682414"/>
            <a:ext cx="2271134" cy="929485"/>
          </a:xfrm>
          <a:prstGeom prst="roundRect">
            <a:avLst>
              <a:gd name="adj" fmla="val 7619"/>
            </a:avLst>
          </a:prstGeom>
          <a:solidFill>
            <a:srgbClr val="22577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6" name="background-heading">
            <a:extLst>
              <a:ext uri="{FF2B5EF4-FFF2-40B4-BE49-F238E27FC236}">
                <a16:creationId xmlns:a16="http://schemas.microsoft.com/office/drawing/2014/main" id="{A6812C64-0A4F-2DED-29AA-9AF0257403FC}"/>
              </a:ext>
            </a:extLst>
          </p:cNvPr>
          <p:cNvSpPr>
            <a:spLocks noGrp="1"/>
          </p:cNvSpPr>
          <p:nvPr/>
        </p:nvSpPr>
        <p:spPr>
          <a:xfrm>
            <a:off x="1048565" y="16691103"/>
            <a:ext cx="4879618" cy="79670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Rubik"/>
                <a:ea typeface="Rubik"/>
                <a:cs typeface="Rubik"/>
              </a:defRPr>
            </a:pPr>
            <a:r>
              <a:rPr lang="en-AU" sz="5000" b="1" dirty="0">
                <a:solidFill>
                  <a:srgbClr val="FFFFFF"/>
                </a:solidFill>
                <a:latin typeface="Rubik"/>
                <a:ea typeface="Rubik"/>
                <a:cs typeface="Rubik"/>
              </a:rPr>
              <a:t>Results</a:t>
            </a:r>
            <a:endParaRPr sz="5000" b="1" dirty="0">
              <a:solidFill>
                <a:srgbClr val="FFFFFF"/>
              </a:solidFill>
              <a:latin typeface="Rubik"/>
              <a:ea typeface="Rubik"/>
              <a:cs typeface="Rubik"/>
            </a:endParaRPr>
          </a:p>
        </p:txBody>
      </p:sp>
      <p:sp>
        <p:nvSpPr>
          <p:cNvPr id="475" name="results-comparison-title">
            <a:extLst>
              <a:ext uri="{FF2B5EF4-FFF2-40B4-BE49-F238E27FC236}">
                <a16:creationId xmlns:a16="http://schemas.microsoft.com/office/drawing/2014/main" id="{D90463E7-C401-7681-772A-7A1A3203F7BB}"/>
              </a:ext>
            </a:extLst>
          </p:cNvPr>
          <p:cNvSpPr>
            <a:spLocks noGrp="1"/>
          </p:cNvSpPr>
          <p:nvPr/>
        </p:nvSpPr>
        <p:spPr>
          <a:xfrm>
            <a:off x="1336675" y="17691100"/>
            <a:ext cx="12001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925" b="1">
                <a:solidFill>
                  <a:srgbClr val="22577A"/>
                </a:solidFill>
                <a:latin typeface="Rubik"/>
                <a:ea typeface="Rubik"/>
                <a:cs typeface="Rubik"/>
              </a:defRPr>
            </a:defPPr>
          </a:lstStyle>
          <a:p>
            <a:pPr>
              <a:defRPr sz="2925" b="1">
                <a:solidFill>
                  <a:srgbClr val="22577A"/>
                </a:solidFill>
                <a:latin typeface="Rubik"/>
                <a:ea typeface="Rubik"/>
                <a:cs typeface="Rubik"/>
              </a:defRPr>
            </a:pPr>
            <a:r>
              <a:rPr sz="2925" b="1" dirty="0" err="1">
                <a:solidFill>
                  <a:srgbClr val="22577A"/>
                </a:solidFill>
                <a:latin typeface="Rubik"/>
                <a:ea typeface="Rubik"/>
                <a:cs typeface="Rubik"/>
              </a:rPr>
              <a:t>Behaviour</a:t>
            </a:r>
            <a:r>
              <a:rPr sz="2925" b="1" dirty="0">
                <a:solidFill>
                  <a:srgbClr val="22577A"/>
                </a:solidFill>
                <a:latin typeface="Rubik"/>
                <a:ea typeface="Rubik"/>
                <a:cs typeface="Rubik"/>
              </a:rPr>
              <a:t> comparison across eight scenarios</a:t>
            </a:r>
          </a:p>
        </p:txBody>
      </p:sp>
      <p:graphicFrame>
        <p:nvGraphicFramePr>
          <p:cNvPr id="476" name="Table 475">
            <a:extLst>
              <a:ext uri="{FF2B5EF4-FFF2-40B4-BE49-F238E27FC236}">
                <a16:creationId xmlns:a16="http://schemas.microsoft.com/office/drawing/2014/main" id="{02FE7138-D1E3-D28A-53DC-EEB76EB179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8378323"/>
              </p:ext>
            </p:extLst>
          </p:nvPr>
        </p:nvGraphicFramePr>
        <p:xfrm>
          <a:off x="1336675" y="18319750"/>
          <a:ext cx="11477625" cy="4987290"/>
        </p:xfrm>
        <a:graphic>
          <a:graphicData uri="http://schemas.openxmlformats.org/drawingml/2006/table">
            <a:tbl>
              <a:tblPr/>
              <a:tblGrid>
                <a:gridCol w="3909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8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55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48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2175" b="1" dirty="0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Description</a:t>
                      </a:r>
                      <a:r>
                        <a:rPr lang="en-AU" sz="2175" b="1" dirty="0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 (Human)</a:t>
                      </a:r>
                      <a:endParaRPr sz="2175" b="1" dirty="0">
                        <a:solidFill>
                          <a:srgbClr val="FFFFFF"/>
                        </a:solidFill>
                        <a:latin typeface="Noto Sans"/>
                        <a:ea typeface="Noto Sans"/>
                        <a:cs typeface="Noto Sans"/>
                      </a:endParaRPr>
                    </a:p>
                  </a:txBody>
                  <a:tcPr marL="95250" marR="95250" marT="66675" marB="66675" anchor="ctr">
                    <a:solidFill>
                      <a:srgbClr val="2257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Survey preference</a:t>
                      </a:r>
                    </a:p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(action and %)</a:t>
                      </a:r>
                    </a:p>
                  </a:txBody>
                  <a:tcPr marL="95250" marR="95250" marT="66675" marB="66675" anchor="ctr">
                    <a:solidFill>
                      <a:srgbClr val="2257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Rule-based</a:t>
                      </a:r>
                    </a:p>
                  </a:txBody>
                  <a:tcPr marL="95250" marR="95250" marT="66675" marB="66675" anchor="ctr">
                    <a:solidFill>
                      <a:srgbClr val="2257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LLM</a:t>
                      </a:r>
                    </a:p>
                  </a:txBody>
                  <a:tcPr marL="95250" marR="95250" marT="66675" marB="66675" anchor="ctr">
                    <a:solidFill>
                      <a:srgbClr val="2257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lang="en-AU" sz="2000" b="0" dirty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Passes</a:t>
                      </a:r>
                      <a:r>
                        <a:rPr lang="en-US" sz="2000" b="0" dirty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 </a:t>
                      </a:r>
                      <a:r>
                        <a:rPr lang="en-AU" sz="2000" b="0" dirty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without</a:t>
                      </a:r>
                      <a:r>
                        <a:rPr lang="en-US" sz="2000" b="0" dirty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 </a:t>
                      </a:r>
                      <a:r>
                        <a:rPr lang="en-AU" sz="2000" b="0" dirty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looking</a:t>
                      </a:r>
                      <a:endParaRPr sz="2000" b="0" dirty="0">
                        <a:solidFill>
                          <a:srgbClr val="26333C"/>
                        </a:solidFill>
                        <a:latin typeface="Noto Sans"/>
                        <a:ea typeface="Noto Sans"/>
                        <a:cs typeface="Noto Sans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25" b="0" dirty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CONTINUE </a:t>
                      </a:r>
                      <a:r>
                        <a:rPr sz="2325" b="0" dirty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(</a:t>
                      </a:r>
                      <a:r>
                        <a:rPr lang="en-AU" sz="2325" b="0" dirty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83.3</a:t>
                      </a:r>
                      <a:r>
                        <a:rPr sz="2325" b="0" dirty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%)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 dirty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[Action]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[Action]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lang="en-AU" sz="2000" b="0" dirty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Beside route, sustained gaze</a:t>
                      </a:r>
                      <a:endParaRPr sz="2000" b="0" dirty="0">
                        <a:solidFill>
                          <a:srgbClr val="26333C"/>
                        </a:solidFill>
                        <a:latin typeface="Noto Sans"/>
                        <a:ea typeface="Noto Sans"/>
                        <a:cs typeface="Noto Sans"/>
                      </a:endParaRPr>
                    </a:p>
                  </a:txBody>
                  <a:tcPr marL="95250" marR="95250" marT="66675" marB="66675" anchor="ctr"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25" b="0" dirty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APPROACH</a:t>
                      </a:r>
                      <a:r>
                        <a:rPr sz="2325" b="0" dirty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 (</a:t>
                      </a:r>
                      <a:r>
                        <a:rPr lang="en-AU" sz="2325" b="0" dirty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45.2</a:t>
                      </a:r>
                      <a:r>
                        <a:rPr sz="2325" b="0" dirty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%)</a:t>
                      </a:r>
                    </a:p>
                  </a:txBody>
                  <a:tcPr marL="95250" marR="95250" marT="66675" marB="66675" anchor="ctr"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[Action]</a:t>
                      </a:r>
                    </a:p>
                  </a:txBody>
                  <a:tcPr marL="95250" marR="95250" marT="66675" marB="66675" anchor="ctr"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[Action]</a:t>
                      </a:r>
                    </a:p>
                  </a:txBody>
                  <a:tcPr marL="95250" marR="95250" marT="66675" marB="66675" anchor="ctr">
                    <a:solidFill>
                      <a:srgbClr val="EE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lang="en-AU" sz="2000" b="0" dirty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Already nearby, sustained gaze</a:t>
                      </a:r>
                      <a:endParaRPr sz="2000" b="0" dirty="0">
                        <a:solidFill>
                          <a:srgbClr val="26333C"/>
                        </a:solidFill>
                        <a:latin typeface="Noto Sans"/>
                        <a:ea typeface="Noto Sans"/>
                        <a:cs typeface="Noto Sans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25" b="0" dirty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YIELD (42.9%)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[Action]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 dirty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[Action]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lang="en-AU" sz="2000" b="0" dirty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Approaches on route, no gaze</a:t>
                      </a:r>
                      <a:endParaRPr sz="2000" b="0" dirty="0">
                        <a:solidFill>
                          <a:srgbClr val="26333C"/>
                        </a:solidFill>
                        <a:latin typeface="Noto Sans"/>
                        <a:ea typeface="Noto Sans"/>
                        <a:cs typeface="Noto Sans"/>
                      </a:endParaRPr>
                    </a:p>
                  </a:txBody>
                  <a:tcPr marL="95250" marR="95250" marT="66675" marB="66675" anchor="ctr"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25" b="0" dirty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YIELD (90.5%)</a:t>
                      </a:r>
                    </a:p>
                  </a:txBody>
                  <a:tcPr marL="95250" marR="95250" marT="66675" marB="66675" anchor="ctr"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[Action]</a:t>
                      </a:r>
                    </a:p>
                  </a:txBody>
                  <a:tcPr marL="95250" marR="95250" marT="66675" marB="66675" anchor="ctr"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[Action]</a:t>
                      </a:r>
                    </a:p>
                  </a:txBody>
                  <a:tcPr marL="95250" marR="95250" marT="66675" marB="66675" anchor="ctr">
                    <a:solidFill>
                      <a:srgbClr val="EE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lang="en-AU" sz="2000" b="0" dirty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Walks away without looking</a:t>
                      </a:r>
                      <a:endParaRPr sz="2000" b="0" dirty="0">
                        <a:solidFill>
                          <a:srgbClr val="26333C"/>
                        </a:solidFill>
                        <a:latin typeface="Noto Sans"/>
                        <a:ea typeface="Noto Sans"/>
                        <a:cs typeface="Noto Sans"/>
                      </a:endParaRP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25" b="0" dirty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CONTINUE (57.1%)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[Action]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[Action]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lang="en-AU" sz="2000" b="0" dirty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Passes with a brief glance</a:t>
                      </a:r>
                      <a:endParaRPr sz="2000" b="0" dirty="0">
                        <a:solidFill>
                          <a:srgbClr val="26333C"/>
                        </a:solidFill>
                        <a:latin typeface="Noto Sans"/>
                        <a:ea typeface="Noto Sans"/>
                        <a:cs typeface="Noto Sans"/>
                      </a:endParaRPr>
                    </a:p>
                  </a:txBody>
                  <a:tcPr marL="95250" marR="95250" marT="66675" marB="66675" anchor="ctr"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25" b="0" dirty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CONTINUE (73.8%)</a:t>
                      </a:r>
                    </a:p>
                  </a:txBody>
                  <a:tcPr marL="95250" marR="95250" marT="66675" marB="66675" anchor="ctr"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[Action]</a:t>
                      </a:r>
                    </a:p>
                  </a:txBody>
                  <a:tcPr marL="95250" marR="95250" marT="66675" marB="66675" anchor="ctr"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[Action]</a:t>
                      </a:r>
                    </a:p>
                  </a:txBody>
                  <a:tcPr marL="95250" marR="95250" marT="66675" marB="66675" anchor="ctr">
                    <a:solidFill>
                      <a:srgbClr val="EE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lang="en-AU" sz="2000" b="0" dirty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Beside route, intermittent gaze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25" b="0" dirty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APPROACH (50.0%)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[Action]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[Action]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lang="en-AU" sz="2000" b="0" dirty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Walks away while looking</a:t>
                      </a:r>
                      <a:endParaRPr sz="2000" b="0" dirty="0">
                        <a:solidFill>
                          <a:srgbClr val="26333C"/>
                        </a:solidFill>
                        <a:latin typeface="Noto Sans"/>
                        <a:ea typeface="Noto Sans"/>
                        <a:cs typeface="Noto Sans"/>
                      </a:endParaRPr>
                    </a:p>
                  </a:txBody>
                  <a:tcPr marL="95250" marR="95250" marT="66675" marB="66675" anchor="ctr"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325" b="0" dirty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ENGAGE (61.9%)</a:t>
                      </a:r>
                    </a:p>
                  </a:txBody>
                  <a:tcPr marL="95250" marR="95250" marT="66675" marB="66675" anchor="ctr"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[Action]</a:t>
                      </a:r>
                    </a:p>
                  </a:txBody>
                  <a:tcPr marL="95250" marR="95250" marT="66675" marB="66675" anchor="ctr">
                    <a:solidFill>
                      <a:srgbClr val="EE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25" b="0" dirty="0">
                          <a:solidFill>
                            <a:srgbClr val="26333C"/>
                          </a:solidFill>
                          <a:latin typeface="Noto Sans"/>
                          <a:ea typeface="Noto Sans"/>
                          <a:cs typeface="Noto Sans"/>
                        </a:rPr>
                        <a:t>[Action]</a:t>
                      </a:r>
                    </a:p>
                  </a:txBody>
                  <a:tcPr marL="95250" marR="95250" marT="66675" marB="66675" anchor="ctr">
                    <a:solidFill>
                      <a:srgbClr val="EE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77" name="results-agreement-title">
            <a:extLst>
              <a:ext uri="{FF2B5EF4-FFF2-40B4-BE49-F238E27FC236}">
                <a16:creationId xmlns:a16="http://schemas.microsoft.com/office/drawing/2014/main" id="{D89D25FA-4D2A-C559-9F72-E54C4F3791A5}"/>
              </a:ext>
            </a:extLst>
          </p:cNvPr>
          <p:cNvSpPr>
            <a:spLocks noGrp="1"/>
          </p:cNvSpPr>
          <p:nvPr/>
        </p:nvSpPr>
        <p:spPr>
          <a:xfrm>
            <a:off x="1336675" y="23510875"/>
            <a:ext cx="12096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22577A"/>
                </a:solidFill>
                <a:latin typeface="Rubik"/>
                <a:ea typeface="Rubik"/>
                <a:cs typeface="Rubik"/>
              </a:defRPr>
            </a:defPPr>
          </a:lstStyle>
          <a:p>
            <a:pPr>
              <a:defRPr sz="2700" b="1">
                <a:solidFill>
                  <a:srgbClr val="22577A"/>
                </a:solidFill>
                <a:latin typeface="Rubik"/>
                <a:ea typeface="Rubik"/>
                <a:cs typeface="Rubik"/>
              </a:defRPr>
            </a:pPr>
            <a:r>
              <a:rPr sz="2700" b="1" dirty="0">
                <a:solidFill>
                  <a:srgbClr val="22577A"/>
                </a:solidFill>
                <a:latin typeface="Rubik"/>
                <a:ea typeface="Rubik"/>
                <a:cs typeface="Rubik"/>
              </a:rPr>
              <a:t>Agreement with survey preference</a:t>
            </a:r>
          </a:p>
        </p:txBody>
      </p:sp>
      <p:sp>
        <p:nvSpPr>
          <p:cNvPr id="478" name="results-agreement-summary">
            <a:extLst>
              <a:ext uri="{FF2B5EF4-FFF2-40B4-BE49-F238E27FC236}">
                <a16:creationId xmlns:a16="http://schemas.microsoft.com/office/drawing/2014/main" id="{B3E784F0-6F62-7CCA-D782-D2C929717C09}"/>
              </a:ext>
            </a:extLst>
          </p:cNvPr>
          <p:cNvSpPr>
            <a:spLocks noGrp="1"/>
          </p:cNvSpPr>
          <p:nvPr/>
        </p:nvSpPr>
        <p:spPr>
          <a:xfrm>
            <a:off x="1336675" y="23939500"/>
            <a:ext cx="12096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625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>
              <a:defRPr sz="2625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pPr>
            <a:r>
              <a:rPr sz="2625" b="0" dirty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Rule-based [X]/8     LLM [Y]/8</a:t>
            </a:r>
          </a:p>
        </p:txBody>
      </p:sp>
      <p:sp>
        <p:nvSpPr>
          <p:cNvPr id="479" name="results-survey-metadata">
            <a:extLst>
              <a:ext uri="{FF2B5EF4-FFF2-40B4-BE49-F238E27FC236}">
                <a16:creationId xmlns:a16="http://schemas.microsoft.com/office/drawing/2014/main" id="{D0D74C3C-62A5-73EA-AC3B-2A91628C4AAB}"/>
              </a:ext>
            </a:extLst>
          </p:cNvPr>
          <p:cNvSpPr>
            <a:spLocks noGrp="1"/>
          </p:cNvSpPr>
          <p:nvPr/>
        </p:nvSpPr>
        <p:spPr>
          <a:xfrm>
            <a:off x="6184535" y="23978749"/>
            <a:ext cx="12096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>
              <a:defRPr sz="1800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pPr>
            <a:r>
              <a:rPr sz="1800" b="0" dirty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N = </a:t>
            </a:r>
            <a:r>
              <a:rPr lang="en-US" altLang="ko-KR" dirty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42</a:t>
            </a:r>
            <a:r>
              <a:rPr lang="ko-KR" altLang="en-US" dirty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1800" b="0" dirty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·  Eight selected scenarios  ·  Same decision point</a:t>
            </a:r>
          </a:p>
        </p:txBody>
      </p:sp>
      <p:graphicFrame>
        <p:nvGraphicFramePr>
          <p:cNvPr id="480" name="Chart">
            <a:extLst>
              <a:ext uri="{FF2B5EF4-FFF2-40B4-BE49-F238E27FC236}">
                <a16:creationId xmlns:a16="http://schemas.microsoft.com/office/drawing/2014/main" id="{C13C7F35-025F-88A7-FB9B-D5AB434A71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7779770"/>
              </p:ext>
            </p:extLst>
          </p:nvPr>
        </p:nvGraphicFramePr>
        <p:xfrm>
          <a:off x="13957300" y="17691100"/>
          <a:ext cx="6096000" cy="5048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81" name="latency-means">
            <a:extLst>
              <a:ext uri="{FF2B5EF4-FFF2-40B4-BE49-F238E27FC236}">
                <a16:creationId xmlns:a16="http://schemas.microsoft.com/office/drawing/2014/main" id="{1D18C6EE-9F6A-0458-55EC-F66D8CC267B2}"/>
              </a:ext>
            </a:extLst>
          </p:cNvPr>
          <p:cNvSpPr>
            <a:spLocks noGrp="1"/>
          </p:cNvSpPr>
          <p:nvPr/>
        </p:nvSpPr>
        <p:spPr>
          <a:xfrm>
            <a:off x="13957300" y="22844125"/>
            <a:ext cx="6096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>
              <a:defRPr sz="2025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Rule-based [mean] s  ·  LLM [mean] s</a:t>
            </a:r>
          </a:p>
        </p:txBody>
      </p:sp>
      <p:sp>
        <p:nvSpPr>
          <p:cNvPr id="482" name="latency-measurement-caption">
            <a:extLst>
              <a:ext uri="{FF2B5EF4-FFF2-40B4-BE49-F238E27FC236}">
                <a16:creationId xmlns:a16="http://schemas.microsoft.com/office/drawing/2014/main" id="{8156AD54-DB0E-16B1-FD82-DDE76D009483}"/>
              </a:ext>
            </a:extLst>
          </p:cNvPr>
          <p:cNvSpPr>
            <a:spLocks noGrp="1"/>
          </p:cNvSpPr>
          <p:nvPr/>
        </p:nvSpPr>
        <p:spPr>
          <a:xfrm>
            <a:off x="13957300" y="23320375"/>
            <a:ext cx="609600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defPPr>
          </a:lstStyle>
          <a:p>
            <a:pPr>
              <a:defRPr sz="1875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Same recorded inputs and hardware.</a:t>
            </a:r>
          </a:p>
          <a:p>
            <a:pPr>
              <a:defRPr sz="1875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Decision request to returned action.</a:t>
            </a:r>
          </a:p>
          <a:p>
            <a:pPr>
              <a:defRPr sz="1875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[Runs] repetitions; LLM: [model].</a:t>
            </a:r>
          </a:p>
        </p:txBody>
      </p:sp>
    </p:spTree>
    <p:extLst>
      <p:ext uri="{BB962C8B-B14F-4D97-AF65-F5344CB8AC3E}">
        <p14:creationId xmlns:p14="http://schemas.microsoft.com/office/powerpoint/2010/main" val="47043908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2076</TotalTime>
  <Words>820</Words>
  <Application>Microsoft Macintosh PowerPoint</Application>
  <DocSecurity>0</DocSecurity>
  <PresentationFormat>Custom</PresentationFormat>
  <Paragraphs>104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Rubik</vt:lpstr>
      <vt:lpstr>Calibri</vt:lpstr>
      <vt:lpstr>Noto Sans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Eddie Kim</cp:lastModifiedBy>
  <cp:revision>7</cp:revision>
  <dcterms:created xsi:type="dcterms:W3CDTF">2026-10-09T22:01:13Z</dcterms:created>
  <dcterms:modified xsi:type="dcterms:W3CDTF">2026-10-11T09:25:16Z</dcterms:modified>
</cp:coreProperties>
</file>